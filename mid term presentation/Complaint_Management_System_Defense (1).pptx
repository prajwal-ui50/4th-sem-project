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Defense" id="{67c8f81e-1414-138c-d980-356b0c439f11}">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sir/madam. My name is Prajwal Lamichhane, a BCA student at Hetauda School of Management and Social Sciences. Today I am presenting my mid-term project, the Complaint Management System. It is a web-based system that helps manage complaints in one organized place. In the next few slides I will explain the problem, objectives, technologies, workflow, features, and my progress so far.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is a web-based Complaint Management System. It gives one central place where users can submit complaints and track them, staff can process and respond, and the admin can manage the whole system. The reason for this project is the problem with manual handling. When complaints are handled on paper or in different places, they are hard to track, can be lost or delayed, and communication gets scattered. It also becomes difficult to keep proper records and history. My system solves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is to bring complaint submission and management into one place, so tracking becomes easy. The system also improves communication between users and staff, keeps complaint records organized, and reduces manual work. For scope, the system has three roles: User, Staff and Admin. It covers complaint submission and tracking, categories, staff processing with status updates, messages, notifications and complaint history. It also supports attachments, and the interface is responsive, so it works on different screen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technologies, I used HTML, CSS and JavaScript for the front end, and PHP with MySQL for the back end. PDO is used to connect PHP with the database safely, and XAMPP with Apache is my local server. The workflow is simple. The user logs in and submits a complaint, which is saved in the database. Staff or admin review it, process it and respond. They update the status, and the user can track the complaint until it is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features: login with role-based access, complaint and category management, staff management, messaging, notifications, complaint history, attachments and a responsive design. For progress, the core complaint workflow is implemented, the User, Staff and Admin modules are working, and the database with CRUD operations is done. Testing and UI refinement are in progress. In the future, I would like to add a mobile app, email, SMS and push notifications, advanced reports, AI-based complaint classification, and better cloud deployment. Thank you.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Shape 1"/>
          <p:cNvSpPr/>
          <p:nvPr/>
        </p:nvSpPr>
        <p:spPr>
          <a:xfrm>
            <a:off x="0" y="0"/>
            <a:ext cx="320040" cy="5143500"/>
          </a:xfrm>
          <a:prstGeom prst="rect">
            <a:avLst/>
          </a:prstGeom>
          <a:solidFill>
            <a:schemeClr val="accent1"/>
          </a:solidFill>
          <a:ln/>
        </p:spPr>
      </p:sp>
      <p:sp>
        <p:nvSpPr>
          <p:cNvPr id="4" name="Text 2"/>
          <p:cNvSpPr/>
          <p:nvPr>
            <p:ph idx="102" type="title" hasCustomPrompt="1"/>
          </p:nvPr>
        </p:nvSpPr>
        <p:spPr>
          <a:xfrm>
            <a:off x="822960" y="1097280"/>
            <a:ext cx="7680960" cy="11887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457200" y="960120"/>
            <a:ext cx="822960" cy="45720"/>
          </a:xfrm>
          <a:prstGeom prst="rect">
            <a:avLst/>
          </a:prstGeom>
          <a:solidFill>
            <a:schemeClr val="accent1"/>
          </a:solidFill>
          <a:ln/>
        </p:spPr>
      </p:sp>
      <p:sp>
        <p:nvSpPr>
          <p:cNvPr id="3" name="Shape 1"/>
          <p:cNvSpPr/>
          <p:nvPr/>
        </p:nvSpPr>
        <p:spPr>
          <a:xfrm>
            <a:off x="457200" y="4709160"/>
            <a:ext cx="8229600" cy="0"/>
          </a:xfrm>
          <a:prstGeom prst="line">
            <a:avLst/>
          </a:prstGeom>
          <a:noFill/>
          <a:ln w="6350">
            <a:solidFill>
              <a:schemeClr val="accent3"/>
            </a:solidFill>
            <a:prstDash val="solid"/>
          </a:ln>
        </p:spPr>
      </p:sp>
      <p:sp>
        <p:nvSpPr>
          <p:cNvPr id="4" name="Text 2"/>
          <p:cNvSpPr/>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chemeClr val="accent3"/>
                </a:solidFill>
              </a:rPr>
              <a:t>Complaint Management System  |  BCA Mid-Term Project Defense</a:t>
            </a:r>
            <a:endParaRPr lang="en-US" sz="900" dirty="0"/>
          </a:p>
        </p:txBody>
      </p:sp>
      <p:sp>
        <p:nvSpPr>
          <p:cNvPr id="5" name="Text 3"/>
          <p:cNvSpPr/>
          <p:nvPr>
            <p:ph idx="103"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chemeClr val="tx2"/>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822960" y="1097280"/>
            <a:ext cx="7680960" cy="1188720"/>
          </a:xfrm>
          <a:prstGeom prst="rect">
            <a:avLst/>
          </a:prstGeom>
          <a:noFill/>
          <a:ln/>
        </p:spPr>
        <p:txBody>
          <a:bodyPr wrap="square" lIns="0" tIns="0" rIns="0" bIns="0" rtlCol="0" anchor="b"/>
          <a:lstStyle/>
          <a:p>
            <a:pPr indent="0" marL="0">
              <a:buNone/>
            </a:pPr>
            <a:r>
              <a:rPr lang="en-US" sz="3600" b="1" dirty="0">
                <a:solidFill>
                  <a:schemeClr val="bg1"/>
                </a:solidFill>
              </a:rPr>
              <a:t>Complaint Management System</a:t>
            </a:r>
            <a:endParaRPr lang="en-US" sz="3600" dirty="0"/>
          </a:p>
        </p:txBody>
      </p:sp>
      <p:sp>
        <p:nvSpPr>
          <p:cNvPr id="3" name="Text 1"/>
          <p:cNvSpPr txBox="1"/>
          <p:nvPr/>
        </p:nvSpPr>
        <p:spPr>
          <a:xfrm>
            <a:off x="822960" y="2423160"/>
            <a:ext cx="7315200" cy="411480"/>
          </a:xfrm>
          <a:prstGeom prst="rect">
            <a:avLst/>
          </a:prstGeom>
          <a:noFill/>
          <a:ln/>
        </p:spPr>
        <p:txBody>
          <a:bodyPr wrap="square" lIns="0" tIns="0" rIns="0" bIns="0" rtlCol="0" anchor="ctr"/>
          <a:lstStyle/>
          <a:p>
            <a:pPr indent="0" marL="0">
              <a:buNone/>
            </a:pPr>
            <a:r>
              <a:rPr lang="en-US" sz="2000" b="1" dirty="0">
                <a:solidFill>
                  <a:schemeClr val="accent2"/>
                </a:solidFill>
              </a:rPr>
              <a:t>Mid-Term Project Defense</a:t>
            </a:r>
            <a:endParaRPr lang="en-US" sz="2000" dirty="0"/>
          </a:p>
        </p:txBody>
      </p:sp>
      <p:sp>
        <p:nvSpPr>
          <p:cNvPr id="4" name="Text 2"/>
          <p:cNvSpPr txBox="1"/>
          <p:nvPr/>
        </p:nvSpPr>
        <p:spPr>
          <a:xfrm>
            <a:off x="822960" y="2880360"/>
            <a:ext cx="7315200" cy="320040"/>
          </a:xfrm>
          <a:prstGeom prst="rect">
            <a:avLst/>
          </a:prstGeom>
          <a:noFill/>
          <a:ln/>
        </p:spPr>
        <p:txBody>
          <a:bodyPr wrap="square" lIns="0" tIns="0" rIns="0" bIns="0" rtlCol="0" anchor="ctr"/>
          <a:lstStyle/>
          <a:p>
            <a:pPr indent="0" marL="0">
              <a:buNone/>
            </a:pPr>
            <a:r>
              <a:rPr lang="en-US" sz="1400" dirty="0">
                <a:solidFill>
                  <a:schemeClr val="bg1"/>
                </a:solidFill>
              </a:rPr>
              <a:t>Bachelor of Computer Application (BCA)</a:t>
            </a:r>
            <a:endParaRPr lang="en-US" sz="1400" dirty="0"/>
          </a:p>
        </p:txBody>
      </p:sp>
      <p:sp>
        <p:nvSpPr>
          <p:cNvPr id="5" name="Shape 3"/>
          <p:cNvSpPr/>
          <p:nvPr/>
        </p:nvSpPr>
        <p:spPr>
          <a:xfrm>
            <a:off x="822960" y="3520440"/>
            <a:ext cx="1097280" cy="0"/>
          </a:xfrm>
          <a:prstGeom prst="line">
            <a:avLst/>
          </a:prstGeom>
          <a:noFill/>
          <a:ln w="25400">
            <a:solidFill>
              <a:schemeClr val="accent1"/>
            </a:solidFill>
            <a:prstDash val="solid"/>
          </a:ln>
        </p:spPr>
      </p:sp>
      <p:sp>
        <p:nvSpPr>
          <p:cNvPr id="6" name="Text 4"/>
          <p:cNvSpPr txBox="1"/>
          <p:nvPr/>
        </p:nvSpPr>
        <p:spPr>
          <a:xfrm>
            <a:off x="822960" y="3703320"/>
            <a:ext cx="7315200" cy="365760"/>
          </a:xfrm>
          <a:prstGeom prst="rect">
            <a:avLst/>
          </a:prstGeom>
          <a:noFill/>
          <a:ln/>
        </p:spPr>
        <p:txBody>
          <a:bodyPr wrap="square" lIns="0" tIns="0" rIns="0" bIns="0" rtlCol="0" anchor="ctr"/>
          <a:lstStyle/>
          <a:p>
            <a:pPr indent="0" marL="0">
              <a:buNone/>
            </a:pPr>
            <a:r>
              <a:rPr lang="en-US" sz="1800" b="1" dirty="0">
                <a:solidFill>
                  <a:schemeClr val="bg1"/>
                </a:solidFill>
              </a:rPr>
              <a:t>Prajwal Lamichhane</a:t>
            </a:r>
            <a:endParaRPr lang="en-US" sz="1800" dirty="0"/>
          </a:p>
        </p:txBody>
      </p:sp>
      <p:sp>
        <p:nvSpPr>
          <p:cNvPr id="7" name="Text 5"/>
          <p:cNvSpPr txBox="1"/>
          <p:nvPr/>
        </p:nvSpPr>
        <p:spPr>
          <a:xfrm>
            <a:off x="822960" y="4114800"/>
            <a:ext cx="7315200" cy="320040"/>
          </a:xfrm>
          <a:prstGeom prst="rect">
            <a:avLst/>
          </a:prstGeom>
          <a:noFill/>
          <a:ln/>
        </p:spPr>
        <p:txBody>
          <a:bodyPr wrap="square" lIns="0" tIns="0" rIns="0" bIns="0" rtlCol="0" anchor="ctr"/>
          <a:lstStyle/>
          <a:p>
            <a:pPr indent="0" marL="0">
              <a:buNone/>
            </a:pPr>
            <a:r>
              <a:rPr lang="en-US" sz="1400" dirty="0">
                <a:solidFill>
                  <a:schemeClr val="bg2"/>
                </a:solidFill>
              </a:rPr>
              <a:t>Hetauda School of Management and Social Sciences</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Introduction &amp; Problem Statement</a:t>
            </a:r>
            <a:endParaRPr lang="en-US" sz="2600" dirty="0"/>
          </a:p>
        </p:txBody>
      </p:sp>
      <p:sp>
        <p:nvSpPr>
          <p:cNvPr id="3" name="Introduction card"/>
          <p:cNvSpPr/>
          <p:nvPr/>
        </p:nvSpPr>
        <p:spPr>
          <a:xfrm>
            <a:off x="457200" y="1280160"/>
            <a:ext cx="4023360" cy="3246120"/>
          </a:xfrm>
          <a:prstGeom prst="roundRect">
            <a:avLst>
              <a:gd name="adj" fmla="val 2254"/>
            </a:avLst>
          </a:prstGeom>
          <a:solidFill>
            <a:schemeClr val="bg2"/>
          </a:solidFill>
          <a:ln w="12700">
            <a:solidFill>
              <a:schemeClr val="bg2"/>
            </a:solidFill>
            <a:prstDash val="solid"/>
          </a:ln>
        </p:spPr>
      </p:sp>
      <p:sp>
        <p:nvSpPr>
          <p:cNvPr id="4" name="Icon circle"/>
          <p:cNvSpPr/>
          <p:nvPr/>
        </p:nvSpPr>
        <p:spPr>
          <a:xfrm>
            <a:off x="640080" y="1417320"/>
            <a:ext cx="457200" cy="457200"/>
          </a:xfrm>
          <a:prstGeom prst="ellipse">
            <a:avLst/>
          </a:prstGeom>
          <a:solidFill>
            <a:schemeClr val="accent1"/>
          </a:solidFill>
          <a:ln w="12700">
            <a:solidFill>
              <a:schemeClr val="accent1"/>
            </a:solidFill>
            <a:prstDash val="solid"/>
          </a:ln>
        </p:spPr>
      </p:sp>
      <p:pic>
        <p:nvPicPr>
          <p:cNvPr id="5" name="Image 0" descr="Introduction">    </p:cNvPr>
          <p:cNvPicPr>
            <a:picLocks noChangeAspect="1"/>
          </p:cNvPicPr>
          <p:nvPr/>
        </p:nvPicPr>
        <p:blipFill>
          <a:blip r:embed="rId1"/>
          <a:stretch>
            <a:fillRect/>
          </a:stretch>
        </p:blipFill>
        <p:spPr>
          <a:xfrm>
            <a:off x="749808" y="1527048"/>
            <a:ext cx="237744" cy="237744"/>
          </a:xfrm>
          <a:prstGeom prst="rect">
            <a:avLst/>
          </a:prstGeom>
        </p:spPr>
      </p:pic>
      <p:sp>
        <p:nvSpPr>
          <p:cNvPr id="6" name="Text 3"/>
          <p:cNvSpPr txBox="1"/>
          <p:nvPr/>
        </p:nvSpPr>
        <p:spPr>
          <a:xfrm>
            <a:off x="1234440" y="1417320"/>
            <a:ext cx="2743200" cy="457200"/>
          </a:xfrm>
          <a:prstGeom prst="rect">
            <a:avLst/>
          </a:prstGeom>
          <a:noFill/>
          <a:ln/>
        </p:spPr>
        <p:txBody>
          <a:bodyPr wrap="square" lIns="0" tIns="0" rIns="0" bIns="0" rtlCol="0" anchor="ctr"/>
          <a:lstStyle/>
          <a:p>
            <a:pPr indent="0" marL="0">
              <a:buNone/>
            </a:pPr>
            <a:r>
              <a:rPr lang="en-US" sz="1600" b="1" dirty="0">
                <a:solidFill>
                  <a:schemeClr val="tx2"/>
                </a:solidFill>
                <a:latin typeface="Georgia" pitchFamily="34" charset="0"/>
                <a:ea typeface="Georgia" pitchFamily="34" charset="-122"/>
                <a:cs typeface="Georgia" pitchFamily="34" charset="-120"/>
              </a:rPr>
              <a:t>Introduction</a:t>
            </a:r>
            <a:endParaRPr lang="en-US" sz="1600" dirty="0"/>
          </a:p>
        </p:txBody>
      </p:sp>
      <p:sp>
        <p:nvSpPr>
          <p:cNvPr id="7" name="Text 4"/>
          <p:cNvSpPr txBox="1"/>
          <p:nvPr/>
        </p:nvSpPr>
        <p:spPr>
          <a:xfrm>
            <a:off x="685800" y="2103120"/>
            <a:ext cx="3611880" cy="22860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Web-based system for centralized complaint handling</a:t>
            </a:r>
            <a:endParaRPr lang="en-US" sz="1400" dirty="0"/>
          </a:p>
          <a:p>
            <a:pPr marL="177800" indent="-177800">
              <a:spcAft>
                <a:spcPts val="700"/>
              </a:spcAft>
              <a:buSzPct val="100000"/>
              <a:buChar char="•"/>
            </a:pPr>
            <a:r>
              <a:rPr lang="en-US" sz="1400" dirty="0">
                <a:solidFill>
                  <a:schemeClr val="tx1"/>
                </a:solidFill>
              </a:rPr>
              <a:t>Allows users to submit and track complaints</a:t>
            </a:r>
            <a:endParaRPr lang="en-US" sz="1400" dirty="0"/>
          </a:p>
          <a:p>
            <a:pPr marL="177800" indent="-177800">
              <a:spcAft>
                <a:spcPts val="700"/>
              </a:spcAft>
              <a:buSzPct val="100000"/>
              <a:buChar char="•"/>
            </a:pPr>
            <a:r>
              <a:rPr lang="en-US" sz="1400" dirty="0">
                <a:solidFill>
                  <a:schemeClr val="tx1"/>
                </a:solidFill>
              </a:rPr>
              <a:t>Helps staff process and respond to complaints</a:t>
            </a:r>
            <a:endParaRPr lang="en-US" sz="1400" dirty="0"/>
          </a:p>
          <a:p>
            <a:pPr marL="177800" indent="-177800">
              <a:spcAft>
                <a:spcPts val="700"/>
              </a:spcAft>
              <a:buSzPct val="100000"/>
              <a:buChar char="•"/>
            </a:pPr>
            <a:r>
              <a:rPr lang="en-US" sz="1400" dirty="0">
                <a:solidFill>
                  <a:schemeClr val="tx1"/>
                </a:solidFill>
              </a:rPr>
              <a:t>Helps admin manage the overall system</a:t>
            </a:r>
            <a:endParaRPr lang="en-US" sz="1400" dirty="0"/>
          </a:p>
        </p:txBody>
      </p:sp>
      <p:sp>
        <p:nvSpPr>
          <p:cNvPr id="8" name="Problem card"/>
          <p:cNvSpPr/>
          <p:nvPr/>
        </p:nvSpPr>
        <p:spPr>
          <a:xfrm>
            <a:off x="4663440" y="1280160"/>
            <a:ext cx="4023360" cy="3246120"/>
          </a:xfrm>
          <a:prstGeom prst="roundRect">
            <a:avLst>
              <a:gd name="adj" fmla="val 2254"/>
            </a:avLst>
          </a:prstGeom>
          <a:solidFill>
            <a:schemeClr val="bg2"/>
          </a:solidFill>
          <a:ln w="12700">
            <a:solidFill>
              <a:schemeClr val="bg2"/>
            </a:solidFill>
            <a:prstDash val="solid"/>
          </a:ln>
        </p:spPr>
      </p:sp>
      <p:sp>
        <p:nvSpPr>
          <p:cNvPr id="9" name="Icon circle"/>
          <p:cNvSpPr/>
          <p:nvPr/>
        </p:nvSpPr>
        <p:spPr>
          <a:xfrm>
            <a:off x="4846320" y="1417320"/>
            <a:ext cx="457200" cy="457200"/>
          </a:xfrm>
          <a:prstGeom prst="ellipse">
            <a:avLst/>
          </a:prstGeom>
          <a:solidFill>
            <a:schemeClr val="accent5"/>
          </a:solidFill>
          <a:ln w="12700">
            <a:solidFill>
              <a:schemeClr val="accent5"/>
            </a:solidFill>
            <a:prstDash val="solid"/>
          </a:ln>
        </p:spPr>
      </p:sp>
      <p:pic>
        <p:nvPicPr>
          <p:cNvPr id="10" name="Image 1" descr="Problem Statement">    </p:cNvPr>
          <p:cNvPicPr>
            <a:picLocks noChangeAspect="1"/>
          </p:cNvPicPr>
          <p:nvPr/>
        </p:nvPicPr>
        <p:blipFill>
          <a:blip r:embed="rId2"/>
          <a:stretch>
            <a:fillRect/>
          </a:stretch>
        </p:blipFill>
        <p:spPr>
          <a:xfrm>
            <a:off x="4956048" y="1527048"/>
            <a:ext cx="237744" cy="237744"/>
          </a:xfrm>
          <a:prstGeom prst="rect">
            <a:avLst/>
          </a:prstGeom>
        </p:spPr>
      </p:pic>
      <p:sp>
        <p:nvSpPr>
          <p:cNvPr id="11" name="Text 7"/>
          <p:cNvSpPr txBox="1"/>
          <p:nvPr/>
        </p:nvSpPr>
        <p:spPr>
          <a:xfrm>
            <a:off x="5440680" y="1417320"/>
            <a:ext cx="2743200" cy="457200"/>
          </a:xfrm>
          <a:prstGeom prst="rect">
            <a:avLst/>
          </a:prstGeom>
          <a:noFill/>
          <a:ln/>
        </p:spPr>
        <p:txBody>
          <a:bodyPr wrap="square" lIns="0" tIns="0" rIns="0" bIns="0" rtlCol="0" anchor="ctr"/>
          <a:lstStyle/>
          <a:p>
            <a:pPr indent="0" marL="0">
              <a:buNone/>
            </a:pPr>
            <a:r>
              <a:rPr lang="en-US" sz="1600" b="1" dirty="0">
                <a:solidFill>
                  <a:schemeClr val="tx2"/>
                </a:solidFill>
                <a:latin typeface="Georgia" pitchFamily="34" charset="0"/>
                <a:ea typeface="Georgia" pitchFamily="34" charset="-122"/>
                <a:cs typeface="Georgia" pitchFamily="34" charset="-120"/>
              </a:rPr>
              <a:t>Problem Statement</a:t>
            </a:r>
            <a:endParaRPr lang="en-US" sz="1600" dirty="0"/>
          </a:p>
        </p:txBody>
      </p:sp>
      <p:sp>
        <p:nvSpPr>
          <p:cNvPr id="12" name="Text 8"/>
          <p:cNvSpPr txBox="1"/>
          <p:nvPr/>
        </p:nvSpPr>
        <p:spPr>
          <a:xfrm>
            <a:off x="4892040" y="2103120"/>
            <a:ext cx="3611880" cy="22860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Manual complaint handling is difficult to track</a:t>
            </a:r>
            <a:endParaRPr lang="en-US" sz="1400" dirty="0"/>
          </a:p>
          <a:p>
            <a:pPr marL="177800" indent="-177800">
              <a:spcAft>
                <a:spcPts val="700"/>
              </a:spcAft>
              <a:buSzPct val="100000"/>
              <a:buChar char="•"/>
            </a:pPr>
            <a:r>
              <a:rPr lang="en-US" sz="1400" dirty="0">
                <a:solidFill>
                  <a:schemeClr val="tx1"/>
                </a:solidFill>
              </a:rPr>
              <a:t>Complaints can be lost or delayed</a:t>
            </a:r>
            <a:endParaRPr lang="en-US" sz="1400" dirty="0"/>
          </a:p>
          <a:p>
            <a:pPr marL="177800" indent="-177800">
              <a:spcAft>
                <a:spcPts val="700"/>
              </a:spcAft>
              <a:buSzPct val="100000"/>
              <a:buChar char="•"/>
            </a:pPr>
            <a:r>
              <a:rPr lang="en-US" sz="1400" dirty="0">
                <a:solidFill>
                  <a:schemeClr val="tx1"/>
                </a:solidFill>
              </a:rPr>
              <a:t>Communication can become scattered</a:t>
            </a:r>
            <a:endParaRPr lang="en-US" sz="1400" dirty="0"/>
          </a:p>
          <a:p>
            <a:pPr marL="177800" indent="-177800">
              <a:spcAft>
                <a:spcPts val="700"/>
              </a:spcAft>
              <a:buSzPct val="100000"/>
              <a:buChar char="•"/>
            </a:pPr>
            <a:r>
              <a:rPr lang="en-US" sz="1400" dirty="0">
                <a:solidFill>
                  <a:schemeClr val="tx1"/>
                </a:solidFill>
              </a:rPr>
              <a:t>Difficult to maintain proper complaint records and history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Objectives &amp; Scope</a:t>
            </a:r>
            <a:endParaRPr lang="en-US" sz="2600" dirty="0"/>
          </a:p>
        </p:txBody>
      </p:sp>
      <p:sp>
        <p:nvSpPr>
          <p:cNvPr id="3" name="Objectives card"/>
          <p:cNvSpPr/>
          <p:nvPr/>
        </p:nvSpPr>
        <p:spPr>
          <a:xfrm>
            <a:off x="457200" y="1280160"/>
            <a:ext cx="4023360" cy="3246120"/>
          </a:xfrm>
          <a:prstGeom prst="roundRect">
            <a:avLst>
              <a:gd name="adj" fmla="val 2254"/>
            </a:avLst>
          </a:prstGeom>
          <a:solidFill>
            <a:schemeClr val="bg2"/>
          </a:solidFill>
          <a:ln w="12700">
            <a:solidFill>
              <a:schemeClr val="bg2"/>
            </a:solidFill>
            <a:prstDash val="solid"/>
          </a:ln>
        </p:spPr>
      </p:sp>
      <p:sp>
        <p:nvSpPr>
          <p:cNvPr id="4" name="Icon circle"/>
          <p:cNvSpPr/>
          <p:nvPr/>
        </p:nvSpPr>
        <p:spPr>
          <a:xfrm>
            <a:off x="640080" y="1417320"/>
            <a:ext cx="457200" cy="457200"/>
          </a:xfrm>
          <a:prstGeom prst="ellipse">
            <a:avLst/>
          </a:prstGeom>
          <a:solidFill>
            <a:schemeClr val="accent1"/>
          </a:solidFill>
          <a:ln w="12700">
            <a:solidFill>
              <a:schemeClr val="accent1"/>
            </a:solidFill>
            <a:prstDash val="solid"/>
          </a:ln>
        </p:spPr>
      </p:sp>
      <p:pic>
        <p:nvPicPr>
          <p:cNvPr id="5" name="Image 0" descr="Objectives">    </p:cNvPr>
          <p:cNvPicPr>
            <a:picLocks noChangeAspect="1"/>
          </p:cNvPicPr>
          <p:nvPr/>
        </p:nvPicPr>
        <p:blipFill>
          <a:blip r:embed="rId1"/>
          <a:stretch>
            <a:fillRect/>
          </a:stretch>
        </p:blipFill>
        <p:spPr>
          <a:xfrm>
            <a:off x="749808" y="1527048"/>
            <a:ext cx="237744" cy="237744"/>
          </a:xfrm>
          <a:prstGeom prst="rect">
            <a:avLst/>
          </a:prstGeom>
        </p:spPr>
      </p:pic>
      <p:sp>
        <p:nvSpPr>
          <p:cNvPr id="6" name="Text 3"/>
          <p:cNvSpPr txBox="1"/>
          <p:nvPr/>
        </p:nvSpPr>
        <p:spPr>
          <a:xfrm>
            <a:off x="1234440" y="1417320"/>
            <a:ext cx="2743200" cy="457200"/>
          </a:xfrm>
          <a:prstGeom prst="rect">
            <a:avLst/>
          </a:prstGeom>
          <a:noFill/>
          <a:ln/>
        </p:spPr>
        <p:txBody>
          <a:bodyPr wrap="square" lIns="0" tIns="0" rIns="0" bIns="0" rtlCol="0" anchor="ctr"/>
          <a:lstStyle/>
          <a:p>
            <a:pPr indent="0" marL="0">
              <a:buNone/>
            </a:pPr>
            <a:r>
              <a:rPr lang="en-US" sz="1600" b="1" dirty="0">
                <a:solidFill>
                  <a:schemeClr val="tx2"/>
                </a:solidFill>
                <a:latin typeface="Georgia" pitchFamily="34" charset="0"/>
                <a:ea typeface="Georgia" pitchFamily="34" charset="-122"/>
                <a:cs typeface="Georgia" pitchFamily="34" charset="-120"/>
              </a:rPr>
              <a:t>Objectives</a:t>
            </a:r>
            <a:endParaRPr lang="en-US" sz="1600" dirty="0"/>
          </a:p>
        </p:txBody>
      </p:sp>
      <p:sp>
        <p:nvSpPr>
          <p:cNvPr id="7" name="Text 4"/>
          <p:cNvSpPr txBox="1"/>
          <p:nvPr/>
        </p:nvSpPr>
        <p:spPr>
          <a:xfrm>
            <a:off x="685800" y="2103120"/>
            <a:ext cx="3611880" cy="23774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Centralize complaint submission and management</a:t>
            </a:r>
            <a:endParaRPr lang="en-US" sz="1300" dirty="0"/>
          </a:p>
          <a:p>
            <a:pPr marL="177800" indent="-177800">
              <a:spcAft>
                <a:spcPts val="700"/>
              </a:spcAft>
              <a:buSzPct val="100000"/>
              <a:buChar char="•"/>
            </a:pPr>
            <a:r>
              <a:rPr lang="en-US" sz="1300" dirty="0">
                <a:solidFill>
                  <a:schemeClr val="tx1"/>
                </a:solidFill>
              </a:rPr>
              <a:t>Make complaint tracking easier</a:t>
            </a:r>
            <a:endParaRPr lang="en-US" sz="1300" dirty="0"/>
          </a:p>
          <a:p>
            <a:pPr marL="177800" indent="-177800">
              <a:spcAft>
                <a:spcPts val="700"/>
              </a:spcAft>
              <a:buSzPct val="100000"/>
              <a:buChar char="•"/>
            </a:pPr>
            <a:r>
              <a:rPr lang="en-US" sz="1300" dirty="0">
                <a:solidFill>
                  <a:schemeClr val="tx1"/>
                </a:solidFill>
              </a:rPr>
              <a:t>Improve communication between users and staff</a:t>
            </a:r>
            <a:endParaRPr lang="en-US" sz="1300" dirty="0"/>
          </a:p>
          <a:p>
            <a:pPr marL="177800" indent="-177800">
              <a:spcAft>
                <a:spcPts val="700"/>
              </a:spcAft>
              <a:buSzPct val="100000"/>
              <a:buChar char="•"/>
            </a:pPr>
            <a:r>
              <a:rPr lang="en-US" sz="1300" dirty="0">
                <a:solidFill>
                  <a:schemeClr val="tx1"/>
                </a:solidFill>
              </a:rPr>
              <a:t>Maintain organized complaint records</a:t>
            </a:r>
            <a:endParaRPr lang="en-US" sz="1300" dirty="0"/>
          </a:p>
          <a:p>
            <a:pPr marL="177800" indent="-177800">
              <a:spcAft>
                <a:spcPts val="700"/>
              </a:spcAft>
              <a:buSzPct val="100000"/>
              <a:buChar char="•"/>
            </a:pPr>
            <a:r>
              <a:rPr lang="en-US" sz="1300" dirty="0">
                <a:solidFill>
                  <a:schemeClr val="tx1"/>
                </a:solidFill>
              </a:rPr>
              <a:t>Reduce manual work</a:t>
            </a:r>
            <a:endParaRPr lang="en-US" sz="1300" dirty="0"/>
          </a:p>
        </p:txBody>
      </p:sp>
      <p:sp>
        <p:nvSpPr>
          <p:cNvPr id="8" name="Scope card"/>
          <p:cNvSpPr/>
          <p:nvPr/>
        </p:nvSpPr>
        <p:spPr>
          <a:xfrm>
            <a:off x="4663440" y="1280160"/>
            <a:ext cx="4023360" cy="3246120"/>
          </a:xfrm>
          <a:prstGeom prst="roundRect">
            <a:avLst>
              <a:gd name="adj" fmla="val 2254"/>
            </a:avLst>
          </a:prstGeom>
          <a:solidFill>
            <a:schemeClr val="bg2"/>
          </a:solidFill>
          <a:ln w="12700">
            <a:solidFill>
              <a:schemeClr val="bg2"/>
            </a:solidFill>
            <a:prstDash val="solid"/>
          </a:ln>
        </p:spPr>
      </p:sp>
      <p:sp>
        <p:nvSpPr>
          <p:cNvPr id="9" name="Icon circle"/>
          <p:cNvSpPr/>
          <p:nvPr/>
        </p:nvSpPr>
        <p:spPr>
          <a:xfrm>
            <a:off x="4846320" y="1417320"/>
            <a:ext cx="457200" cy="457200"/>
          </a:xfrm>
          <a:prstGeom prst="ellipse">
            <a:avLst/>
          </a:prstGeom>
          <a:solidFill>
            <a:schemeClr val="accent4"/>
          </a:solidFill>
          <a:ln w="12700">
            <a:solidFill>
              <a:schemeClr val="accent4"/>
            </a:solidFill>
            <a:prstDash val="solid"/>
          </a:ln>
        </p:spPr>
      </p:sp>
      <p:pic>
        <p:nvPicPr>
          <p:cNvPr id="10" name="Image 1" descr="Scope">    </p:cNvPr>
          <p:cNvPicPr>
            <a:picLocks noChangeAspect="1"/>
          </p:cNvPicPr>
          <p:nvPr/>
        </p:nvPicPr>
        <p:blipFill>
          <a:blip r:embed="rId2"/>
          <a:stretch>
            <a:fillRect/>
          </a:stretch>
        </p:blipFill>
        <p:spPr>
          <a:xfrm>
            <a:off x="4956048" y="1527048"/>
            <a:ext cx="237744" cy="237744"/>
          </a:xfrm>
          <a:prstGeom prst="rect">
            <a:avLst/>
          </a:prstGeom>
        </p:spPr>
      </p:pic>
      <p:sp>
        <p:nvSpPr>
          <p:cNvPr id="11" name="Text 7"/>
          <p:cNvSpPr txBox="1"/>
          <p:nvPr/>
        </p:nvSpPr>
        <p:spPr>
          <a:xfrm>
            <a:off x="5440680" y="1417320"/>
            <a:ext cx="2743200" cy="457200"/>
          </a:xfrm>
          <a:prstGeom prst="rect">
            <a:avLst/>
          </a:prstGeom>
          <a:noFill/>
          <a:ln/>
        </p:spPr>
        <p:txBody>
          <a:bodyPr wrap="square" lIns="0" tIns="0" rIns="0" bIns="0" rtlCol="0" anchor="ctr"/>
          <a:lstStyle/>
          <a:p>
            <a:pPr indent="0" marL="0">
              <a:buNone/>
            </a:pPr>
            <a:r>
              <a:rPr lang="en-US" sz="1600" b="1" dirty="0">
                <a:solidFill>
                  <a:schemeClr val="tx2"/>
                </a:solidFill>
                <a:latin typeface="Georgia" pitchFamily="34" charset="0"/>
                <a:ea typeface="Georgia" pitchFamily="34" charset="-122"/>
                <a:cs typeface="Georgia" pitchFamily="34" charset="-120"/>
              </a:rPr>
              <a:t>Scope</a:t>
            </a:r>
            <a:endParaRPr lang="en-US" sz="1600" dirty="0"/>
          </a:p>
        </p:txBody>
      </p:sp>
      <p:sp>
        <p:nvSpPr>
          <p:cNvPr id="12" name="Text 8"/>
          <p:cNvSpPr txBox="1"/>
          <p:nvPr/>
        </p:nvSpPr>
        <p:spPr>
          <a:xfrm>
            <a:off x="4892040" y="2103120"/>
            <a:ext cx="3611880" cy="23774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User, Staff and Admin roles</a:t>
            </a:r>
            <a:endParaRPr lang="en-US" sz="1300" dirty="0"/>
          </a:p>
          <a:p>
            <a:pPr marL="177800" indent="-177800">
              <a:spcAft>
                <a:spcPts val="700"/>
              </a:spcAft>
              <a:buSzPct val="100000"/>
              <a:buChar char="•"/>
            </a:pPr>
            <a:r>
              <a:rPr lang="en-US" sz="1300" dirty="0">
                <a:solidFill>
                  <a:schemeClr val="tx1"/>
                </a:solidFill>
              </a:rPr>
              <a:t>Complaint submission and tracking</a:t>
            </a:r>
            <a:endParaRPr lang="en-US" sz="1300" dirty="0"/>
          </a:p>
          <a:p>
            <a:pPr marL="177800" indent="-177800">
              <a:spcAft>
                <a:spcPts val="700"/>
              </a:spcAft>
              <a:buSzPct val="100000"/>
              <a:buChar char="•"/>
            </a:pPr>
            <a:r>
              <a:rPr lang="en-US" sz="1300" dirty="0">
                <a:solidFill>
                  <a:schemeClr val="tx1"/>
                </a:solidFill>
              </a:rPr>
              <a:t>Categories and complaint management</a:t>
            </a:r>
            <a:endParaRPr lang="en-US" sz="1300" dirty="0"/>
          </a:p>
          <a:p>
            <a:pPr marL="177800" indent="-177800">
              <a:spcAft>
                <a:spcPts val="700"/>
              </a:spcAft>
              <a:buSzPct val="100000"/>
              <a:buChar char="•"/>
            </a:pPr>
            <a:r>
              <a:rPr lang="en-US" sz="1300" dirty="0">
                <a:solidFill>
                  <a:schemeClr val="tx1"/>
                </a:solidFill>
              </a:rPr>
              <a:t>Staff processing and status updates</a:t>
            </a:r>
            <a:endParaRPr lang="en-US" sz="1300" dirty="0"/>
          </a:p>
          <a:p>
            <a:pPr marL="177800" indent="-177800">
              <a:spcAft>
                <a:spcPts val="700"/>
              </a:spcAft>
              <a:buSzPct val="100000"/>
              <a:buChar char="•"/>
            </a:pPr>
            <a:r>
              <a:rPr lang="en-US" sz="1300" dirty="0">
                <a:solidFill>
                  <a:schemeClr val="tx1"/>
                </a:solidFill>
              </a:rPr>
              <a:t>Messages, notifications and complaint history</a:t>
            </a:r>
            <a:endParaRPr lang="en-US" sz="1300" dirty="0"/>
          </a:p>
          <a:p>
            <a:pPr marL="177800" indent="-177800">
              <a:spcAft>
                <a:spcPts val="700"/>
              </a:spcAft>
              <a:buSzPct val="100000"/>
              <a:buChar char="•"/>
            </a:pPr>
            <a:r>
              <a:rPr lang="en-US" sz="1300" dirty="0">
                <a:solidFill>
                  <a:schemeClr val="tx1"/>
                </a:solidFill>
              </a:rPr>
              <a:t>Attachment support and responsive web interface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Technology &amp; System Workflow</a:t>
            </a:r>
            <a:endParaRPr lang="en-US" sz="2600" dirty="0"/>
          </a:p>
        </p:txBody>
      </p:sp>
      <p:sp>
        <p:nvSpPr>
          <p:cNvPr id="3" name="Text 1"/>
          <p:cNvSpPr txBox="1"/>
          <p:nvPr/>
        </p:nvSpPr>
        <p:spPr>
          <a:xfrm>
            <a:off x="457200" y="1188720"/>
            <a:ext cx="4572000" cy="320040"/>
          </a:xfrm>
          <a:prstGeom prst="rect">
            <a:avLst/>
          </a:prstGeom>
          <a:noFill/>
          <a:ln/>
        </p:spPr>
        <p:txBody>
          <a:bodyPr wrap="square" lIns="0" tIns="0" rIns="0" bIns="0" rtlCol="0" anchor="ctr"/>
          <a:lstStyle/>
          <a:p>
            <a:pPr indent="0" marL="0">
              <a:buNone/>
            </a:pPr>
            <a:r>
              <a:rPr lang="en-US" sz="1500" b="1" dirty="0">
                <a:solidFill>
                  <a:schemeClr val="tx2"/>
                </a:solidFill>
                <a:latin typeface="Georgia" pitchFamily="34" charset="0"/>
                <a:ea typeface="Georgia" pitchFamily="34" charset="-122"/>
                <a:cs typeface="Georgia" pitchFamily="34" charset="-120"/>
              </a:rPr>
              <a:t>Technologies Used</a:t>
            </a:r>
            <a:endParaRPr lang="en-US" sz="1500" dirty="0"/>
          </a:p>
        </p:txBody>
      </p:sp>
      <p:sp>
        <p:nvSpPr>
          <p:cNvPr id="4" name="Tech chip"/>
          <p:cNvSpPr/>
          <p:nvPr/>
        </p:nvSpPr>
        <p:spPr>
          <a:xfrm>
            <a:off x="457200" y="1600200"/>
            <a:ext cx="822960" cy="411480"/>
          </a:xfrm>
          <a:prstGeom prst="roundRect">
            <a:avLst>
              <a:gd name="adj" fmla="val 44444"/>
            </a:avLst>
          </a:prstGeom>
          <a:solidFill>
            <a:schemeClr val="accent1"/>
          </a:solidFill>
          <a:ln w="12700">
            <a:solidFill>
              <a:schemeClr val="accent1"/>
            </a:solidFill>
            <a:prstDash val="solid"/>
          </a:ln>
        </p:spPr>
      </p:sp>
      <p:sp>
        <p:nvSpPr>
          <p:cNvPr id="5" name="Text 3"/>
          <p:cNvSpPr txBox="1"/>
          <p:nvPr/>
        </p:nvSpPr>
        <p:spPr>
          <a:xfrm>
            <a:off x="457200" y="1600200"/>
            <a:ext cx="822960" cy="411480"/>
          </a:xfrm>
          <a:prstGeom prst="rect">
            <a:avLst/>
          </a:prstGeom>
          <a:noFill/>
          <a:ln/>
        </p:spPr>
        <p:txBody>
          <a:bodyPr wrap="square" lIns="0" tIns="0" rIns="0" bIns="0" rtlCol="0" anchor="ctr"/>
          <a:lstStyle/>
          <a:p>
            <a:pPr algn="ctr" indent="0" marL="0">
              <a:buNone/>
            </a:pPr>
            <a:r>
              <a:rPr lang="en-US" sz="1200" b="1" dirty="0">
                <a:solidFill>
                  <a:schemeClr val="bg1"/>
                </a:solidFill>
              </a:rPr>
              <a:t>HTML</a:t>
            </a:r>
            <a:endParaRPr lang="en-US" sz="1200" dirty="0"/>
          </a:p>
        </p:txBody>
      </p:sp>
      <p:sp>
        <p:nvSpPr>
          <p:cNvPr id="6" name="Tech chip"/>
          <p:cNvSpPr/>
          <p:nvPr/>
        </p:nvSpPr>
        <p:spPr>
          <a:xfrm>
            <a:off x="1371600" y="1600200"/>
            <a:ext cx="822960" cy="411480"/>
          </a:xfrm>
          <a:prstGeom prst="roundRect">
            <a:avLst>
              <a:gd name="adj" fmla="val 44444"/>
            </a:avLst>
          </a:prstGeom>
          <a:solidFill>
            <a:schemeClr val="accent1"/>
          </a:solidFill>
          <a:ln w="12700">
            <a:solidFill>
              <a:schemeClr val="accent1"/>
            </a:solidFill>
            <a:prstDash val="solid"/>
          </a:ln>
        </p:spPr>
      </p:sp>
      <p:sp>
        <p:nvSpPr>
          <p:cNvPr id="7" name="Text 5"/>
          <p:cNvSpPr txBox="1"/>
          <p:nvPr/>
        </p:nvSpPr>
        <p:spPr>
          <a:xfrm>
            <a:off x="1371600" y="1600200"/>
            <a:ext cx="822960" cy="411480"/>
          </a:xfrm>
          <a:prstGeom prst="rect">
            <a:avLst/>
          </a:prstGeom>
          <a:noFill/>
          <a:ln/>
        </p:spPr>
        <p:txBody>
          <a:bodyPr wrap="square" lIns="0" tIns="0" rIns="0" bIns="0" rtlCol="0" anchor="ctr"/>
          <a:lstStyle/>
          <a:p>
            <a:pPr algn="ctr" indent="0" marL="0">
              <a:buNone/>
            </a:pPr>
            <a:r>
              <a:rPr lang="en-US" sz="1200" b="1" dirty="0">
                <a:solidFill>
                  <a:schemeClr val="bg1"/>
                </a:solidFill>
              </a:rPr>
              <a:t>CSS</a:t>
            </a:r>
            <a:endParaRPr lang="en-US" sz="1200" dirty="0"/>
          </a:p>
        </p:txBody>
      </p:sp>
      <p:sp>
        <p:nvSpPr>
          <p:cNvPr id="8" name="Tech chip"/>
          <p:cNvSpPr/>
          <p:nvPr/>
        </p:nvSpPr>
        <p:spPr>
          <a:xfrm>
            <a:off x="2286000" y="1600200"/>
            <a:ext cx="1188720" cy="411480"/>
          </a:xfrm>
          <a:prstGeom prst="roundRect">
            <a:avLst>
              <a:gd name="adj" fmla="val 44444"/>
            </a:avLst>
          </a:prstGeom>
          <a:solidFill>
            <a:schemeClr val="accent1"/>
          </a:solidFill>
          <a:ln w="12700">
            <a:solidFill>
              <a:schemeClr val="accent1"/>
            </a:solidFill>
            <a:prstDash val="solid"/>
          </a:ln>
        </p:spPr>
      </p:sp>
      <p:sp>
        <p:nvSpPr>
          <p:cNvPr id="9" name="Text 7"/>
          <p:cNvSpPr txBox="1"/>
          <p:nvPr/>
        </p:nvSpPr>
        <p:spPr>
          <a:xfrm>
            <a:off x="2286000" y="1600200"/>
            <a:ext cx="1188720" cy="411480"/>
          </a:xfrm>
          <a:prstGeom prst="rect">
            <a:avLst/>
          </a:prstGeom>
          <a:noFill/>
          <a:ln/>
        </p:spPr>
        <p:txBody>
          <a:bodyPr wrap="square" lIns="0" tIns="0" rIns="0" bIns="0" rtlCol="0" anchor="ctr"/>
          <a:lstStyle/>
          <a:p>
            <a:pPr algn="ctr" indent="0" marL="0">
              <a:buNone/>
            </a:pPr>
            <a:r>
              <a:rPr lang="en-US" sz="1200" b="1" dirty="0">
                <a:solidFill>
                  <a:schemeClr val="bg1"/>
                </a:solidFill>
              </a:rPr>
              <a:t>JavaScript</a:t>
            </a:r>
            <a:endParaRPr lang="en-US" sz="1200" dirty="0"/>
          </a:p>
        </p:txBody>
      </p:sp>
      <p:sp>
        <p:nvSpPr>
          <p:cNvPr id="10" name="Tech chip"/>
          <p:cNvSpPr/>
          <p:nvPr/>
        </p:nvSpPr>
        <p:spPr>
          <a:xfrm>
            <a:off x="3566160" y="1600200"/>
            <a:ext cx="822960" cy="411480"/>
          </a:xfrm>
          <a:prstGeom prst="roundRect">
            <a:avLst>
              <a:gd name="adj" fmla="val 44444"/>
            </a:avLst>
          </a:prstGeom>
          <a:solidFill>
            <a:schemeClr val="accent1"/>
          </a:solidFill>
          <a:ln w="12700">
            <a:solidFill>
              <a:schemeClr val="accent1"/>
            </a:solidFill>
            <a:prstDash val="solid"/>
          </a:ln>
        </p:spPr>
      </p:sp>
      <p:sp>
        <p:nvSpPr>
          <p:cNvPr id="11" name="Text 9"/>
          <p:cNvSpPr txBox="1"/>
          <p:nvPr/>
        </p:nvSpPr>
        <p:spPr>
          <a:xfrm>
            <a:off x="3566160" y="1600200"/>
            <a:ext cx="822960" cy="411480"/>
          </a:xfrm>
          <a:prstGeom prst="rect">
            <a:avLst/>
          </a:prstGeom>
          <a:noFill/>
          <a:ln/>
        </p:spPr>
        <p:txBody>
          <a:bodyPr wrap="square" lIns="0" tIns="0" rIns="0" bIns="0" rtlCol="0" anchor="ctr"/>
          <a:lstStyle/>
          <a:p>
            <a:pPr algn="ctr" indent="0" marL="0">
              <a:buNone/>
            </a:pPr>
            <a:r>
              <a:rPr lang="en-US" sz="1200" b="1" dirty="0">
                <a:solidFill>
                  <a:schemeClr val="bg1"/>
                </a:solidFill>
              </a:rPr>
              <a:t>PHP</a:t>
            </a:r>
            <a:endParaRPr lang="en-US" sz="1200" dirty="0"/>
          </a:p>
        </p:txBody>
      </p:sp>
      <p:sp>
        <p:nvSpPr>
          <p:cNvPr id="12" name="Tech chip"/>
          <p:cNvSpPr/>
          <p:nvPr/>
        </p:nvSpPr>
        <p:spPr>
          <a:xfrm>
            <a:off x="4480560" y="1600200"/>
            <a:ext cx="914400" cy="411480"/>
          </a:xfrm>
          <a:prstGeom prst="roundRect">
            <a:avLst>
              <a:gd name="adj" fmla="val 44444"/>
            </a:avLst>
          </a:prstGeom>
          <a:solidFill>
            <a:schemeClr val="accent1"/>
          </a:solidFill>
          <a:ln w="12700">
            <a:solidFill>
              <a:schemeClr val="accent1"/>
            </a:solidFill>
            <a:prstDash val="solid"/>
          </a:ln>
        </p:spPr>
      </p:sp>
      <p:sp>
        <p:nvSpPr>
          <p:cNvPr id="13" name="Text 11"/>
          <p:cNvSpPr txBox="1"/>
          <p:nvPr/>
        </p:nvSpPr>
        <p:spPr>
          <a:xfrm>
            <a:off x="4480560" y="1600200"/>
            <a:ext cx="914400" cy="411480"/>
          </a:xfrm>
          <a:prstGeom prst="rect">
            <a:avLst/>
          </a:prstGeom>
          <a:noFill/>
          <a:ln/>
        </p:spPr>
        <p:txBody>
          <a:bodyPr wrap="square" lIns="0" tIns="0" rIns="0" bIns="0" rtlCol="0" anchor="ctr"/>
          <a:lstStyle/>
          <a:p>
            <a:pPr algn="ctr" indent="0" marL="0">
              <a:buNone/>
            </a:pPr>
            <a:r>
              <a:rPr lang="en-US" sz="1200" b="1" dirty="0">
                <a:solidFill>
                  <a:schemeClr val="bg1"/>
                </a:solidFill>
              </a:rPr>
              <a:t>MySQL</a:t>
            </a:r>
            <a:endParaRPr lang="en-US" sz="1200" dirty="0"/>
          </a:p>
        </p:txBody>
      </p:sp>
      <p:sp>
        <p:nvSpPr>
          <p:cNvPr id="14" name="Tech chip"/>
          <p:cNvSpPr/>
          <p:nvPr/>
        </p:nvSpPr>
        <p:spPr>
          <a:xfrm>
            <a:off x="5486400" y="1600200"/>
            <a:ext cx="822960" cy="411480"/>
          </a:xfrm>
          <a:prstGeom prst="roundRect">
            <a:avLst>
              <a:gd name="adj" fmla="val 44444"/>
            </a:avLst>
          </a:prstGeom>
          <a:solidFill>
            <a:schemeClr val="accent1"/>
          </a:solidFill>
          <a:ln w="12700">
            <a:solidFill>
              <a:schemeClr val="accent1"/>
            </a:solidFill>
            <a:prstDash val="solid"/>
          </a:ln>
        </p:spPr>
      </p:sp>
      <p:sp>
        <p:nvSpPr>
          <p:cNvPr id="15" name="Text 13"/>
          <p:cNvSpPr txBox="1"/>
          <p:nvPr/>
        </p:nvSpPr>
        <p:spPr>
          <a:xfrm>
            <a:off x="5486400" y="1600200"/>
            <a:ext cx="822960" cy="411480"/>
          </a:xfrm>
          <a:prstGeom prst="rect">
            <a:avLst/>
          </a:prstGeom>
          <a:noFill/>
          <a:ln/>
        </p:spPr>
        <p:txBody>
          <a:bodyPr wrap="square" lIns="0" tIns="0" rIns="0" bIns="0" rtlCol="0" anchor="ctr"/>
          <a:lstStyle/>
          <a:p>
            <a:pPr algn="ctr" indent="0" marL="0">
              <a:buNone/>
            </a:pPr>
            <a:r>
              <a:rPr lang="en-US" sz="1200" b="1" dirty="0">
                <a:solidFill>
                  <a:schemeClr val="bg1"/>
                </a:solidFill>
              </a:rPr>
              <a:t>PDO</a:t>
            </a:r>
            <a:endParaRPr lang="en-US" sz="1200" dirty="0"/>
          </a:p>
        </p:txBody>
      </p:sp>
      <p:sp>
        <p:nvSpPr>
          <p:cNvPr id="16" name="Tech chip"/>
          <p:cNvSpPr/>
          <p:nvPr/>
        </p:nvSpPr>
        <p:spPr>
          <a:xfrm>
            <a:off x="6400800" y="1600200"/>
            <a:ext cx="1645920" cy="411480"/>
          </a:xfrm>
          <a:prstGeom prst="roundRect">
            <a:avLst>
              <a:gd name="adj" fmla="val 44444"/>
            </a:avLst>
          </a:prstGeom>
          <a:solidFill>
            <a:schemeClr val="accent1"/>
          </a:solidFill>
          <a:ln w="12700">
            <a:solidFill>
              <a:schemeClr val="accent1"/>
            </a:solidFill>
            <a:prstDash val="solid"/>
          </a:ln>
        </p:spPr>
      </p:sp>
      <p:sp>
        <p:nvSpPr>
          <p:cNvPr id="17" name="Text 15"/>
          <p:cNvSpPr txBox="1"/>
          <p:nvPr/>
        </p:nvSpPr>
        <p:spPr>
          <a:xfrm>
            <a:off x="6400800" y="1600200"/>
            <a:ext cx="1645920" cy="411480"/>
          </a:xfrm>
          <a:prstGeom prst="rect">
            <a:avLst/>
          </a:prstGeom>
          <a:noFill/>
          <a:ln/>
        </p:spPr>
        <p:txBody>
          <a:bodyPr wrap="square" lIns="0" tIns="0" rIns="0" bIns="0" rtlCol="0" anchor="ctr"/>
          <a:lstStyle/>
          <a:p>
            <a:pPr algn="ctr" indent="0" marL="0">
              <a:buNone/>
            </a:pPr>
            <a:r>
              <a:rPr lang="en-US" sz="1200" b="1" dirty="0">
                <a:solidFill>
                  <a:schemeClr val="bg1"/>
                </a:solidFill>
              </a:rPr>
              <a:t>XAMPP / Apache</a:t>
            </a:r>
            <a:endParaRPr lang="en-US" sz="1200" dirty="0"/>
          </a:p>
        </p:txBody>
      </p:sp>
      <p:sp>
        <p:nvSpPr>
          <p:cNvPr id="18" name="Text 16"/>
          <p:cNvSpPr txBox="1"/>
          <p:nvPr/>
        </p:nvSpPr>
        <p:spPr>
          <a:xfrm>
            <a:off x="457200" y="2286000"/>
            <a:ext cx="4572000" cy="320040"/>
          </a:xfrm>
          <a:prstGeom prst="rect">
            <a:avLst/>
          </a:prstGeom>
          <a:noFill/>
          <a:ln/>
        </p:spPr>
        <p:txBody>
          <a:bodyPr wrap="square" lIns="0" tIns="0" rIns="0" bIns="0" rtlCol="0" anchor="ctr"/>
          <a:lstStyle/>
          <a:p>
            <a:pPr indent="0" marL="0">
              <a:buNone/>
            </a:pPr>
            <a:r>
              <a:rPr lang="en-US" sz="1500" b="1" dirty="0">
                <a:solidFill>
                  <a:schemeClr val="tx2"/>
                </a:solidFill>
                <a:latin typeface="Georgia" pitchFamily="34" charset="0"/>
                <a:ea typeface="Georgia" pitchFamily="34" charset="-122"/>
                <a:cs typeface="Georgia" pitchFamily="34" charset="-120"/>
              </a:rPr>
              <a:t>System Workflow</a:t>
            </a:r>
            <a:endParaRPr lang="en-US" sz="1500" dirty="0"/>
          </a:p>
        </p:txBody>
      </p:sp>
      <p:sp>
        <p:nvSpPr>
          <p:cNvPr id="19" name="Workflow step 1"/>
          <p:cNvSpPr/>
          <p:nvPr/>
        </p:nvSpPr>
        <p:spPr>
          <a:xfrm>
            <a:off x="457200" y="2697480"/>
            <a:ext cx="1828800" cy="777240"/>
          </a:xfrm>
          <a:prstGeom prst="roundRect">
            <a:avLst>
              <a:gd name="adj" fmla="val 9412"/>
            </a:avLst>
          </a:prstGeom>
          <a:solidFill>
            <a:schemeClr val="bg2"/>
          </a:solidFill>
          <a:ln w="12700">
            <a:solidFill>
              <a:schemeClr val="accent1"/>
            </a:solidFill>
            <a:prstDash val="solid"/>
          </a:ln>
        </p:spPr>
      </p:sp>
      <p:sp>
        <p:nvSpPr>
          <p:cNvPr id="20" name="Text 18"/>
          <p:cNvSpPr txBox="1"/>
          <p:nvPr/>
        </p:nvSpPr>
        <p:spPr>
          <a:xfrm>
            <a:off x="548640" y="2788920"/>
            <a:ext cx="274320" cy="274320"/>
          </a:xfrm>
          <a:prstGeom prst="ellipse">
            <a:avLst/>
          </a:prstGeom>
          <a:solidFill>
            <a:schemeClr val="accent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1" name="Text 19"/>
          <p:cNvSpPr txBox="1"/>
          <p:nvPr/>
        </p:nvSpPr>
        <p:spPr>
          <a:xfrm>
            <a:off x="868680" y="2697480"/>
            <a:ext cx="1371600" cy="777240"/>
          </a:xfrm>
          <a:prstGeom prst="rect">
            <a:avLst/>
          </a:prstGeom>
          <a:noFill/>
          <a:ln/>
        </p:spPr>
        <p:txBody>
          <a:bodyPr wrap="square" lIns="0" tIns="0" rIns="0" bIns="0" rtlCol="0" anchor="ctr"/>
          <a:lstStyle/>
          <a:p>
            <a:pPr indent="0" marL="0">
              <a:buNone/>
            </a:pPr>
            <a:r>
              <a:rPr lang="en-US" sz="1200" b="1" dirty="0">
                <a:solidFill>
                  <a:schemeClr val="tx1"/>
                </a:solidFill>
              </a:rPr>
              <a:t>User Login</a:t>
            </a:r>
            <a:endParaRPr lang="en-US" sz="1200" dirty="0"/>
          </a:p>
        </p:txBody>
      </p:sp>
      <p:sp>
        <p:nvSpPr>
          <p:cNvPr id="22" name="Text 20"/>
          <p:cNvSpPr txBox="1"/>
          <p:nvPr/>
        </p:nvSpPr>
        <p:spPr>
          <a:xfrm>
            <a:off x="2286000" y="2697480"/>
            <a:ext cx="304495" cy="77724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23" name="Workflow step 2"/>
          <p:cNvSpPr/>
          <p:nvPr/>
        </p:nvSpPr>
        <p:spPr>
          <a:xfrm>
            <a:off x="2590495" y="2697480"/>
            <a:ext cx="1828800" cy="777240"/>
          </a:xfrm>
          <a:prstGeom prst="roundRect">
            <a:avLst>
              <a:gd name="adj" fmla="val 9412"/>
            </a:avLst>
          </a:prstGeom>
          <a:solidFill>
            <a:schemeClr val="bg2"/>
          </a:solidFill>
          <a:ln w="12700">
            <a:solidFill>
              <a:schemeClr val="accent1"/>
            </a:solidFill>
            <a:prstDash val="solid"/>
          </a:ln>
        </p:spPr>
      </p:sp>
      <p:sp>
        <p:nvSpPr>
          <p:cNvPr id="24" name="Text 22"/>
          <p:cNvSpPr txBox="1"/>
          <p:nvPr/>
        </p:nvSpPr>
        <p:spPr>
          <a:xfrm>
            <a:off x="2681935" y="2788920"/>
            <a:ext cx="274320" cy="274320"/>
          </a:xfrm>
          <a:prstGeom prst="ellipse">
            <a:avLst/>
          </a:prstGeom>
          <a:solidFill>
            <a:schemeClr val="accent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5" name="Text 23"/>
          <p:cNvSpPr txBox="1"/>
          <p:nvPr/>
        </p:nvSpPr>
        <p:spPr>
          <a:xfrm>
            <a:off x="3001975" y="2697480"/>
            <a:ext cx="1371600" cy="777240"/>
          </a:xfrm>
          <a:prstGeom prst="rect">
            <a:avLst/>
          </a:prstGeom>
          <a:noFill/>
          <a:ln/>
        </p:spPr>
        <p:txBody>
          <a:bodyPr wrap="square" lIns="0" tIns="0" rIns="0" bIns="0" rtlCol="0" anchor="ctr"/>
          <a:lstStyle/>
          <a:p>
            <a:pPr indent="0" marL="0">
              <a:buNone/>
            </a:pPr>
            <a:r>
              <a:rPr lang="en-US" sz="1200" b="1" dirty="0">
                <a:solidFill>
                  <a:schemeClr val="tx1"/>
                </a:solidFill>
              </a:rPr>
              <a:t>Submit Complaint</a:t>
            </a:r>
            <a:endParaRPr lang="en-US" sz="1200" dirty="0"/>
          </a:p>
        </p:txBody>
      </p:sp>
      <p:sp>
        <p:nvSpPr>
          <p:cNvPr id="26" name="Text 24"/>
          <p:cNvSpPr txBox="1"/>
          <p:nvPr/>
        </p:nvSpPr>
        <p:spPr>
          <a:xfrm>
            <a:off x="4419295" y="2697480"/>
            <a:ext cx="304495" cy="77724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27" name="Workflow step 3"/>
          <p:cNvSpPr/>
          <p:nvPr/>
        </p:nvSpPr>
        <p:spPr>
          <a:xfrm>
            <a:off x="4723790" y="2697480"/>
            <a:ext cx="1828800" cy="777240"/>
          </a:xfrm>
          <a:prstGeom prst="roundRect">
            <a:avLst>
              <a:gd name="adj" fmla="val 9412"/>
            </a:avLst>
          </a:prstGeom>
          <a:solidFill>
            <a:schemeClr val="bg2"/>
          </a:solidFill>
          <a:ln w="12700">
            <a:solidFill>
              <a:schemeClr val="accent1"/>
            </a:solidFill>
            <a:prstDash val="solid"/>
          </a:ln>
        </p:spPr>
      </p:sp>
      <p:sp>
        <p:nvSpPr>
          <p:cNvPr id="28" name="Text 26"/>
          <p:cNvSpPr txBox="1"/>
          <p:nvPr/>
        </p:nvSpPr>
        <p:spPr>
          <a:xfrm>
            <a:off x="4815230" y="2788920"/>
            <a:ext cx="274320" cy="274320"/>
          </a:xfrm>
          <a:prstGeom prst="ellipse">
            <a:avLst/>
          </a:prstGeom>
          <a:solidFill>
            <a:schemeClr val="accent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9" name="Text 27"/>
          <p:cNvSpPr txBox="1"/>
          <p:nvPr/>
        </p:nvSpPr>
        <p:spPr>
          <a:xfrm>
            <a:off x="5135270" y="2697480"/>
            <a:ext cx="1371600" cy="777240"/>
          </a:xfrm>
          <a:prstGeom prst="rect">
            <a:avLst/>
          </a:prstGeom>
          <a:noFill/>
          <a:ln/>
        </p:spPr>
        <p:txBody>
          <a:bodyPr wrap="square" lIns="0" tIns="0" rIns="0" bIns="0" rtlCol="0" anchor="ctr"/>
          <a:lstStyle/>
          <a:p>
            <a:pPr indent="0" marL="0">
              <a:buNone/>
            </a:pPr>
            <a:r>
              <a:rPr lang="en-US" sz="1200" b="1" dirty="0">
                <a:solidFill>
                  <a:schemeClr val="tx1"/>
                </a:solidFill>
              </a:rPr>
              <a:t>Database</a:t>
            </a:r>
            <a:endParaRPr lang="en-US" sz="1200" dirty="0"/>
          </a:p>
        </p:txBody>
      </p:sp>
      <p:sp>
        <p:nvSpPr>
          <p:cNvPr id="30" name="Text 28"/>
          <p:cNvSpPr txBox="1"/>
          <p:nvPr/>
        </p:nvSpPr>
        <p:spPr>
          <a:xfrm>
            <a:off x="6552590" y="2697480"/>
            <a:ext cx="304495" cy="77724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31" name="Workflow step 4"/>
          <p:cNvSpPr/>
          <p:nvPr/>
        </p:nvSpPr>
        <p:spPr>
          <a:xfrm>
            <a:off x="6857086" y="2697480"/>
            <a:ext cx="1828800" cy="777240"/>
          </a:xfrm>
          <a:prstGeom prst="roundRect">
            <a:avLst>
              <a:gd name="adj" fmla="val 9412"/>
            </a:avLst>
          </a:prstGeom>
          <a:solidFill>
            <a:schemeClr val="bg2"/>
          </a:solidFill>
          <a:ln w="12700">
            <a:solidFill>
              <a:schemeClr val="accent1"/>
            </a:solidFill>
            <a:prstDash val="solid"/>
          </a:ln>
        </p:spPr>
      </p:sp>
      <p:sp>
        <p:nvSpPr>
          <p:cNvPr id="32" name="Text 30"/>
          <p:cNvSpPr txBox="1"/>
          <p:nvPr/>
        </p:nvSpPr>
        <p:spPr>
          <a:xfrm>
            <a:off x="6948526" y="2788920"/>
            <a:ext cx="274320" cy="274320"/>
          </a:xfrm>
          <a:prstGeom prst="ellipse">
            <a:avLst/>
          </a:prstGeom>
          <a:solidFill>
            <a:schemeClr val="accent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3" name="Text 31"/>
          <p:cNvSpPr txBox="1"/>
          <p:nvPr/>
        </p:nvSpPr>
        <p:spPr>
          <a:xfrm>
            <a:off x="7268566" y="2697480"/>
            <a:ext cx="1371600" cy="777240"/>
          </a:xfrm>
          <a:prstGeom prst="rect">
            <a:avLst/>
          </a:prstGeom>
          <a:noFill/>
          <a:ln/>
        </p:spPr>
        <p:txBody>
          <a:bodyPr wrap="square" lIns="0" tIns="0" rIns="0" bIns="0" rtlCol="0" anchor="ctr"/>
          <a:lstStyle/>
          <a:p>
            <a:pPr indent="0" marL="0">
              <a:buNone/>
            </a:pPr>
            <a:r>
              <a:rPr lang="en-US" sz="1200" b="1" dirty="0">
                <a:solidFill>
                  <a:schemeClr val="tx1"/>
                </a:solidFill>
              </a:rPr>
              <a:t>Staff / Admin Review</a:t>
            </a:r>
            <a:endParaRPr lang="en-US" sz="1200" dirty="0"/>
          </a:p>
        </p:txBody>
      </p:sp>
      <p:sp>
        <p:nvSpPr>
          <p:cNvPr id="34" name="Workflow step 5"/>
          <p:cNvSpPr/>
          <p:nvPr/>
        </p:nvSpPr>
        <p:spPr>
          <a:xfrm>
            <a:off x="457200" y="3703320"/>
            <a:ext cx="1828800" cy="777240"/>
          </a:xfrm>
          <a:prstGeom prst="roundRect">
            <a:avLst>
              <a:gd name="adj" fmla="val 9412"/>
            </a:avLst>
          </a:prstGeom>
          <a:solidFill>
            <a:schemeClr val="bg2"/>
          </a:solidFill>
          <a:ln w="12700">
            <a:solidFill>
              <a:schemeClr val="accent1"/>
            </a:solidFill>
            <a:prstDash val="solid"/>
          </a:ln>
        </p:spPr>
      </p:sp>
      <p:sp>
        <p:nvSpPr>
          <p:cNvPr id="35" name="Text 33"/>
          <p:cNvSpPr txBox="1"/>
          <p:nvPr/>
        </p:nvSpPr>
        <p:spPr>
          <a:xfrm>
            <a:off x="548640" y="3794760"/>
            <a:ext cx="274320" cy="274320"/>
          </a:xfrm>
          <a:prstGeom prst="ellipse">
            <a:avLst/>
          </a:prstGeom>
          <a:solidFill>
            <a:schemeClr val="accent1"/>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36" name="Text 34"/>
          <p:cNvSpPr txBox="1"/>
          <p:nvPr/>
        </p:nvSpPr>
        <p:spPr>
          <a:xfrm>
            <a:off x="868680" y="3703320"/>
            <a:ext cx="1371600" cy="777240"/>
          </a:xfrm>
          <a:prstGeom prst="rect">
            <a:avLst/>
          </a:prstGeom>
          <a:noFill/>
          <a:ln/>
        </p:spPr>
        <p:txBody>
          <a:bodyPr wrap="square" lIns="0" tIns="0" rIns="0" bIns="0" rtlCol="0" anchor="ctr"/>
          <a:lstStyle/>
          <a:p>
            <a:pPr indent="0" marL="0">
              <a:buNone/>
            </a:pPr>
            <a:r>
              <a:rPr lang="en-US" sz="1200" b="1" dirty="0">
                <a:solidFill>
                  <a:schemeClr val="tx1"/>
                </a:solidFill>
              </a:rPr>
              <a:t>Process &amp; Respond</a:t>
            </a:r>
            <a:endParaRPr lang="en-US" sz="1200" dirty="0"/>
          </a:p>
        </p:txBody>
      </p:sp>
      <p:sp>
        <p:nvSpPr>
          <p:cNvPr id="37" name="Text 35"/>
          <p:cNvSpPr txBox="1"/>
          <p:nvPr/>
        </p:nvSpPr>
        <p:spPr>
          <a:xfrm>
            <a:off x="2286000" y="3703320"/>
            <a:ext cx="304495" cy="77724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38" name="Workflow step 6"/>
          <p:cNvSpPr/>
          <p:nvPr/>
        </p:nvSpPr>
        <p:spPr>
          <a:xfrm>
            <a:off x="2590495" y="3703320"/>
            <a:ext cx="1828800" cy="777240"/>
          </a:xfrm>
          <a:prstGeom prst="roundRect">
            <a:avLst>
              <a:gd name="adj" fmla="val 9412"/>
            </a:avLst>
          </a:prstGeom>
          <a:solidFill>
            <a:schemeClr val="bg2"/>
          </a:solidFill>
          <a:ln w="12700">
            <a:solidFill>
              <a:schemeClr val="accent1"/>
            </a:solidFill>
            <a:prstDash val="solid"/>
          </a:ln>
        </p:spPr>
      </p:sp>
      <p:sp>
        <p:nvSpPr>
          <p:cNvPr id="39" name="Text 37"/>
          <p:cNvSpPr txBox="1"/>
          <p:nvPr/>
        </p:nvSpPr>
        <p:spPr>
          <a:xfrm>
            <a:off x="2681935" y="3794760"/>
            <a:ext cx="274320" cy="274320"/>
          </a:xfrm>
          <a:prstGeom prst="ellipse">
            <a:avLst/>
          </a:prstGeom>
          <a:solidFill>
            <a:schemeClr val="accent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40" name="Text 38"/>
          <p:cNvSpPr txBox="1"/>
          <p:nvPr/>
        </p:nvSpPr>
        <p:spPr>
          <a:xfrm>
            <a:off x="3001975" y="3703320"/>
            <a:ext cx="1371600" cy="777240"/>
          </a:xfrm>
          <a:prstGeom prst="rect">
            <a:avLst/>
          </a:prstGeom>
          <a:noFill/>
          <a:ln/>
        </p:spPr>
        <p:txBody>
          <a:bodyPr wrap="square" lIns="0" tIns="0" rIns="0" bIns="0" rtlCol="0" anchor="ctr"/>
          <a:lstStyle/>
          <a:p>
            <a:pPr indent="0" marL="0">
              <a:buNone/>
            </a:pPr>
            <a:r>
              <a:rPr lang="en-US" sz="1200" b="1" dirty="0">
                <a:solidFill>
                  <a:schemeClr val="tx1"/>
                </a:solidFill>
              </a:rPr>
              <a:t>Status Update</a:t>
            </a:r>
            <a:endParaRPr lang="en-US" sz="1200" dirty="0"/>
          </a:p>
        </p:txBody>
      </p:sp>
      <p:sp>
        <p:nvSpPr>
          <p:cNvPr id="41" name="Text 39"/>
          <p:cNvSpPr txBox="1"/>
          <p:nvPr/>
        </p:nvSpPr>
        <p:spPr>
          <a:xfrm>
            <a:off x="4419295" y="3703320"/>
            <a:ext cx="304495" cy="77724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42" name="Workflow step 7"/>
          <p:cNvSpPr/>
          <p:nvPr/>
        </p:nvSpPr>
        <p:spPr>
          <a:xfrm>
            <a:off x="4723790" y="3703320"/>
            <a:ext cx="1828800" cy="777240"/>
          </a:xfrm>
          <a:prstGeom prst="roundRect">
            <a:avLst>
              <a:gd name="adj" fmla="val 9412"/>
            </a:avLst>
          </a:prstGeom>
          <a:solidFill>
            <a:schemeClr val="bg2"/>
          </a:solidFill>
          <a:ln w="12700">
            <a:solidFill>
              <a:schemeClr val="accent1"/>
            </a:solidFill>
            <a:prstDash val="solid"/>
          </a:ln>
        </p:spPr>
      </p:sp>
      <p:sp>
        <p:nvSpPr>
          <p:cNvPr id="43" name="Text 41"/>
          <p:cNvSpPr txBox="1"/>
          <p:nvPr/>
        </p:nvSpPr>
        <p:spPr>
          <a:xfrm>
            <a:off x="4815230" y="3794760"/>
            <a:ext cx="274320" cy="274320"/>
          </a:xfrm>
          <a:prstGeom prst="ellipse">
            <a:avLst/>
          </a:prstGeom>
          <a:solidFill>
            <a:schemeClr val="accent1"/>
          </a:solid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44" name="Text 42"/>
          <p:cNvSpPr txBox="1"/>
          <p:nvPr/>
        </p:nvSpPr>
        <p:spPr>
          <a:xfrm>
            <a:off x="5135270" y="3703320"/>
            <a:ext cx="1371600" cy="777240"/>
          </a:xfrm>
          <a:prstGeom prst="rect">
            <a:avLst/>
          </a:prstGeom>
          <a:noFill/>
          <a:ln/>
        </p:spPr>
        <p:txBody>
          <a:bodyPr wrap="square" lIns="0" tIns="0" rIns="0" bIns="0" rtlCol="0" anchor="ctr"/>
          <a:lstStyle/>
          <a:p>
            <a:pPr indent="0" marL="0">
              <a:buNone/>
            </a:pPr>
            <a:r>
              <a:rPr lang="en-US" sz="1200" b="1" dirty="0">
                <a:solidFill>
                  <a:schemeClr val="tx1"/>
                </a:solidFill>
              </a:rPr>
              <a:t>User Tracks Complaint</a:t>
            </a:r>
            <a:endParaRPr lang="en-US" sz="1200" dirty="0"/>
          </a:p>
        </p:txBody>
      </p:sp>
      <p:sp>
        <p:nvSpPr>
          <p:cNvPr id="45" name="Text 43"/>
          <p:cNvSpPr txBox="1"/>
          <p:nvPr/>
        </p:nvSpPr>
        <p:spPr>
          <a:xfrm>
            <a:off x="6552590" y="3703320"/>
            <a:ext cx="304495" cy="77724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46" name="Workflow step 8"/>
          <p:cNvSpPr/>
          <p:nvPr/>
        </p:nvSpPr>
        <p:spPr>
          <a:xfrm>
            <a:off x="6857086" y="3703320"/>
            <a:ext cx="1828800" cy="777240"/>
          </a:xfrm>
          <a:prstGeom prst="roundRect">
            <a:avLst>
              <a:gd name="adj" fmla="val 9412"/>
            </a:avLst>
          </a:prstGeom>
          <a:solidFill>
            <a:schemeClr val="accent4"/>
          </a:solidFill>
          <a:ln w="12700">
            <a:solidFill>
              <a:schemeClr val="accent4"/>
            </a:solidFill>
            <a:prstDash val="solid"/>
          </a:ln>
        </p:spPr>
      </p:sp>
      <p:sp>
        <p:nvSpPr>
          <p:cNvPr id="47" name="Text 45"/>
          <p:cNvSpPr txBox="1"/>
          <p:nvPr/>
        </p:nvSpPr>
        <p:spPr>
          <a:xfrm>
            <a:off x="6948526" y="3794760"/>
            <a:ext cx="274320" cy="274320"/>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48" name="Text 46"/>
          <p:cNvSpPr txBox="1"/>
          <p:nvPr/>
        </p:nvSpPr>
        <p:spPr>
          <a:xfrm>
            <a:off x="7268566" y="3703320"/>
            <a:ext cx="1371600" cy="777240"/>
          </a:xfrm>
          <a:prstGeom prst="rect">
            <a:avLst/>
          </a:prstGeom>
          <a:noFill/>
          <a:ln/>
        </p:spPr>
        <p:txBody>
          <a:bodyPr wrap="square" lIns="0" tIns="0" rIns="0" bIns="0" rtlCol="0" anchor="ctr"/>
          <a:lstStyle/>
          <a:p>
            <a:pPr indent="0" marL="0">
              <a:buNone/>
            </a:pPr>
            <a:r>
              <a:rPr lang="en-US" sz="1200" b="1" dirty="0">
                <a:solidFill>
                  <a:schemeClr val="bg1"/>
                </a:solidFill>
              </a:rPr>
              <a:t>Resolution</a:t>
            </a:r>
            <a:endParaRPr lang="en-US" sz="1200" dirty="0"/>
          </a:p>
        </p:txBody>
      </p:sp>
      <p:sp>
        <p:nvSpPr>
          <p:cNvPr id="49" name="Text 47"/>
          <p:cNvSpPr txBox="1"/>
          <p:nvPr/>
        </p:nvSpPr>
        <p:spPr>
          <a:xfrm>
            <a:off x="6309360" y="2377440"/>
            <a:ext cx="2377440" cy="228600"/>
          </a:xfrm>
          <a:prstGeom prst="rect">
            <a:avLst/>
          </a:prstGeom>
          <a:noFill/>
          <a:ln/>
        </p:spPr>
        <p:txBody>
          <a:bodyPr wrap="square" lIns="0" tIns="0" rIns="0" bIns="0" rtlCol="0" anchor="ctr"/>
          <a:lstStyle/>
          <a:p>
            <a:pPr algn="r" indent="0" marL="0">
              <a:buNone/>
            </a:pPr>
            <a:r>
              <a:rPr lang="en-US" sz="900" i="1" dirty="0">
                <a:solidFill>
                  <a:schemeClr val="accent3"/>
                </a:solidFill>
              </a:rPr>
              <a:t>↓ continues on second row</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par>
                                <p:cTn id="97" presetID="10" presetClass="entr" presetSubtype="0" fill="hold"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500"/>
                                        <p:tgtEl>
                                          <p:spTgt spid="33"/>
                                        </p:tgtEl>
                                      </p:cBhvr>
                                    </p:animEffect>
                                  </p:childTnLst>
                                </p:cTn>
                              </p:par>
                              <p:par>
                                <p:cTn id="100" presetID="10" presetClass="entr" presetSubtype="0" fill="hold" nodeType="withEffect">
                                  <p:stCondLst>
                                    <p:cond delay="0"/>
                                  </p:stCondLst>
                                  <p:childTnLst>
                                    <p:set>
                                      <p:cBhvr>
                                        <p:cTn id="101" dur="1" fill="hold">
                                          <p:stCondLst>
                                            <p:cond delay="0"/>
                                          </p:stCondLst>
                                        </p:cTn>
                                        <p:tgtEl>
                                          <p:spTgt spid="49"/>
                                        </p:tgtEl>
                                        <p:attrNameLst>
                                          <p:attrName>style.visibility</p:attrName>
                                        </p:attrNameLst>
                                      </p:cBhvr>
                                      <p:to>
                                        <p:strVal val="visible"/>
                                      </p:to>
                                    </p:set>
                                    <p:animEffect transition="in" filter="fade">
                                      <p:cBhvr>
                                        <p:cTn id="102" dur="500"/>
                                        <p:tgtEl>
                                          <p:spTgt spid="49"/>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500"/>
                                        <p:tgtEl>
                                          <p:spTgt spid="34"/>
                                        </p:tgtEl>
                                      </p:cBhvr>
                                    </p:animEffect>
                                  </p:childTnLst>
                                </p:cTn>
                              </p:par>
                              <p:par>
                                <p:cTn id="108" presetID="10" presetClass="entr" presetSubtype="0" fill="hold"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500"/>
                                        <p:tgtEl>
                                          <p:spTgt spid="35"/>
                                        </p:tgtEl>
                                      </p:cBhvr>
                                    </p:animEffect>
                                  </p:childTnLst>
                                </p:cTn>
                              </p:par>
                              <p:par>
                                <p:cTn id="111" presetID="10" presetClass="entr" presetSubtype="0" fill="hold"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500"/>
                                        <p:tgtEl>
                                          <p:spTgt spid="36"/>
                                        </p:tgtEl>
                                      </p:cBhvr>
                                    </p:animEffect>
                                  </p:childTnLst>
                                </p:cTn>
                              </p:par>
                              <p:par>
                                <p:cTn id="114" presetID="10" presetClass="entr" presetSubtype="0" fill="hold" nodeType="with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500"/>
                                        <p:tgtEl>
                                          <p:spTgt spid="37"/>
                                        </p:tgtEl>
                                      </p:cBhvr>
                                    </p:animEffect>
                                  </p:childTnLst>
                                </p:cTn>
                              </p:par>
                              <p:par>
                                <p:cTn id="117" presetID="10" presetClass="entr" presetSubtype="0" fill="hold"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500"/>
                                        <p:tgtEl>
                                          <p:spTgt spid="38"/>
                                        </p:tgtEl>
                                      </p:cBhvr>
                                    </p:animEffect>
                                  </p:childTnLst>
                                </p:cTn>
                              </p:par>
                              <p:par>
                                <p:cTn id="120" presetID="10" presetClass="entr" presetSubtype="0" fill="hold" nodeType="with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500"/>
                                        <p:tgtEl>
                                          <p:spTgt spid="39"/>
                                        </p:tgtEl>
                                      </p:cBhvr>
                                    </p:animEffect>
                                  </p:childTnLst>
                                </p:cTn>
                              </p:par>
                              <p:par>
                                <p:cTn id="123" presetID="10" presetClass="entr" presetSubtype="0" fill="hold" nodeType="with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fade">
                                      <p:cBhvr>
                                        <p:cTn id="125" dur="500"/>
                                        <p:tgtEl>
                                          <p:spTgt spid="40"/>
                                        </p:tgtEl>
                                      </p:cBhvr>
                                    </p:animEffect>
                                  </p:childTnLst>
                                </p:cTn>
                              </p:par>
                              <p:par>
                                <p:cTn id="126" presetID="10" presetClass="entr" presetSubtype="0" fill="hold" nodeType="withEffect">
                                  <p:stCondLst>
                                    <p:cond delay="0"/>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500"/>
                                        <p:tgtEl>
                                          <p:spTgt spid="41"/>
                                        </p:tgtEl>
                                      </p:cBhvr>
                                    </p:animEffect>
                                  </p:childTnLst>
                                </p:cTn>
                              </p:par>
                              <p:par>
                                <p:cTn id="129" presetID="10" presetClass="entr" presetSubtype="0" fill="hold" nodeType="withEffect">
                                  <p:stCondLst>
                                    <p:cond delay="0"/>
                                  </p:stCondLst>
                                  <p:childTnLst>
                                    <p:set>
                                      <p:cBhvr>
                                        <p:cTn id="130" dur="1" fill="hold">
                                          <p:stCondLst>
                                            <p:cond delay="0"/>
                                          </p:stCondLst>
                                        </p:cTn>
                                        <p:tgtEl>
                                          <p:spTgt spid="42"/>
                                        </p:tgtEl>
                                        <p:attrNameLst>
                                          <p:attrName>style.visibility</p:attrName>
                                        </p:attrNameLst>
                                      </p:cBhvr>
                                      <p:to>
                                        <p:strVal val="visible"/>
                                      </p:to>
                                    </p:set>
                                    <p:animEffect transition="in" filter="fade">
                                      <p:cBhvr>
                                        <p:cTn id="131" dur="500"/>
                                        <p:tgtEl>
                                          <p:spTgt spid="42"/>
                                        </p:tgtEl>
                                      </p:cBhvr>
                                    </p:animEffect>
                                  </p:childTnLst>
                                </p:cTn>
                              </p:par>
                              <p:par>
                                <p:cTn id="132" presetID="10" presetClass="entr" presetSubtype="0" fill="hold" nodeType="withEffect">
                                  <p:stCondLst>
                                    <p:cond delay="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500"/>
                                        <p:tgtEl>
                                          <p:spTgt spid="43"/>
                                        </p:tgtEl>
                                      </p:cBhvr>
                                    </p:animEffect>
                                  </p:childTnLst>
                                </p:cTn>
                              </p:par>
                              <p:par>
                                <p:cTn id="135" presetID="10" presetClass="entr" presetSubtype="0" fill="hold" nodeType="withEffect">
                                  <p:stCondLst>
                                    <p:cond delay="0"/>
                                  </p:stCondLst>
                                  <p:childTnLst>
                                    <p:set>
                                      <p:cBhvr>
                                        <p:cTn id="136" dur="1" fill="hold">
                                          <p:stCondLst>
                                            <p:cond delay="0"/>
                                          </p:stCondLst>
                                        </p:cTn>
                                        <p:tgtEl>
                                          <p:spTgt spid="44"/>
                                        </p:tgtEl>
                                        <p:attrNameLst>
                                          <p:attrName>style.visibility</p:attrName>
                                        </p:attrNameLst>
                                      </p:cBhvr>
                                      <p:to>
                                        <p:strVal val="visible"/>
                                      </p:to>
                                    </p:set>
                                    <p:animEffect transition="in" filter="fade">
                                      <p:cBhvr>
                                        <p:cTn id="137" dur="500"/>
                                        <p:tgtEl>
                                          <p:spTgt spid="44"/>
                                        </p:tgtEl>
                                      </p:cBhvr>
                                    </p:animEffect>
                                  </p:childTnLst>
                                </p:cTn>
                              </p:par>
                              <p:par>
                                <p:cTn id="138" presetID="10" presetClass="entr" presetSubtype="0" fill="hold" nodeType="withEffect">
                                  <p:stCondLst>
                                    <p:cond delay="0"/>
                                  </p:stCondLst>
                                  <p:childTnLst>
                                    <p:set>
                                      <p:cBhvr>
                                        <p:cTn id="139" dur="1" fill="hold">
                                          <p:stCondLst>
                                            <p:cond delay="0"/>
                                          </p:stCondLst>
                                        </p:cTn>
                                        <p:tgtEl>
                                          <p:spTgt spid="45"/>
                                        </p:tgtEl>
                                        <p:attrNameLst>
                                          <p:attrName>style.visibility</p:attrName>
                                        </p:attrNameLst>
                                      </p:cBhvr>
                                      <p:to>
                                        <p:strVal val="visible"/>
                                      </p:to>
                                    </p:set>
                                    <p:animEffect transition="in" filter="fade">
                                      <p:cBhvr>
                                        <p:cTn id="140" dur="500"/>
                                        <p:tgtEl>
                                          <p:spTgt spid="45"/>
                                        </p:tgtEl>
                                      </p:cBhvr>
                                    </p:animEffect>
                                  </p:childTnLst>
                                </p:cTn>
                              </p:par>
                              <p:par>
                                <p:cTn id="141" presetID="10" presetClass="entr" presetSubtype="0" fill="hold" nodeType="withEffect">
                                  <p:stCondLst>
                                    <p:cond delay="0"/>
                                  </p:stCondLst>
                                  <p:childTnLst>
                                    <p:set>
                                      <p:cBhvr>
                                        <p:cTn id="142" dur="1" fill="hold">
                                          <p:stCondLst>
                                            <p:cond delay="0"/>
                                          </p:stCondLst>
                                        </p:cTn>
                                        <p:tgtEl>
                                          <p:spTgt spid="46"/>
                                        </p:tgtEl>
                                        <p:attrNameLst>
                                          <p:attrName>style.visibility</p:attrName>
                                        </p:attrNameLst>
                                      </p:cBhvr>
                                      <p:to>
                                        <p:strVal val="visible"/>
                                      </p:to>
                                    </p:set>
                                    <p:animEffect transition="in" filter="fade">
                                      <p:cBhvr>
                                        <p:cTn id="143" dur="500"/>
                                        <p:tgtEl>
                                          <p:spTgt spid="46"/>
                                        </p:tgtEl>
                                      </p:cBhvr>
                                    </p:animEffect>
                                  </p:childTnLst>
                                </p:cTn>
                              </p:par>
                              <p:par>
                                <p:cTn id="144" presetID="10" presetClass="entr" presetSubtype="0" fill="hold" nodeType="withEffect">
                                  <p:stCondLst>
                                    <p:cond delay="0"/>
                                  </p:stCondLst>
                                  <p:childTnLst>
                                    <p:set>
                                      <p:cBhvr>
                                        <p:cTn id="145" dur="1" fill="hold">
                                          <p:stCondLst>
                                            <p:cond delay="0"/>
                                          </p:stCondLst>
                                        </p:cTn>
                                        <p:tgtEl>
                                          <p:spTgt spid="47"/>
                                        </p:tgtEl>
                                        <p:attrNameLst>
                                          <p:attrName>style.visibility</p:attrName>
                                        </p:attrNameLst>
                                      </p:cBhvr>
                                      <p:to>
                                        <p:strVal val="visible"/>
                                      </p:to>
                                    </p:set>
                                    <p:animEffect transition="in" filter="fade">
                                      <p:cBhvr>
                                        <p:cTn id="146" dur="500"/>
                                        <p:tgtEl>
                                          <p:spTgt spid="47"/>
                                        </p:tgtEl>
                                      </p:cBhvr>
                                    </p:animEffect>
                                  </p:childTnLst>
                                </p:cTn>
                              </p:par>
                              <p:par>
                                <p:cTn id="147" presetID="10" presetClass="entr" presetSubtype="0" fill="hold" nodeType="withEffect">
                                  <p:stCondLst>
                                    <p:cond delay="0"/>
                                  </p:stCondLst>
                                  <p:childTnLst>
                                    <p:set>
                                      <p:cBhvr>
                                        <p:cTn id="148" dur="1" fill="hold">
                                          <p:stCondLst>
                                            <p:cond delay="0"/>
                                          </p:stCondLst>
                                        </p:cTn>
                                        <p:tgtEl>
                                          <p:spTgt spid="48"/>
                                        </p:tgtEl>
                                        <p:attrNameLst>
                                          <p:attrName>style.visibility</p:attrName>
                                        </p:attrNameLst>
                                      </p:cBhvr>
                                      <p:to>
                                        <p:strVal val="visible"/>
                                      </p:to>
                                    </p:set>
                                    <p:animEffect transition="in" filter="fade">
                                      <p:cBhvr>
                                        <p:cTn id="14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Features, Progress &amp; Future Scope</a:t>
            </a:r>
            <a:endParaRPr lang="en-US" sz="2600" dirty="0"/>
          </a:p>
        </p:txBody>
      </p:sp>
      <p:sp>
        <p:nvSpPr>
          <p:cNvPr id="3" name="Main Features card"/>
          <p:cNvSpPr/>
          <p:nvPr/>
        </p:nvSpPr>
        <p:spPr>
          <a:xfrm>
            <a:off x="457200" y="1280160"/>
            <a:ext cx="2651760" cy="3246120"/>
          </a:xfrm>
          <a:prstGeom prst="roundRect">
            <a:avLst>
              <a:gd name="adj" fmla="val 2759"/>
            </a:avLst>
          </a:prstGeom>
          <a:solidFill>
            <a:schemeClr val="bg2"/>
          </a:solidFill>
          <a:ln w="12700">
            <a:solidFill>
              <a:schemeClr val="bg2"/>
            </a:solidFill>
            <a:prstDash val="solid"/>
          </a:ln>
        </p:spPr>
      </p:sp>
      <p:sp>
        <p:nvSpPr>
          <p:cNvPr id="4" name="Icon circle"/>
          <p:cNvSpPr/>
          <p:nvPr/>
        </p:nvSpPr>
        <p:spPr>
          <a:xfrm>
            <a:off x="594360" y="1417320"/>
            <a:ext cx="411480" cy="411480"/>
          </a:xfrm>
          <a:prstGeom prst="ellipse">
            <a:avLst/>
          </a:prstGeom>
          <a:solidFill>
            <a:schemeClr val="accent1"/>
          </a:solidFill>
          <a:ln w="12700">
            <a:solidFill>
              <a:schemeClr val="accent1"/>
            </a:solidFill>
            <a:prstDash val="solid"/>
          </a:ln>
        </p:spPr>
      </p:sp>
      <p:pic>
        <p:nvPicPr>
          <p:cNvPr id="5" name="Image 0" descr="Main Features">    </p:cNvPr>
          <p:cNvPicPr>
            <a:picLocks noChangeAspect="1"/>
          </p:cNvPicPr>
          <p:nvPr/>
        </p:nvPicPr>
        <p:blipFill>
          <a:blip r:embed="rId1"/>
          <a:stretch>
            <a:fillRect/>
          </a:stretch>
        </p:blipFill>
        <p:spPr>
          <a:xfrm>
            <a:off x="694944" y="1517904"/>
            <a:ext cx="210312" cy="210312"/>
          </a:xfrm>
          <a:prstGeom prst="rect">
            <a:avLst/>
          </a:prstGeom>
        </p:spPr>
      </p:pic>
      <p:sp>
        <p:nvSpPr>
          <p:cNvPr id="6" name="Text 3"/>
          <p:cNvSpPr txBox="1"/>
          <p:nvPr/>
        </p:nvSpPr>
        <p:spPr>
          <a:xfrm>
            <a:off x="1097280" y="1417320"/>
            <a:ext cx="1920240" cy="411480"/>
          </a:xfrm>
          <a:prstGeom prst="rect">
            <a:avLst/>
          </a:prstGeom>
          <a:noFill/>
          <a:ln/>
        </p:spPr>
        <p:txBody>
          <a:bodyPr wrap="square" lIns="0" tIns="0" rIns="0" bIns="0" rtlCol="0" anchor="ctr"/>
          <a:lstStyle/>
          <a:p>
            <a:pPr indent="0" marL="0">
              <a:buNone/>
            </a:pPr>
            <a:r>
              <a:rPr lang="en-US" sz="1400" b="1" dirty="0">
                <a:solidFill>
                  <a:schemeClr val="tx2"/>
                </a:solidFill>
                <a:latin typeface="Georgia" pitchFamily="34" charset="0"/>
                <a:ea typeface="Georgia" pitchFamily="34" charset="-122"/>
                <a:cs typeface="Georgia" pitchFamily="34" charset="-120"/>
              </a:rPr>
              <a:t>Main Features</a:t>
            </a:r>
            <a:endParaRPr lang="en-US" sz="1400" dirty="0"/>
          </a:p>
        </p:txBody>
      </p:sp>
      <p:sp>
        <p:nvSpPr>
          <p:cNvPr id="7" name="Text 4"/>
          <p:cNvSpPr txBox="1"/>
          <p:nvPr/>
        </p:nvSpPr>
        <p:spPr>
          <a:xfrm>
            <a:off x="640080" y="2011680"/>
            <a:ext cx="2331720" cy="24231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chemeClr val="tx1"/>
                </a:solidFill>
              </a:rPr>
              <a:t>Authentication and role-based access</a:t>
            </a:r>
            <a:endParaRPr lang="en-US" sz="1150" dirty="0"/>
          </a:p>
          <a:p>
            <a:pPr marL="177800" indent="-177800">
              <a:spcAft>
                <a:spcPts val="700"/>
              </a:spcAft>
              <a:buSzPct val="100000"/>
              <a:buChar char="•"/>
            </a:pPr>
            <a:r>
              <a:rPr lang="en-US" sz="1150" dirty="0">
                <a:solidFill>
                  <a:schemeClr val="tx1"/>
                </a:solidFill>
              </a:rPr>
              <a:t>Complaint and category management</a:t>
            </a:r>
            <a:endParaRPr lang="en-US" sz="1150" dirty="0"/>
          </a:p>
          <a:p>
            <a:pPr marL="177800" indent="-177800">
              <a:spcAft>
                <a:spcPts val="700"/>
              </a:spcAft>
              <a:buSzPct val="100000"/>
              <a:buChar char="•"/>
            </a:pPr>
            <a:r>
              <a:rPr lang="en-US" sz="1150" dirty="0">
                <a:solidFill>
                  <a:schemeClr val="tx1"/>
                </a:solidFill>
              </a:rPr>
              <a:t>Staff management</a:t>
            </a:r>
            <a:endParaRPr lang="en-US" sz="1150" dirty="0"/>
          </a:p>
          <a:p>
            <a:pPr marL="177800" indent="-177800">
              <a:spcAft>
                <a:spcPts val="700"/>
              </a:spcAft>
              <a:buSzPct val="100000"/>
              <a:buChar char="•"/>
            </a:pPr>
            <a:r>
              <a:rPr lang="en-US" sz="1150" dirty="0">
                <a:solidFill>
                  <a:schemeClr val="tx1"/>
                </a:solidFill>
              </a:rPr>
              <a:t>Messaging and notifications</a:t>
            </a:r>
            <a:endParaRPr lang="en-US" sz="1150" dirty="0"/>
          </a:p>
          <a:p>
            <a:pPr marL="177800" indent="-177800">
              <a:spcAft>
                <a:spcPts val="700"/>
              </a:spcAft>
              <a:buSzPct val="100000"/>
              <a:buChar char="•"/>
            </a:pPr>
            <a:r>
              <a:rPr lang="en-US" sz="1150" dirty="0">
                <a:solidFill>
                  <a:schemeClr val="tx1"/>
                </a:solidFill>
              </a:rPr>
              <a:t>Complaint history and attachments</a:t>
            </a:r>
            <a:endParaRPr lang="en-US" sz="1150" dirty="0"/>
          </a:p>
          <a:p>
            <a:pPr marL="177800" indent="-177800">
              <a:spcAft>
                <a:spcPts val="700"/>
              </a:spcAft>
              <a:buSzPct val="100000"/>
              <a:buChar char="•"/>
            </a:pPr>
            <a:r>
              <a:rPr lang="en-US" sz="1150" dirty="0">
                <a:solidFill>
                  <a:schemeClr val="tx1"/>
                </a:solidFill>
              </a:rPr>
              <a:t>Responsive design</a:t>
            </a:r>
            <a:endParaRPr lang="en-US" sz="1150" dirty="0"/>
          </a:p>
        </p:txBody>
      </p:sp>
      <p:sp>
        <p:nvSpPr>
          <p:cNvPr id="8" name="Current Progress card"/>
          <p:cNvSpPr/>
          <p:nvPr/>
        </p:nvSpPr>
        <p:spPr>
          <a:xfrm>
            <a:off x="3246120" y="1280160"/>
            <a:ext cx="2651760" cy="3246120"/>
          </a:xfrm>
          <a:prstGeom prst="roundRect">
            <a:avLst>
              <a:gd name="adj" fmla="val 2759"/>
            </a:avLst>
          </a:prstGeom>
          <a:solidFill>
            <a:schemeClr val="bg2"/>
          </a:solidFill>
          <a:ln w="12700">
            <a:solidFill>
              <a:schemeClr val="bg2"/>
            </a:solidFill>
            <a:prstDash val="solid"/>
          </a:ln>
        </p:spPr>
      </p:sp>
      <p:sp>
        <p:nvSpPr>
          <p:cNvPr id="9" name="Icon circle"/>
          <p:cNvSpPr/>
          <p:nvPr/>
        </p:nvSpPr>
        <p:spPr>
          <a:xfrm>
            <a:off x="3383280" y="1417320"/>
            <a:ext cx="411480" cy="411480"/>
          </a:xfrm>
          <a:prstGeom prst="ellipse">
            <a:avLst/>
          </a:prstGeom>
          <a:solidFill>
            <a:schemeClr val="accent4"/>
          </a:solidFill>
          <a:ln w="12700">
            <a:solidFill>
              <a:schemeClr val="accent4"/>
            </a:solidFill>
            <a:prstDash val="solid"/>
          </a:ln>
        </p:spPr>
      </p:sp>
      <p:pic>
        <p:nvPicPr>
          <p:cNvPr id="10" name="Image 1" descr="Current Progress">    </p:cNvPr>
          <p:cNvPicPr>
            <a:picLocks noChangeAspect="1"/>
          </p:cNvPicPr>
          <p:nvPr/>
        </p:nvPicPr>
        <p:blipFill>
          <a:blip r:embed="rId2"/>
          <a:stretch>
            <a:fillRect/>
          </a:stretch>
        </p:blipFill>
        <p:spPr>
          <a:xfrm>
            <a:off x="3483864" y="1517904"/>
            <a:ext cx="210312" cy="210312"/>
          </a:xfrm>
          <a:prstGeom prst="rect">
            <a:avLst/>
          </a:prstGeom>
        </p:spPr>
      </p:pic>
      <p:sp>
        <p:nvSpPr>
          <p:cNvPr id="11" name="Text 7"/>
          <p:cNvSpPr txBox="1"/>
          <p:nvPr/>
        </p:nvSpPr>
        <p:spPr>
          <a:xfrm>
            <a:off x="3886200" y="1417320"/>
            <a:ext cx="1920240" cy="411480"/>
          </a:xfrm>
          <a:prstGeom prst="rect">
            <a:avLst/>
          </a:prstGeom>
          <a:noFill/>
          <a:ln/>
        </p:spPr>
        <p:txBody>
          <a:bodyPr wrap="square" lIns="0" tIns="0" rIns="0" bIns="0" rtlCol="0" anchor="ctr"/>
          <a:lstStyle/>
          <a:p>
            <a:pPr indent="0" marL="0">
              <a:buNone/>
            </a:pPr>
            <a:r>
              <a:rPr lang="en-US" sz="1400" b="1" dirty="0">
                <a:solidFill>
                  <a:schemeClr val="tx2"/>
                </a:solidFill>
                <a:latin typeface="Georgia" pitchFamily="34" charset="0"/>
                <a:ea typeface="Georgia" pitchFamily="34" charset="-122"/>
                <a:cs typeface="Georgia" pitchFamily="34" charset="-120"/>
              </a:rPr>
              <a:t>Current Progress</a:t>
            </a:r>
            <a:endParaRPr lang="en-US" sz="1400" dirty="0"/>
          </a:p>
        </p:txBody>
      </p:sp>
      <p:sp>
        <p:nvSpPr>
          <p:cNvPr id="12" name="Text 8"/>
          <p:cNvSpPr txBox="1"/>
          <p:nvPr/>
        </p:nvSpPr>
        <p:spPr>
          <a:xfrm>
            <a:off x="3429000" y="2011680"/>
            <a:ext cx="2331720" cy="24231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chemeClr val="tx1"/>
                </a:solidFill>
              </a:rPr>
              <a:t>Core complaint management workflow implemented</a:t>
            </a:r>
            <a:endParaRPr lang="en-US" sz="1150" dirty="0"/>
          </a:p>
          <a:p>
            <a:pPr marL="177800" indent="-177800">
              <a:spcAft>
                <a:spcPts val="700"/>
              </a:spcAft>
              <a:buSzPct val="100000"/>
              <a:buChar char="•"/>
            </a:pPr>
            <a:r>
              <a:rPr lang="en-US" sz="1150" dirty="0">
                <a:solidFill>
                  <a:schemeClr val="tx1"/>
                </a:solidFill>
              </a:rPr>
              <a:t>User, Staff and Admin modules implemented</a:t>
            </a:r>
            <a:endParaRPr lang="en-US" sz="1150" dirty="0"/>
          </a:p>
          <a:p>
            <a:pPr marL="177800" indent="-177800">
              <a:spcAft>
                <a:spcPts val="700"/>
              </a:spcAft>
              <a:buSzPct val="100000"/>
              <a:buChar char="•"/>
            </a:pPr>
            <a:r>
              <a:rPr lang="en-US" sz="1150" dirty="0">
                <a:solidFill>
                  <a:schemeClr val="tx1"/>
                </a:solidFill>
              </a:rPr>
              <a:t>Database and CRUD operations implemented</a:t>
            </a:r>
            <a:endParaRPr lang="en-US" sz="1150" dirty="0"/>
          </a:p>
          <a:p>
            <a:pPr marL="177800" indent="-177800">
              <a:spcAft>
                <a:spcPts val="700"/>
              </a:spcAft>
              <a:buSzPct val="100000"/>
              <a:buChar char="•"/>
            </a:pPr>
            <a:r>
              <a:rPr lang="en-US" sz="1150" dirty="0">
                <a:solidFill>
                  <a:schemeClr val="tx1"/>
                </a:solidFill>
              </a:rPr>
              <a:t>Testing and UI refinement completed / in progress</a:t>
            </a:r>
            <a:endParaRPr lang="en-US" sz="1150" dirty="0"/>
          </a:p>
        </p:txBody>
      </p:sp>
      <p:sp>
        <p:nvSpPr>
          <p:cNvPr id="13" name="Future Scope card"/>
          <p:cNvSpPr/>
          <p:nvPr/>
        </p:nvSpPr>
        <p:spPr>
          <a:xfrm>
            <a:off x="6035040" y="1280160"/>
            <a:ext cx="2651760" cy="3246120"/>
          </a:xfrm>
          <a:prstGeom prst="roundRect">
            <a:avLst>
              <a:gd name="adj" fmla="val 2759"/>
            </a:avLst>
          </a:prstGeom>
          <a:solidFill>
            <a:schemeClr val="bg2"/>
          </a:solidFill>
          <a:ln w="12700">
            <a:solidFill>
              <a:schemeClr val="bg2"/>
            </a:solidFill>
            <a:prstDash val="solid"/>
          </a:ln>
        </p:spPr>
      </p:sp>
      <p:sp>
        <p:nvSpPr>
          <p:cNvPr id="14" name="Icon circle"/>
          <p:cNvSpPr/>
          <p:nvPr/>
        </p:nvSpPr>
        <p:spPr>
          <a:xfrm>
            <a:off x="6172200" y="1417320"/>
            <a:ext cx="411480" cy="411480"/>
          </a:xfrm>
          <a:prstGeom prst="ellipse">
            <a:avLst/>
          </a:prstGeom>
          <a:solidFill>
            <a:schemeClr val="accent6"/>
          </a:solidFill>
          <a:ln w="12700">
            <a:solidFill>
              <a:schemeClr val="accent6"/>
            </a:solidFill>
            <a:prstDash val="solid"/>
          </a:ln>
        </p:spPr>
      </p:sp>
      <p:pic>
        <p:nvPicPr>
          <p:cNvPr id="15" name="Image 2" descr="Future Scope">    </p:cNvPr>
          <p:cNvPicPr>
            <a:picLocks noChangeAspect="1"/>
          </p:cNvPicPr>
          <p:nvPr/>
        </p:nvPicPr>
        <p:blipFill>
          <a:blip r:embed="rId3"/>
          <a:stretch>
            <a:fillRect/>
          </a:stretch>
        </p:blipFill>
        <p:spPr>
          <a:xfrm>
            <a:off x="6272784" y="1517904"/>
            <a:ext cx="210312" cy="210312"/>
          </a:xfrm>
          <a:prstGeom prst="rect">
            <a:avLst/>
          </a:prstGeom>
        </p:spPr>
      </p:pic>
      <p:sp>
        <p:nvSpPr>
          <p:cNvPr id="16" name="Text 11"/>
          <p:cNvSpPr txBox="1"/>
          <p:nvPr/>
        </p:nvSpPr>
        <p:spPr>
          <a:xfrm>
            <a:off x="6675120" y="1417320"/>
            <a:ext cx="1920240" cy="411480"/>
          </a:xfrm>
          <a:prstGeom prst="rect">
            <a:avLst/>
          </a:prstGeom>
          <a:noFill/>
          <a:ln/>
        </p:spPr>
        <p:txBody>
          <a:bodyPr wrap="square" lIns="0" tIns="0" rIns="0" bIns="0" rtlCol="0" anchor="ctr"/>
          <a:lstStyle/>
          <a:p>
            <a:pPr indent="0" marL="0">
              <a:buNone/>
            </a:pPr>
            <a:r>
              <a:rPr lang="en-US" sz="1400" b="1" dirty="0">
                <a:solidFill>
                  <a:schemeClr val="tx2"/>
                </a:solidFill>
                <a:latin typeface="Georgia" pitchFamily="34" charset="0"/>
                <a:ea typeface="Georgia" pitchFamily="34" charset="-122"/>
                <a:cs typeface="Georgia" pitchFamily="34" charset="-120"/>
              </a:rPr>
              <a:t>Future Scope</a:t>
            </a:r>
            <a:endParaRPr lang="en-US" sz="1400" dirty="0"/>
          </a:p>
        </p:txBody>
      </p:sp>
      <p:sp>
        <p:nvSpPr>
          <p:cNvPr id="17" name="Text 12"/>
          <p:cNvSpPr txBox="1"/>
          <p:nvPr/>
        </p:nvSpPr>
        <p:spPr>
          <a:xfrm>
            <a:off x="6217920" y="2011680"/>
            <a:ext cx="2331720" cy="24231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chemeClr val="tx1"/>
                </a:solidFill>
              </a:rPr>
              <a:t>Mobile application</a:t>
            </a:r>
            <a:endParaRPr lang="en-US" sz="1150" dirty="0"/>
          </a:p>
          <a:p>
            <a:pPr marL="177800" indent="-177800">
              <a:spcAft>
                <a:spcPts val="700"/>
              </a:spcAft>
              <a:buSzPct val="100000"/>
              <a:buChar char="•"/>
            </a:pPr>
            <a:r>
              <a:rPr lang="en-US" sz="1150" dirty="0">
                <a:solidFill>
                  <a:schemeClr val="tx1"/>
                </a:solidFill>
              </a:rPr>
              <a:t>Email / SMS / push notifications</a:t>
            </a:r>
            <a:endParaRPr lang="en-US" sz="1150" dirty="0"/>
          </a:p>
          <a:p>
            <a:pPr marL="177800" indent="-177800">
              <a:spcAft>
                <a:spcPts val="700"/>
              </a:spcAft>
              <a:buSzPct val="100000"/>
              <a:buChar char="•"/>
            </a:pPr>
            <a:r>
              <a:rPr lang="en-US" sz="1150" dirty="0">
                <a:solidFill>
                  <a:schemeClr val="tx1"/>
                </a:solidFill>
              </a:rPr>
              <a:t>Advanced reports and analytics</a:t>
            </a:r>
            <a:endParaRPr lang="en-US" sz="1150" dirty="0"/>
          </a:p>
          <a:p>
            <a:pPr marL="177800" indent="-177800">
              <a:spcAft>
                <a:spcPts val="700"/>
              </a:spcAft>
              <a:buSzPct val="100000"/>
              <a:buChar char="•"/>
            </a:pPr>
            <a:r>
              <a:rPr lang="en-US" sz="1150" dirty="0">
                <a:solidFill>
                  <a:schemeClr val="tx1"/>
                </a:solidFill>
              </a:rPr>
              <a:t>AI-based complaint classification</a:t>
            </a:r>
            <a:endParaRPr lang="en-US" sz="1150" dirty="0"/>
          </a:p>
          <a:p>
            <a:pPr marL="177800" indent="-177800">
              <a:spcAft>
                <a:spcPts val="700"/>
              </a:spcAft>
              <a:buSzPct val="100000"/>
              <a:buChar char="•"/>
            </a:pPr>
            <a:r>
              <a:rPr lang="en-US" sz="1150" dirty="0">
                <a:solidFill>
                  <a:schemeClr val="tx1"/>
                </a:solidFill>
              </a:rPr>
              <a:t>Improved cloud deployment and scalability</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cademic Navy">
  <a:themeElements>
    <a:clrScheme name="Academic Navy">
      <a:dk1>
        <a:srgbClr val="1B2A41"/>
      </a:dk1>
      <a:lt1>
        <a:srgbClr val="FFFFFF"/>
      </a:lt1>
      <a:dk2>
        <a:srgbClr val="1F3A5F"/>
      </a:dk2>
      <a:lt2>
        <a:srgbClr val="F1F5F9"/>
      </a:lt2>
      <a:accent1>
        <a:srgbClr val="1F7A8C"/>
      </a:accent1>
      <a:accent2>
        <a:srgbClr val="E0A100"/>
      </a:accent2>
      <a:accent3>
        <a:srgbClr val="5B7083"/>
      </a:accent3>
      <a:accent4>
        <a:srgbClr val="2E8B57"/>
      </a:accent4>
      <a:accent5>
        <a:srgbClr val="B5543F"/>
      </a:accent5>
      <a:accent6>
        <a:srgbClr val="6B5B95"/>
      </a:accent6>
      <a:hlink>
        <a:srgbClr val="1F7A8C"/>
      </a:hlink>
      <a:folHlink>
        <a:srgbClr val="5B7083"/>
      </a:folHlink>
    </a:clrScheme>
    <a:fontScheme name="Academic Nav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Complaint Management System - Mid-Term Project Defense</dc:title>
  <dc:subject>PptxGenJS Presentation</dc:subject>
  <dc:creator>Prajwal Lamichhane</dc:creator>
  <cp:lastModifiedBy>Prajwal Lamichhane</cp:lastModifiedBy>
  <cp:revision>1</cp:revision>
  <dcterms:created xsi:type="dcterms:W3CDTF">2026-10-04T15:09:32Z</dcterms:created>
  <dcterms:modified xsi:type="dcterms:W3CDTF">2026-10-04T15:09:32Z</dcterms:modified>
</cp:coreProperties>
</file>