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06bb7f5-7775-57fc-59ba-d851905e2d88}">
          <p14:sldIdLst>
            <p14:sldId id="256"/>
            <p14:sldId id="257"/>
            <p14:sldId id="258"/>
            <p14:sldId id="259"/>
          </p14:sldIdLst>
        </p14:section>
        <p14:section name="Design" id="{e9ea3b01-351e-2bd7-be31-249967f5960f}">
          <p14:sldIdLst>
            <p14:sldId id="260"/>
            <p14:sldId id="261"/>
            <p14:sldId id="262"/>
            <p14:sldId id="263"/>
            <p14:sldId id="264"/>
          </p14:sldIdLst>
        </p14:section>
        <p14:section name="Closing" id="{61beca58-f4ca-d525-92bc-14e7e9840f48}">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respected sir/madam. My name is Prajwal Lamichhane, a BCA student at Hetauda School of Management and Social Sciences. Today I am presenting my mid-term project, the Complaint Management System. It is a web-based system for centralized complaint handling: users submit and track complaints, staff process and respond to them, and the admin manages the overall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outline of my presentation: the problem, objectives, scope and features, the architecture and workflow, the context diagram, the modules, security, and finally the conclusion with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a central system, complaint handling runs into four problems: progress is hard to track, complaints can be lost or delayed, communication becomes scattered, and it is difficult to maintain proper records and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five objectives: centralize complaint submission and management, make tracking easier, improve communication between users and staff, maintain organized complaint records, and reduce manual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covers three roles, authentication with role-based access, complaint submission and tracking, categories, staff processing and status updates, history, messages and notifications, attachments and a responsive interface. Items such as a mobile app, email/SMS/push notifications, analytics, AI classification and better cloud deployment are planned as future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staff and admin use a web interface built with HTML, CSS and JavaScript. It talks to the PHP application, which uses PDO to connect to the MySQL database, running locally on XAMPP / Apache. The workflow: the user logs in and submits a complaint, it is stored in the database, staff or admin review it, process and respond, update the status, and the user tracks the complaint until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Level-0 context diagram. The three external entities are User, Staff and Admin. The user sends login, complaints and tracking requests and receives status, responses and notifications. Staff send processing, responses and status updates and receive complaint information. The admin manages users, staff, categories and complaints and receives system records. All records are stored in and retrieved from the MySQL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main functional modules: authentication, the User, Staff and Admin modules, category management, messaging and notifications, and complaint management with records, attachments and the status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to the system is controlled through authentication and role-based access, so User, Staff and Admin each see only their own functions. PHP communicates with the MySQL database through PDO, and all complaint records and history are stored in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the core complaint workflow, the User, Staff and Admin modules, and the database with CRUD operations are implemented, giving centralized complaint handling and tracking. Future work includes a mobile app, email/SMS/push notifications, advanced reports and analytics, AI-based classification, and improved cloud deployment and scalability.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 am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475488"/>
            <a:ext cx="8229600" cy="64008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txBox="1"/>
          <p:nvPr/>
        </p:nvSpPr>
        <p:spPr>
          <a:xfrm>
            <a:off x="457200" y="4773168"/>
            <a:ext cx="5943600" cy="237744"/>
          </a:xfrm>
          <a:prstGeom prst="rect">
            <a:avLst/>
          </a:prstGeom>
          <a:noFill/>
          <a:ln/>
        </p:spPr>
        <p:txBody>
          <a:bodyPr wrap="square" lIns="0" tIns="0" rIns="0" bIns="0" rtlCol="0" anchor="ctr"/>
          <a:lstStyle/>
          <a:p>
            <a:pPr indent="0" marL="0">
              <a:buNone/>
            </a:pPr>
            <a:r>
              <a:rPr lang="en-US" sz="1000" dirty="0">
                <a:solidFill>
                  <a:schemeClr val="accent4"/>
                </a:solidFill>
              </a:rPr>
              <a:t>Complaint Management System  |  BCA Mid-Term Project Defense</a:t>
            </a:r>
            <a:endParaRPr lang="en-US" sz="1000" dirty="0"/>
          </a:p>
        </p:txBody>
      </p:sp>
      <p:sp>
        <p:nvSpPr>
          <p:cNvPr id="25" name="Slide Number Placeholder 0"/>
          <p:cNvSpPr>
            <a:spLocks noGrp="1"/>
          </p:cNvSpPr>
          <p:nvPr>
            <p:ph type="sldNum" sz="quarter" idx="4294967295"/>
          </p:nvPr>
        </p:nvSpPr>
        <p:spPr>
          <a:xfrm>
            <a:off x="7955280" y="477316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OC">
    <p:bg>
      <p:bgPr>
        <a:solidFill>
          <a:schemeClr val="bg2"/>
        </a:solidFill>
      </p:bgPr>
    </p:bg>
    <p:spTree>
      <p:nvGrpSpPr>
        <p:cNvPr id="1" name=""/>
        <p:cNvGrpSpPr/>
        <p:nvPr/>
      </p:nvGrpSpPr>
      <p:grpSpPr>
        <a:xfrm>
          <a:off x="0" y="0"/>
          <a:ext cx="0" cy="0"/>
          <a:chOff x="0" y="0"/>
          <a:chExt cx="0" cy="0"/>
        </a:xfrm>
      </p:grpSpPr>
      <p:sp>
        <p:nvSpPr>
          <p:cNvPr id="2" name="Shape 0"/>
          <p:cNvSpPr/>
          <p:nvPr/>
        </p:nvSpPr>
        <p:spPr>
          <a:xfrm>
            <a:off x="0" y="0"/>
            <a:ext cx="3108960" cy="5143500"/>
          </a:xfrm>
          <a:prstGeom prst="rect">
            <a:avLst/>
          </a:prstGeom>
          <a:solidFill>
            <a:schemeClr val="tx2"/>
          </a:solidFill>
          <a:ln/>
        </p:spPr>
      </p:sp>
      <p:sp>
        <p:nvSpPr>
          <p:cNvPr id="3" name="Text 1"/>
          <p:cNvSpPr/>
          <p:nvPr>
            <p:ph idx="101" type="title" hasCustomPrompt="1"/>
          </p:nvPr>
        </p:nvSpPr>
        <p:spPr>
          <a:xfrm>
            <a:off x="457200" y="1463040"/>
            <a:ext cx="237744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7955280" y="477316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LEFT">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chemeClr val="accent1"/>
          </a:solidFill>
          <a:ln/>
        </p:spPr>
      </p:sp>
      <p:sp>
        <p:nvSpPr>
          <p:cNvPr id="3" name="Text 1"/>
          <p:cNvSpPr/>
          <p:nvPr>
            <p:ph idx="101" type="title" hasCustomPrompt="1"/>
          </p:nvPr>
        </p:nvSpPr>
        <p:spPr>
          <a:xfrm>
            <a:off x="640080" y="914400"/>
            <a:ext cx="50292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_END">
    <p:bg>
      <p:bgPr>
        <a:solidFill>
          <a:schemeClr val="tx2"/>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chemeClr val="accent1"/>
          </a:solidFill>
          <a:ln/>
        </p:spPr>
      </p:sp>
      <p:sp>
        <p:nvSpPr>
          <p:cNvPr id="3" name="Text 1"/>
          <p:cNvSpPr/>
          <p:nvPr>
            <p:ph idx="101" type="title" hasCustomPrompt="1"/>
          </p:nvPr>
        </p:nvSpPr>
        <p:spPr>
          <a:xfrm>
            <a:off x="640080" y="1097280"/>
            <a:ext cx="521208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955280" y="477316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2.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640080" y="914400"/>
            <a:ext cx="5029200" cy="1737360"/>
          </a:xfrm>
          <a:prstGeom prst="rect">
            <a:avLst/>
          </a:prstGeom>
          <a:noFill/>
          <a:ln/>
        </p:spPr>
        <p:txBody>
          <a:bodyPr wrap="square" lIns="0" tIns="0" rIns="0" bIns="0" rtlCol="0" anchor="b"/>
          <a:lstStyle/>
          <a:p>
            <a:pPr algn="l" indent="0" marL="0">
              <a:buNone/>
            </a:pPr>
            <a:r>
              <a:rPr lang="en-US" sz="4400" b="1" dirty="0">
                <a:solidFill>
                  <a:schemeClr val="bg1"/>
                </a:solidFill>
              </a:rPr>
              <a:t>Complaint Management System</a:t>
            </a:r>
            <a:endParaRPr lang="en-US" sz="4400" dirty="0"/>
          </a:p>
        </p:txBody>
      </p:sp>
      <p:sp>
        <p:nvSpPr>
          <p:cNvPr id="3" name="Subtitle"/>
          <p:cNvSpPr txBox="1"/>
          <p:nvPr/>
        </p:nvSpPr>
        <p:spPr>
          <a:xfrm>
            <a:off x="640080" y="2788920"/>
            <a:ext cx="5029200" cy="365760"/>
          </a:xfrm>
          <a:prstGeom prst="rect">
            <a:avLst/>
          </a:prstGeom>
          <a:noFill/>
          <a:ln/>
        </p:spPr>
        <p:txBody>
          <a:bodyPr wrap="square" lIns="0" tIns="0" rIns="0" bIns="0" rtlCol="0" anchor="ctr"/>
          <a:lstStyle/>
          <a:p>
            <a:pPr indent="0" marL="0">
              <a:buNone/>
            </a:pPr>
            <a:r>
              <a:rPr lang="en-US" sz="2000" b="1" dirty="0">
                <a:solidFill>
                  <a:schemeClr val="accent2"/>
                </a:solidFill>
              </a:rPr>
              <a:t>Mid-Term Project Defense</a:t>
            </a:r>
            <a:endParaRPr lang="en-US" sz="2000" dirty="0"/>
          </a:p>
        </p:txBody>
      </p:sp>
      <p:sp>
        <p:nvSpPr>
          <p:cNvPr id="4" name="Program"/>
          <p:cNvSpPr txBox="1"/>
          <p:nvPr/>
        </p:nvSpPr>
        <p:spPr>
          <a:xfrm>
            <a:off x="640080" y="3154680"/>
            <a:ext cx="5029200" cy="320040"/>
          </a:xfrm>
          <a:prstGeom prst="rect">
            <a:avLst/>
          </a:prstGeom>
          <a:noFill/>
          <a:ln/>
        </p:spPr>
        <p:txBody>
          <a:bodyPr wrap="square" lIns="0" tIns="0" rIns="0" bIns="0" rtlCol="0" anchor="ctr"/>
          <a:lstStyle/>
          <a:p>
            <a:pPr indent="0" marL="0">
              <a:buNone/>
            </a:pPr>
            <a:r>
              <a:rPr lang="en-US" sz="1400" dirty="0">
                <a:solidFill>
                  <a:schemeClr val="bg1"/>
                </a:solidFill>
              </a:rPr>
              <a:t>Bachelor of Computer Application (BCA)</a:t>
            </a:r>
            <a:endParaRPr lang="en-US" sz="1400" dirty="0"/>
          </a:p>
        </p:txBody>
      </p:sp>
      <p:sp>
        <p:nvSpPr>
          <p:cNvPr id="5" name="Student"/>
          <p:cNvSpPr txBox="1"/>
          <p:nvPr/>
        </p:nvSpPr>
        <p:spPr>
          <a:xfrm>
            <a:off x="640080" y="3840480"/>
            <a:ext cx="5029200" cy="320040"/>
          </a:xfrm>
          <a:prstGeom prst="rect">
            <a:avLst/>
          </a:prstGeom>
          <a:noFill/>
          <a:ln/>
        </p:spPr>
        <p:txBody>
          <a:bodyPr wrap="square" lIns="0" tIns="0" rIns="0" bIns="0" rtlCol="0" anchor="ctr"/>
          <a:lstStyle/>
          <a:p>
            <a:pPr indent="0" marL="0">
              <a:buNone/>
            </a:pPr>
            <a:r>
              <a:rPr lang="en-US" sz="1800" b="1" dirty="0">
                <a:solidFill>
                  <a:schemeClr val="bg1"/>
                </a:solidFill>
              </a:rPr>
              <a:t>Prajwal Lamichhane</a:t>
            </a:r>
            <a:endParaRPr lang="en-US" sz="1800" dirty="0"/>
          </a:p>
        </p:txBody>
      </p:sp>
      <p:sp>
        <p:nvSpPr>
          <p:cNvPr id="6" name="Institution"/>
          <p:cNvSpPr txBox="1"/>
          <p:nvPr/>
        </p:nvSpPr>
        <p:spPr>
          <a:xfrm>
            <a:off x="640080" y="4160520"/>
            <a:ext cx="5303520" cy="274320"/>
          </a:xfrm>
          <a:prstGeom prst="rect">
            <a:avLst/>
          </a:prstGeom>
          <a:noFill/>
          <a:ln/>
        </p:spPr>
        <p:txBody>
          <a:bodyPr wrap="square" lIns="0" tIns="0" rIns="0" bIns="0" rtlCol="0" anchor="ctr"/>
          <a:lstStyle/>
          <a:p>
            <a:pPr indent="0" marL="0">
              <a:buNone/>
            </a:pPr>
            <a:r>
              <a:rPr lang="en-US" sz="1400" dirty="0">
                <a:solidFill>
                  <a:schemeClr val="accent5"/>
                </a:solidFill>
              </a:rPr>
              <a:t>Hetauda School of Management and Social Sciences</a:t>
            </a:r>
            <a:endParaRPr lang="en-US" sz="1400" dirty="0"/>
          </a:p>
        </p:txBody>
      </p:sp>
      <p:sp>
        <p:nvSpPr>
          <p:cNvPr id="7" name="Role card User"/>
          <p:cNvSpPr/>
          <p:nvPr/>
        </p:nvSpPr>
        <p:spPr>
          <a:xfrm>
            <a:off x="6355080" y="868680"/>
            <a:ext cx="2468880" cy="868680"/>
          </a:xfrm>
          <a:prstGeom prst="roundRect">
            <a:avLst>
              <a:gd name="adj" fmla="val 10526"/>
            </a:avLst>
          </a:prstGeom>
          <a:solidFill>
            <a:schemeClr val="bg1"/>
          </a:solidFill>
          <a:ln/>
          <a:effectLst>
            <a:outerShdw sx="100000" sy="100000" kx="0" ky="0" algn="bl" rotWithShape="0" blurRad="101600" dist="25400" dir="5400000">
              <a:srgbClr val="1E1B3A">
                <a:alpha val="12000"/>
              </a:srgbClr>
            </a:outerShdw>
          </a:effectLst>
        </p:spPr>
      </p:sp>
      <p:sp>
        <p:nvSpPr>
          <p:cNvPr id="8" name="Role text User"/>
          <p:cNvSpPr txBox="1"/>
          <p:nvPr/>
        </p:nvSpPr>
        <p:spPr>
          <a:xfrm>
            <a:off x="6537960" y="868680"/>
            <a:ext cx="2194560" cy="868680"/>
          </a:xfrm>
          <a:prstGeom prst="rect">
            <a:avLst/>
          </a:prstGeom>
          <a:noFill/>
          <a:ln/>
        </p:spPr>
        <p:txBody>
          <a:bodyPr wrap="square" lIns="0" tIns="0" rIns="0" bIns="0" rtlCol="0" anchor="ctr"/>
          <a:lstStyle/>
          <a:p>
            <a:pPr indent="0" marL="0">
              <a:buNone/>
            </a:pPr>
            <a:r>
              <a:rPr lang="en-US" sz="1800" b="1" dirty="0">
                <a:solidFill>
                  <a:schemeClr val="tx2"/>
                </a:solidFill>
              </a:rPr>
              <a:t>User</a:t>
            </a:r>
            <a:endParaRPr lang="en-US" sz="1800" dirty="0"/>
          </a:p>
          <a:p>
            <a:pPr indent="0" marL="0">
              <a:buNone/>
            </a:pPr>
            <a:r>
              <a:rPr lang="en-US" sz="1200" dirty="0">
                <a:solidFill>
                  <a:schemeClr val="accent4"/>
                </a:solidFill>
              </a:rPr>
              <a:t>Submit and track complaints</a:t>
            </a:r>
            <a:endParaRPr lang="en-US" sz="1800" dirty="0"/>
          </a:p>
        </p:txBody>
      </p:sp>
      <p:sp>
        <p:nvSpPr>
          <p:cNvPr id="9" name="Role card Staff"/>
          <p:cNvSpPr/>
          <p:nvPr/>
        </p:nvSpPr>
        <p:spPr>
          <a:xfrm>
            <a:off x="6355080" y="1965960"/>
            <a:ext cx="2468880" cy="868680"/>
          </a:xfrm>
          <a:prstGeom prst="roundRect">
            <a:avLst>
              <a:gd name="adj" fmla="val 10526"/>
            </a:avLst>
          </a:prstGeom>
          <a:solidFill>
            <a:schemeClr val="bg1"/>
          </a:solidFill>
          <a:ln/>
          <a:effectLst>
            <a:outerShdw sx="100000" sy="100000" kx="0" ky="0" algn="bl" rotWithShape="0" blurRad="101600" dist="25400" dir="5400000">
              <a:srgbClr val="1E1B3A">
                <a:alpha val="12000"/>
              </a:srgbClr>
            </a:outerShdw>
          </a:effectLst>
        </p:spPr>
      </p:sp>
      <p:sp>
        <p:nvSpPr>
          <p:cNvPr id="10" name="Role text Staff"/>
          <p:cNvSpPr txBox="1"/>
          <p:nvPr/>
        </p:nvSpPr>
        <p:spPr>
          <a:xfrm>
            <a:off x="6537960" y="1965960"/>
            <a:ext cx="2194560" cy="868680"/>
          </a:xfrm>
          <a:prstGeom prst="rect">
            <a:avLst/>
          </a:prstGeom>
          <a:noFill/>
          <a:ln/>
        </p:spPr>
        <p:txBody>
          <a:bodyPr wrap="square" lIns="0" tIns="0" rIns="0" bIns="0" rtlCol="0" anchor="ctr"/>
          <a:lstStyle/>
          <a:p>
            <a:pPr indent="0" marL="0">
              <a:buNone/>
            </a:pPr>
            <a:r>
              <a:rPr lang="en-US" sz="1800" b="1" dirty="0">
                <a:solidFill>
                  <a:schemeClr val="tx2"/>
                </a:solidFill>
              </a:rPr>
              <a:t>Staff</a:t>
            </a:r>
            <a:endParaRPr lang="en-US" sz="1800" dirty="0"/>
          </a:p>
          <a:p>
            <a:pPr indent="0" marL="0">
              <a:buNone/>
            </a:pPr>
            <a:r>
              <a:rPr lang="en-US" sz="1200" dirty="0">
                <a:solidFill>
                  <a:schemeClr val="accent4"/>
                </a:solidFill>
              </a:rPr>
              <a:t>Process and respond</a:t>
            </a:r>
            <a:endParaRPr lang="en-US" sz="1800" dirty="0"/>
          </a:p>
        </p:txBody>
      </p:sp>
      <p:sp>
        <p:nvSpPr>
          <p:cNvPr id="11" name="Role card Admin"/>
          <p:cNvSpPr/>
          <p:nvPr/>
        </p:nvSpPr>
        <p:spPr>
          <a:xfrm>
            <a:off x="6355080" y="3063240"/>
            <a:ext cx="2468880" cy="868680"/>
          </a:xfrm>
          <a:prstGeom prst="roundRect">
            <a:avLst>
              <a:gd name="adj" fmla="val 10526"/>
            </a:avLst>
          </a:prstGeom>
          <a:solidFill>
            <a:schemeClr val="bg1"/>
          </a:solidFill>
          <a:ln/>
          <a:effectLst>
            <a:outerShdw sx="100000" sy="100000" kx="0" ky="0" algn="bl" rotWithShape="0" blurRad="101600" dist="25400" dir="5400000">
              <a:srgbClr val="1E1B3A">
                <a:alpha val="12000"/>
              </a:srgbClr>
            </a:outerShdw>
          </a:effectLst>
        </p:spPr>
      </p:sp>
      <p:sp>
        <p:nvSpPr>
          <p:cNvPr id="12" name="Role text Admin"/>
          <p:cNvSpPr txBox="1"/>
          <p:nvPr/>
        </p:nvSpPr>
        <p:spPr>
          <a:xfrm>
            <a:off x="6537960" y="3063240"/>
            <a:ext cx="2194560" cy="868680"/>
          </a:xfrm>
          <a:prstGeom prst="rect">
            <a:avLst/>
          </a:prstGeom>
          <a:noFill/>
          <a:ln/>
        </p:spPr>
        <p:txBody>
          <a:bodyPr wrap="square" lIns="0" tIns="0" rIns="0" bIns="0" rtlCol="0" anchor="ctr"/>
          <a:lstStyle/>
          <a:p>
            <a:pPr indent="0" marL="0">
              <a:buNone/>
            </a:pPr>
            <a:r>
              <a:rPr lang="en-US" sz="1800" b="1" dirty="0">
                <a:solidFill>
                  <a:schemeClr val="tx2"/>
                </a:solidFill>
              </a:rPr>
              <a:t>Admin</a:t>
            </a:r>
            <a:endParaRPr lang="en-US" sz="1800" dirty="0"/>
          </a:p>
          <a:p>
            <a:pPr indent="0" marL="0">
              <a:buNone/>
            </a:pPr>
            <a:r>
              <a:rPr lang="en-US" sz="1200" dirty="0">
                <a:solidFill>
                  <a:schemeClr val="accent4"/>
                </a:solidFill>
              </a:rPr>
              <a:t>Manage the system</a:t>
            </a:r>
            <a:endParaRPr lang="en-US" sz="1800" dirty="0"/>
          </a:p>
        </p:txBody>
      </p:sp>
      <p:sp>
        <p:nvSpPr>
          <p:cNvPr id="13" name="Roles caption"/>
          <p:cNvSpPr txBox="1"/>
          <p:nvPr/>
        </p:nvSpPr>
        <p:spPr>
          <a:xfrm>
            <a:off x="6355080" y="4206240"/>
            <a:ext cx="2468880" cy="274320"/>
          </a:xfrm>
          <a:prstGeom prst="rect">
            <a:avLst/>
          </a:prstGeom>
          <a:noFill/>
          <a:ln/>
        </p:spPr>
        <p:txBody>
          <a:bodyPr wrap="square" lIns="0" tIns="0" rIns="0" bIns="0" rtlCol="0" anchor="ctr"/>
          <a:lstStyle/>
          <a:p>
            <a:pPr algn="ctr" indent="0" marL="0">
              <a:buNone/>
            </a:pPr>
            <a:r>
              <a:rPr lang="en-US" sz="1400" b="1" dirty="0">
                <a:solidFill>
                  <a:schemeClr val="bg1"/>
                </a:solidFill>
              </a:rPr>
              <a:t>One system. Three roles.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1463040"/>
            <a:ext cx="2377440" cy="1371600"/>
          </a:xfrm>
          <a:prstGeom prst="rect">
            <a:avLst/>
          </a:prstGeom>
          <a:noFill/>
          <a:ln/>
        </p:spPr>
        <p:txBody>
          <a:bodyPr wrap="square" lIns="0" tIns="0" rIns="0" bIns="0" rtlCol="0" anchor="t"/>
          <a:lstStyle/>
          <a:p>
            <a:pPr algn="l" indent="0" marL="0">
              <a:buNone/>
            </a:pPr>
            <a:r>
              <a:rPr lang="en-US" sz="3600" b="1" dirty="0">
                <a:solidFill>
                  <a:schemeClr val="bg1"/>
                </a:solidFill>
              </a:rPr>
              <a:t>Table of Contents</a:t>
            </a:r>
            <a:endParaRPr lang="en-US" sz="3600" dirty="0"/>
          </a:p>
        </p:txBody>
      </p:sp>
      <p:sp>
        <p:nvSpPr>
          <p:cNvPr id="3" name="Contents number 1"/>
          <p:cNvSpPr txBox="1"/>
          <p:nvPr/>
        </p:nvSpPr>
        <p:spPr>
          <a:xfrm>
            <a:off x="3657600" y="685800"/>
            <a:ext cx="548640" cy="457200"/>
          </a:xfrm>
          <a:prstGeom prst="rect">
            <a:avLst/>
          </a:prstGeom>
          <a:noFill/>
          <a:ln/>
        </p:spPr>
        <p:txBody>
          <a:bodyPr wrap="square" lIns="0" tIns="0" rIns="0" bIns="0" rtlCol="0" anchor="ctr"/>
          <a:lstStyle/>
          <a:p>
            <a:pPr indent="0" marL="0">
              <a:buNone/>
            </a:pPr>
            <a:r>
              <a:rPr lang="en-US" sz="1800" b="1" dirty="0">
                <a:solidFill>
                  <a:schemeClr val="accent1"/>
                </a:solidFill>
              </a:rPr>
              <a:t>01</a:t>
            </a:r>
            <a:endParaRPr lang="en-US" sz="1800" dirty="0"/>
          </a:p>
        </p:txBody>
      </p:sp>
      <p:sp>
        <p:nvSpPr>
          <p:cNvPr id="4" name="Contents title 1"/>
          <p:cNvSpPr txBox="1"/>
          <p:nvPr/>
        </p:nvSpPr>
        <p:spPr>
          <a:xfrm>
            <a:off x="4297680" y="685800"/>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Problem Statement</a:t>
            </a:r>
            <a:endParaRPr lang="en-US" sz="1600" dirty="0"/>
          </a:p>
        </p:txBody>
      </p:sp>
      <p:sp>
        <p:nvSpPr>
          <p:cNvPr id="5" name="Contents slide 1"/>
          <p:cNvSpPr txBox="1"/>
          <p:nvPr/>
        </p:nvSpPr>
        <p:spPr>
          <a:xfrm>
            <a:off x="7680960" y="685800"/>
            <a:ext cx="1005840" cy="457200"/>
          </a:xfrm>
          <a:prstGeom prst="rect">
            <a:avLst/>
          </a:prstGeom>
          <a:noFill/>
          <a:ln/>
        </p:spPr>
        <p:txBody>
          <a:bodyPr wrap="square" lIns="0" tIns="0" rIns="0" bIns="0" rtlCol="0" anchor="ctr"/>
          <a:lstStyle/>
          <a:p>
            <a:pPr algn="r" indent="0" marL="0">
              <a:buNone/>
            </a:pPr>
            <a:r>
              <a:rPr lang="en-US" sz="1200" dirty="0">
                <a:solidFill>
                  <a:schemeClr val="accent4"/>
                </a:solidFill>
              </a:rPr>
              <a:t>Slide 3</a:t>
            </a:r>
            <a:endParaRPr lang="en-US" sz="1200" dirty="0"/>
          </a:p>
        </p:txBody>
      </p:sp>
      <p:sp>
        <p:nvSpPr>
          <p:cNvPr id="6" name="Contents divider 1"/>
          <p:cNvSpPr/>
          <p:nvPr/>
        </p:nvSpPr>
        <p:spPr>
          <a:xfrm>
            <a:off x="3657600" y="1152144"/>
            <a:ext cx="5029200" cy="0"/>
          </a:xfrm>
          <a:prstGeom prst="line">
            <a:avLst/>
          </a:prstGeom>
          <a:noFill/>
          <a:ln w="9525">
            <a:solidFill>
              <a:schemeClr val="accent5"/>
            </a:solidFill>
            <a:prstDash val="solid"/>
          </a:ln>
        </p:spPr>
      </p:sp>
      <p:sp>
        <p:nvSpPr>
          <p:cNvPr id="7" name="Contents number 2"/>
          <p:cNvSpPr txBox="1"/>
          <p:nvPr/>
        </p:nvSpPr>
        <p:spPr>
          <a:xfrm>
            <a:off x="3657600" y="1161288"/>
            <a:ext cx="548640" cy="457200"/>
          </a:xfrm>
          <a:prstGeom prst="rect">
            <a:avLst/>
          </a:prstGeom>
          <a:noFill/>
          <a:ln/>
        </p:spPr>
        <p:txBody>
          <a:bodyPr wrap="square" lIns="0" tIns="0" rIns="0" bIns="0" rtlCol="0" anchor="ctr"/>
          <a:lstStyle/>
          <a:p>
            <a:pPr indent="0" marL="0">
              <a:buNone/>
            </a:pPr>
            <a:r>
              <a:rPr lang="en-US" sz="1800" b="1" dirty="0">
                <a:solidFill>
                  <a:schemeClr val="accent1"/>
                </a:solidFill>
              </a:rPr>
              <a:t>02</a:t>
            </a:r>
            <a:endParaRPr lang="en-US" sz="1800" dirty="0"/>
          </a:p>
        </p:txBody>
      </p:sp>
      <p:sp>
        <p:nvSpPr>
          <p:cNvPr id="8" name="Contents title 2"/>
          <p:cNvSpPr txBox="1"/>
          <p:nvPr/>
        </p:nvSpPr>
        <p:spPr>
          <a:xfrm>
            <a:off x="4297680" y="1161288"/>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Objectives</a:t>
            </a:r>
            <a:endParaRPr lang="en-US" sz="1600" dirty="0"/>
          </a:p>
        </p:txBody>
      </p:sp>
      <p:sp>
        <p:nvSpPr>
          <p:cNvPr id="9" name="Contents slide 2"/>
          <p:cNvSpPr txBox="1"/>
          <p:nvPr/>
        </p:nvSpPr>
        <p:spPr>
          <a:xfrm>
            <a:off x="7680960" y="1161288"/>
            <a:ext cx="1005840" cy="457200"/>
          </a:xfrm>
          <a:prstGeom prst="rect">
            <a:avLst/>
          </a:prstGeom>
          <a:noFill/>
          <a:ln/>
        </p:spPr>
        <p:txBody>
          <a:bodyPr wrap="square" lIns="0" tIns="0" rIns="0" bIns="0" rtlCol="0" anchor="ctr"/>
          <a:lstStyle/>
          <a:p>
            <a:pPr algn="r" indent="0" marL="0">
              <a:buNone/>
            </a:pPr>
            <a:r>
              <a:rPr lang="en-US" sz="1200" dirty="0">
                <a:solidFill>
                  <a:schemeClr val="accent4"/>
                </a:solidFill>
              </a:rPr>
              <a:t>Slide 4</a:t>
            </a:r>
            <a:endParaRPr lang="en-US" sz="1200" dirty="0"/>
          </a:p>
        </p:txBody>
      </p:sp>
      <p:sp>
        <p:nvSpPr>
          <p:cNvPr id="10" name="Contents divider 2"/>
          <p:cNvSpPr/>
          <p:nvPr/>
        </p:nvSpPr>
        <p:spPr>
          <a:xfrm>
            <a:off x="3657600" y="1627632"/>
            <a:ext cx="5029200" cy="0"/>
          </a:xfrm>
          <a:prstGeom prst="line">
            <a:avLst/>
          </a:prstGeom>
          <a:noFill/>
          <a:ln w="9525">
            <a:solidFill>
              <a:schemeClr val="accent5"/>
            </a:solidFill>
            <a:prstDash val="solid"/>
          </a:ln>
        </p:spPr>
      </p:sp>
      <p:sp>
        <p:nvSpPr>
          <p:cNvPr id="11" name="Contents number 3"/>
          <p:cNvSpPr txBox="1"/>
          <p:nvPr/>
        </p:nvSpPr>
        <p:spPr>
          <a:xfrm>
            <a:off x="3657600" y="1636776"/>
            <a:ext cx="548640" cy="457200"/>
          </a:xfrm>
          <a:prstGeom prst="rect">
            <a:avLst/>
          </a:prstGeom>
          <a:noFill/>
          <a:ln/>
        </p:spPr>
        <p:txBody>
          <a:bodyPr wrap="square" lIns="0" tIns="0" rIns="0" bIns="0" rtlCol="0" anchor="ctr"/>
          <a:lstStyle/>
          <a:p>
            <a:pPr indent="0" marL="0">
              <a:buNone/>
            </a:pPr>
            <a:r>
              <a:rPr lang="en-US" sz="1800" b="1" dirty="0">
                <a:solidFill>
                  <a:schemeClr val="accent1"/>
                </a:solidFill>
              </a:rPr>
              <a:t>03</a:t>
            </a:r>
            <a:endParaRPr lang="en-US" sz="1800" dirty="0"/>
          </a:p>
        </p:txBody>
      </p:sp>
      <p:sp>
        <p:nvSpPr>
          <p:cNvPr id="12" name="Contents title 3"/>
          <p:cNvSpPr txBox="1"/>
          <p:nvPr/>
        </p:nvSpPr>
        <p:spPr>
          <a:xfrm>
            <a:off x="4297680" y="1636776"/>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Scope &amp; System Features</a:t>
            </a:r>
            <a:endParaRPr lang="en-US" sz="1600" dirty="0"/>
          </a:p>
        </p:txBody>
      </p:sp>
      <p:sp>
        <p:nvSpPr>
          <p:cNvPr id="13" name="Contents slide 3"/>
          <p:cNvSpPr txBox="1"/>
          <p:nvPr/>
        </p:nvSpPr>
        <p:spPr>
          <a:xfrm>
            <a:off x="7680960" y="1636776"/>
            <a:ext cx="1005840" cy="457200"/>
          </a:xfrm>
          <a:prstGeom prst="rect">
            <a:avLst/>
          </a:prstGeom>
          <a:noFill/>
          <a:ln/>
        </p:spPr>
        <p:txBody>
          <a:bodyPr wrap="square" lIns="0" tIns="0" rIns="0" bIns="0" rtlCol="0" anchor="ctr"/>
          <a:lstStyle/>
          <a:p>
            <a:pPr algn="r" indent="0" marL="0">
              <a:buNone/>
            </a:pPr>
            <a:r>
              <a:rPr lang="en-US" sz="1200" dirty="0">
                <a:solidFill>
                  <a:schemeClr val="accent4"/>
                </a:solidFill>
              </a:rPr>
              <a:t>Slide 5</a:t>
            </a:r>
            <a:endParaRPr lang="en-US" sz="1200" dirty="0"/>
          </a:p>
        </p:txBody>
      </p:sp>
      <p:sp>
        <p:nvSpPr>
          <p:cNvPr id="14" name="Contents divider 3"/>
          <p:cNvSpPr/>
          <p:nvPr/>
        </p:nvSpPr>
        <p:spPr>
          <a:xfrm>
            <a:off x="3657600" y="2103120"/>
            <a:ext cx="5029200" cy="0"/>
          </a:xfrm>
          <a:prstGeom prst="line">
            <a:avLst/>
          </a:prstGeom>
          <a:noFill/>
          <a:ln w="9525">
            <a:solidFill>
              <a:schemeClr val="accent5"/>
            </a:solidFill>
            <a:prstDash val="solid"/>
          </a:ln>
        </p:spPr>
      </p:sp>
      <p:sp>
        <p:nvSpPr>
          <p:cNvPr id="15" name="Contents number 4"/>
          <p:cNvSpPr txBox="1"/>
          <p:nvPr/>
        </p:nvSpPr>
        <p:spPr>
          <a:xfrm>
            <a:off x="3657600" y="2112264"/>
            <a:ext cx="548640" cy="457200"/>
          </a:xfrm>
          <a:prstGeom prst="rect">
            <a:avLst/>
          </a:prstGeom>
          <a:noFill/>
          <a:ln/>
        </p:spPr>
        <p:txBody>
          <a:bodyPr wrap="square" lIns="0" tIns="0" rIns="0" bIns="0" rtlCol="0" anchor="ctr"/>
          <a:lstStyle/>
          <a:p>
            <a:pPr indent="0" marL="0">
              <a:buNone/>
            </a:pPr>
            <a:r>
              <a:rPr lang="en-US" sz="1800" b="1" dirty="0">
                <a:solidFill>
                  <a:schemeClr val="accent1"/>
                </a:solidFill>
              </a:rPr>
              <a:t>04</a:t>
            </a:r>
            <a:endParaRPr lang="en-US" sz="1800" dirty="0"/>
          </a:p>
        </p:txBody>
      </p:sp>
      <p:sp>
        <p:nvSpPr>
          <p:cNvPr id="16" name="Contents title 4"/>
          <p:cNvSpPr txBox="1"/>
          <p:nvPr/>
        </p:nvSpPr>
        <p:spPr>
          <a:xfrm>
            <a:off x="4297680" y="2112264"/>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System Architecture &amp; Workflow</a:t>
            </a:r>
            <a:endParaRPr lang="en-US" sz="1600" dirty="0"/>
          </a:p>
        </p:txBody>
      </p:sp>
      <p:sp>
        <p:nvSpPr>
          <p:cNvPr id="17" name="Contents slide 4"/>
          <p:cNvSpPr txBox="1"/>
          <p:nvPr/>
        </p:nvSpPr>
        <p:spPr>
          <a:xfrm>
            <a:off x="7680960" y="2112264"/>
            <a:ext cx="1005840" cy="457200"/>
          </a:xfrm>
          <a:prstGeom prst="rect">
            <a:avLst/>
          </a:prstGeom>
          <a:noFill/>
          <a:ln/>
        </p:spPr>
        <p:txBody>
          <a:bodyPr wrap="square" lIns="0" tIns="0" rIns="0" bIns="0" rtlCol="0" anchor="ctr"/>
          <a:lstStyle/>
          <a:p>
            <a:pPr algn="r" indent="0" marL="0">
              <a:buNone/>
            </a:pPr>
            <a:r>
              <a:rPr lang="en-US" sz="1200" dirty="0">
                <a:solidFill>
                  <a:schemeClr val="accent4"/>
                </a:solidFill>
              </a:rPr>
              <a:t>Slide 6</a:t>
            </a:r>
            <a:endParaRPr lang="en-US" sz="1200" dirty="0"/>
          </a:p>
        </p:txBody>
      </p:sp>
      <p:sp>
        <p:nvSpPr>
          <p:cNvPr id="18" name="Contents divider 4"/>
          <p:cNvSpPr/>
          <p:nvPr/>
        </p:nvSpPr>
        <p:spPr>
          <a:xfrm>
            <a:off x="3657600" y="2578608"/>
            <a:ext cx="5029200" cy="0"/>
          </a:xfrm>
          <a:prstGeom prst="line">
            <a:avLst/>
          </a:prstGeom>
          <a:noFill/>
          <a:ln w="9525">
            <a:solidFill>
              <a:schemeClr val="accent5"/>
            </a:solidFill>
            <a:prstDash val="solid"/>
          </a:ln>
        </p:spPr>
      </p:sp>
      <p:sp>
        <p:nvSpPr>
          <p:cNvPr id="19" name="Contents number 5"/>
          <p:cNvSpPr txBox="1"/>
          <p:nvPr/>
        </p:nvSpPr>
        <p:spPr>
          <a:xfrm>
            <a:off x="3657600" y="2587752"/>
            <a:ext cx="548640" cy="457200"/>
          </a:xfrm>
          <a:prstGeom prst="rect">
            <a:avLst/>
          </a:prstGeom>
          <a:noFill/>
          <a:ln/>
        </p:spPr>
        <p:txBody>
          <a:bodyPr wrap="square" lIns="0" tIns="0" rIns="0" bIns="0" rtlCol="0" anchor="ctr"/>
          <a:lstStyle/>
          <a:p>
            <a:pPr indent="0" marL="0">
              <a:buNone/>
            </a:pPr>
            <a:r>
              <a:rPr lang="en-US" sz="1800" b="1" dirty="0">
                <a:solidFill>
                  <a:schemeClr val="accent1"/>
                </a:solidFill>
              </a:rPr>
              <a:t>05</a:t>
            </a:r>
            <a:endParaRPr lang="en-US" sz="1800" dirty="0"/>
          </a:p>
        </p:txBody>
      </p:sp>
      <p:sp>
        <p:nvSpPr>
          <p:cNvPr id="20" name="Contents title 5"/>
          <p:cNvSpPr txBox="1"/>
          <p:nvPr/>
        </p:nvSpPr>
        <p:spPr>
          <a:xfrm>
            <a:off x="4297680" y="2587752"/>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Level-0 Context DFD</a:t>
            </a:r>
            <a:endParaRPr lang="en-US" sz="1600" dirty="0"/>
          </a:p>
        </p:txBody>
      </p:sp>
      <p:sp>
        <p:nvSpPr>
          <p:cNvPr id="21" name="Contents slide 5"/>
          <p:cNvSpPr txBox="1"/>
          <p:nvPr/>
        </p:nvSpPr>
        <p:spPr>
          <a:xfrm>
            <a:off x="7680960" y="2587752"/>
            <a:ext cx="1005840" cy="457200"/>
          </a:xfrm>
          <a:prstGeom prst="rect">
            <a:avLst/>
          </a:prstGeom>
          <a:noFill/>
          <a:ln/>
        </p:spPr>
        <p:txBody>
          <a:bodyPr wrap="square" lIns="0" tIns="0" rIns="0" bIns="0" rtlCol="0" anchor="ctr"/>
          <a:lstStyle/>
          <a:p>
            <a:pPr algn="r" indent="0" marL="0">
              <a:buNone/>
            </a:pPr>
            <a:r>
              <a:rPr lang="en-US" sz="1200" dirty="0">
                <a:solidFill>
                  <a:schemeClr val="accent4"/>
                </a:solidFill>
              </a:rPr>
              <a:t>Slide 7</a:t>
            </a:r>
            <a:endParaRPr lang="en-US" sz="1200" dirty="0"/>
          </a:p>
        </p:txBody>
      </p:sp>
      <p:sp>
        <p:nvSpPr>
          <p:cNvPr id="22" name="Contents divider 5"/>
          <p:cNvSpPr/>
          <p:nvPr/>
        </p:nvSpPr>
        <p:spPr>
          <a:xfrm>
            <a:off x="3657600" y="3054096"/>
            <a:ext cx="5029200" cy="0"/>
          </a:xfrm>
          <a:prstGeom prst="line">
            <a:avLst/>
          </a:prstGeom>
          <a:noFill/>
          <a:ln w="9525">
            <a:solidFill>
              <a:schemeClr val="accent5"/>
            </a:solidFill>
            <a:prstDash val="solid"/>
          </a:ln>
        </p:spPr>
      </p:sp>
      <p:sp>
        <p:nvSpPr>
          <p:cNvPr id="23" name="Contents number 6"/>
          <p:cNvSpPr txBox="1"/>
          <p:nvPr/>
        </p:nvSpPr>
        <p:spPr>
          <a:xfrm>
            <a:off x="3657600" y="3063240"/>
            <a:ext cx="548640" cy="457200"/>
          </a:xfrm>
          <a:prstGeom prst="rect">
            <a:avLst/>
          </a:prstGeom>
          <a:noFill/>
          <a:ln/>
        </p:spPr>
        <p:txBody>
          <a:bodyPr wrap="square" lIns="0" tIns="0" rIns="0" bIns="0" rtlCol="0" anchor="ctr"/>
          <a:lstStyle/>
          <a:p>
            <a:pPr indent="0" marL="0">
              <a:buNone/>
            </a:pPr>
            <a:r>
              <a:rPr lang="en-US" sz="1800" b="1" dirty="0">
                <a:solidFill>
                  <a:schemeClr val="accent1"/>
                </a:solidFill>
              </a:rPr>
              <a:t>06</a:t>
            </a:r>
            <a:endParaRPr lang="en-US" sz="1800" dirty="0"/>
          </a:p>
        </p:txBody>
      </p:sp>
      <p:sp>
        <p:nvSpPr>
          <p:cNvPr id="24" name="Contents title 6"/>
          <p:cNvSpPr txBox="1"/>
          <p:nvPr/>
        </p:nvSpPr>
        <p:spPr>
          <a:xfrm>
            <a:off x="4297680" y="3063240"/>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Modules</a:t>
            </a:r>
            <a:endParaRPr lang="en-US" sz="1600" dirty="0"/>
          </a:p>
        </p:txBody>
      </p:sp>
      <p:sp>
        <p:nvSpPr>
          <p:cNvPr id="25" name="Contents slide 6"/>
          <p:cNvSpPr txBox="1"/>
          <p:nvPr/>
        </p:nvSpPr>
        <p:spPr>
          <a:xfrm>
            <a:off x="7680960" y="3063240"/>
            <a:ext cx="1005840" cy="457200"/>
          </a:xfrm>
          <a:prstGeom prst="rect">
            <a:avLst/>
          </a:prstGeom>
          <a:noFill/>
          <a:ln/>
        </p:spPr>
        <p:txBody>
          <a:bodyPr wrap="square" lIns="0" tIns="0" rIns="0" bIns="0" rtlCol="0" anchor="ctr"/>
          <a:lstStyle/>
          <a:p>
            <a:pPr algn="r" indent="0" marL="0">
              <a:buNone/>
            </a:pPr>
            <a:r>
              <a:rPr lang="en-US" sz="1200" dirty="0">
                <a:solidFill>
                  <a:schemeClr val="accent4"/>
                </a:solidFill>
              </a:rPr>
              <a:t>Slide 8</a:t>
            </a:r>
            <a:endParaRPr lang="en-US" sz="1200" dirty="0"/>
          </a:p>
        </p:txBody>
      </p:sp>
      <p:sp>
        <p:nvSpPr>
          <p:cNvPr id="26" name="Contents divider 6"/>
          <p:cNvSpPr/>
          <p:nvPr/>
        </p:nvSpPr>
        <p:spPr>
          <a:xfrm>
            <a:off x="3657600" y="3529584"/>
            <a:ext cx="5029200" cy="0"/>
          </a:xfrm>
          <a:prstGeom prst="line">
            <a:avLst/>
          </a:prstGeom>
          <a:noFill/>
          <a:ln w="9525">
            <a:solidFill>
              <a:schemeClr val="accent5"/>
            </a:solidFill>
            <a:prstDash val="solid"/>
          </a:ln>
        </p:spPr>
      </p:sp>
      <p:sp>
        <p:nvSpPr>
          <p:cNvPr id="27" name="Contents number 7"/>
          <p:cNvSpPr txBox="1"/>
          <p:nvPr/>
        </p:nvSpPr>
        <p:spPr>
          <a:xfrm>
            <a:off x="3657600" y="3538728"/>
            <a:ext cx="548640" cy="457200"/>
          </a:xfrm>
          <a:prstGeom prst="rect">
            <a:avLst/>
          </a:prstGeom>
          <a:noFill/>
          <a:ln/>
        </p:spPr>
        <p:txBody>
          <a:bodyPr wrap="square" lIns="0" tIns="0" rIns="0" bIns="0" rtlCol="0" anchor="ctr"/>
          <a:lstStyle/>
          <a:p>
            <a:pPr indent="0" marL="0">
              <a:buNone/>
            </a:pPr>
            <a:r>
              <a:rPr lang="en-US" sz="1800" b="1" dirty="0">
                <a:solidFill>
                  <a:schemeClr val="accent1"/>
                </a:solidFill>
              </a:rPr>
              <a:t>07</a:t>
            </a:r>
            <a:endParaRPr lang="en-US" sz="1800" dirty="0"/>
          </a:p>
        </p:txBody>
      </p:sp>
      <p:sp>
        <p:nvSpPr>
          <p:cNvPr id="28" name="Contents title 7"/>
          <p:cNvSpPr txBox="1"/>
          <p:nvPr/>
        </p:nvSpPr>
        <p:spPr>
          <a:xfrm>
            <a:off x="4297680" y="3538728"/>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Security &amp; Validation</a:t>
            </a:r>
            <a:endParaRPr lang="en-US" sz="1600" dirty="0"/>
          </a:p>
        </p:txBody>
      </p:sp>
      <p:sp>
        <p:nvSpPr>
          <p:cNvPr id="29" name="Contents slide 7"/>
          <p:cNvSpPr txBox="1"/>
          <p:nvPr/>
        </p:nvSpPr>
        <p:spPr>
          <a:xfrm>
            <a:off x="7680960" y="3538728"/>
            <a:ext cx="1005840" cy="457200"/>
          </a:xfrm>
          <a:prstGeom prst="rect">
            <a:avLst/>
          </a:prstGeom>
          <a:noFill/>
          <a:ln/>
        </p:spPr>
        <p:txBody>
          <a:bodyPr wrap="square" lIns="0" tIns="0" rIns="0" bIns="0" rtlCol="0" anchor="ctr"/>
          <a:lstStyle/>
          <a:p>
            <a:pPr algn="r" indent="0" marL="0">
              <a:buNone/>
            </a:pPr>
            <a:r>
              <a:rPr lang="en-US" sz="1200" dirty="0">
                <a:solidFill>
                  <a:schemeClr val="accent4"/>
                </a:solidFill>
              </a:rPr>
              <a:t>Slide 9</a:t>
            </a:r>
            <a:endParaRPr lang="en-US" sz="1200" dirty="0"/>
          </a:p>
        </p:txBody>
      </p:sp>
      <p:sp>
        <p:nvSpPr>
          <p:cNvPr id="30" name="Contents divider 7"/>
          <p:cNvSpPr/>
          <p:nvPr/>
        </p:nvSpPr>
        <p:spPr>
          <a:xfrm>
            <a:off x="3657600" y="4005072"/>
            <a:ext cx="5029200" cy="0"/>
          </a:xfrm>
          <a:prstGeom prst="line">
            <a:avLst/>
          </a:prstGeom>
          <a:noFill/>
          <a:ln w="9525">
            <a:solidFill>
              <a:schemeClr val="accent5"/>
            </a:solidFill>
            <a:prstDash val="solid"/>
          </a:ln>
        </p:spPr>
      </p:sp>
      <p:sp>
        <p:nvSpPr>
          <p:cNvPr id="31" name="Contents number 8"/>
          <p:cNvSpPr txBox="1"/>
          <p:nvPr/>
        </p:nvSpPr>
        <p:spPr>
          <a:xfrm>
            <a:off x="3657600" y="4014216"/>
            <a:ext cx="548640" cy="457200"/>
          </a:xfrm>
          <a:prstGeom prst="rect">
            <a:avLst/>
          </a:prstGeom>
          <a:noFill/>
          <a:ln/>
        </p:spPr>
        <p:txBody>
          <a:bodyPr wrap="square" lIns="0" tIns="0" rIns="0" bIns="0" rtlCol="0" anchor="ctr"/>
          <a:lstStyle/>
          <a:p>
            <a:pPr indent="0" marL="0">
              <a:buNone/>
            </a:pPr>
            <a:r>
              <a:rPr lang="en-US" sz="1800" b="1" dirty="0">
                <a:solidFill>
                  <a:schemeClr val="accent1"/>
                </a:solidFill>
              </a:rPr>
              <a:t>08</a:t>
            </a:r>
            <a:endParaRPr lang="en-US" sz="1800" dirty="0"/>
          </a:p>
        </p:txBody>
      </p:sp>
      <p:sp>
        <p:nvSpPr>
          <p:cNvPr id="32" name="Contents title 8"/>
          <p:cNvSpPr txBox="1"/>
          <p:nvPr/>
        </p:nvSpPr>
        <p:spPr>
          <a:xfrm>
            <a:off x="4297680" y="4014216"/>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Conclusion &amp; Future Work</a:t>
            </a:r>
            <a:endParaRPr lang="en-US" sz="1600" dirty="0"/>
          </a:p>
        </p:txBody>
      </p:sp>
      <p:sp>
        <p:nvSpPr>
          <p:cNvPr id="33" name="Contents slide 8"/>
          <p:cNvSpPr txBox="1"/>
          <p:nvPr/>
        </p:nvSpPr>
        <p:spPr>
          <a:xfrm>
            <a:off x="7680960" y="4014216"/>
            <a:ext cx="1005840" cy="457200"/>
          </a:xfrm>
          <a:prstGeom prst="rect">
            <a:avLst/>
          </a:prstGeom>
          <a:noFill/>
          <a:ln/>
        </p:spPr>
        <p:txBody>
          <a:bodyPr wrap="square" lIns="0" tIns="0" rIns="0" bIns="0" rtlCol="0" anchor="ctr"/>
          <a:lstStyle/>
          <a:p>
            <a:pPr algn="r" indent="0" marL="0">
              <a:buNone/>
            </a:pPr>
            <a:r>
              <a:rPr lang="en-US" sz="1200" dirty="0">
                <a:solidFill>
                  <a:schemeClr val="accent4"/>
                </a:solidFill>
              </a:rPr>
              <a:t>Slide 10</a:t>
            </a:r>
            <a:endParaRPr lang="en-US" sz="1200" dirty="0"/>
          </a:p>
        </p:txBody>
      </p:sp>
      <p:sp>
        <p:nvSpPr>
          <p:cNvPr id="25" name="Slide Number Placeholder 0"/>
          <p:cNvSpPr>
            <a:spLocks noGrp="1"/>
          </p:cNvSpPr>
          <p:nvPr>
            <p:ph type="sldNum" sz="quarter" idx="4294967295"/>
          </p:nvPr>
        </p:nvSpPr>
        <p:spPr>
          <a:xfrm>
            <a:off x="7955280" y="477316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kicker"/>
          <p:cNvSpPr txBox="1"/>
          <p:nvPr/>
        </p:nvSpPr>
        <p:spPr>
          <a:xfrm>
            <a:off x="457200" y="256032"/>
            <a:ext cx="5486400" cy="237744"/>
          </a:xfrm>
          <a:prstGeom prst="rect">
            <a:avLst/>
          </a:prstGeom>
          <a:noFill/>
          <a:ln/>
        </p:spPr>
        <p:txBody>
          <a:bodyPr wrap="square" lIns="0" tIns="0" rIns="0" bIns="0" rtlCol="0" anchor="ctr"/>
          <a:lstStyle/>
          <a:p>
            <a:pPr indent="0" marL="0">
              <a:buNone/>
            </a:pPr>
            <a:r>
              <a:rPr lang="en-US" sz="1200" b="1" spc="300" kern="0" dirty="0">
                <a:solidFill>
                  <a:schemeClr val="accent1"/>
                </a:solidFill>
              </a:rPr>
              <a:t>SECTION 01</a:t>
            </a:r>
            <a:endParaRPr lang="en-US" sz="1200" dirty="0"/>
          </a:p>
        </p:txBody>
      </p:sp>
      <p:sp>
        <p:nvSpPr>
          <p:cNvPr id="3" name="Text 0"/>
          <p:cNvSpPr/>
          <p:nvPr>
            <p:ph idx="100" type="title" hasCustomPrompt="1"/>
          </p:nvPr>
        </p:nvSpPr>
        <p:spPr>
          <a:xfrm>
            <a:off x="457200" y="475488"/>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Problem Statement</a:t>
            </a:r>
            <a:endParaRPr lang="en-US" sz="3400" dirty="0"/>
          </a:p>
        </p:txBody>
      </p:sp>
      <p:sp>
        <p:nvSpPr>
          <p:cNvPr id="4" name="Problem number 01"/>
          <p:cNvSpPr txBox="1"/>
          <p:nvPr/>
        </p:nvSpPr>
        <p:spPr>
          <a:xfrm>
            <a:off x="457200" y="1280160"/>
            <a:ext cx="1005840" cy="731520"/>
          </a:xfrm>
          <a:prstGeom prst="rect">
            <a:avLst/>
          </a:prstGeom>
          <a:noFill/>
          <a:ln/>
        </p:spPr>
        <p:txBody>
          <a:bodyPr wrap="square" lIns="0" tIns="0" rIns="0" bIns="0" rtlCol="0" anchor="ctr"/>
          <a:lstStyle/>
          <a:p>
            <a:pPr indent="0" marL="0">
              <a:buNone/>
            </a:pPr>
            <a:r>
              <a:rPr lang="en-US" sz="3600" b="1" dirty="0">
                <a:solidFill>
                  <a:schemeClr val="accent1"/>
                </a:solidFill>
              </a:rPr>
              <a:t>01</a:t>
            </a:r>
            <a:endParaRPr lang="en-US" sz="3600" dirty="0"/>
          </a:p>
        </p:txBody>
      </p:sp>
      <p:sp>
        <p:nvSpPr>
          <p:cNvPr id="5" name="Problem heading 01"/>
          <p:cNvSpPr txBox="1"/>
          <p:nvPr/>
        </p:nvSpPr>
        <p:spPr>
          <a:xfrm>
            <a:off x="1645920" y="1280160"/>
            <a:ext cx="3291840" cy="731520"/>
          </a:xfrm>
          <a:prstGeom prst="rect">
            <a:avLst/>
          </a:prstGeom>
          <a:noFill/>
          <a:ln/>
        </p:spPr>
        <p:txBody>
          <a:bodyPr wrap="square" lIns="0" tIns="0" rIns="0" bIns="0" rtlCol="0" anchor="ctr"/>
          <a:lstStyle/>
          <a:p>
            <a:pPr indent="0" marL="0">
              <a:buNone/>
            </a:pPr>
            <a:r>
              <a:rPr lang="en-US" sz="1800" b="1" dirty="0">
                <a:solidFill>
                  <a:schemeClr val="tx2"/>
                </a:solidFill>
              </a:rPr>
              <a:t>Difficult to Track</a:t>
            </a:r>
            <a:endParaRPr lang="en-US" sz="1800" dirty="0"/>
          </a:p>
        </p:txBody>
      </p:sp>
      <p:sp>
        <p:nvSpPr>
          <p:cNvPr id="6" name="Problem text 01"/>
          <p:cNvSpPr txBox="1"/>
          <p:nvPr/>
        </p:nvSpPr>
        <p:spPr>
          <a:xfrm>
            <a:off x="5120640" y="1280160"/>
            <a:ext cx="3566160" cy="731520"/>
          </a:xfrm>
          <a:prstGeom prst="rect">
            <a:avLst/>
          </a:prstGeom>
          <a:noFill/>
          <a:ln/>
        </p:spPr>
        <p:txBody>
          <a:bodyPr wrap="square" lIns="0" tIns="0" rIns="0" bIns="0" rtlCol="0" anchor="ctr"/>
          <a:lstStyle/>
          <a:p>
            <a:pPr indent="0" marL="0">
              <a:buNone/>
            </a:pPr>
            <a:r>
              <a:rPr lang="en-US" sz="1400" dirty="0">
                <a:solidFill>
                  <a:schemeClr val="tx1"/>
                </a:solidFill>
              </a:rPr>
              <a:t>Manual complaint handling makes it difficult to monitor complaint progress.</a:t>
            </a:r>
            <a:endParaRPr lang="en-US" sz="1400" dirty="0"/>
          </a:p>
        </p:txBody>
      </p:sp>
      <p:sp>
        <p:nvSpPr>
          <p:cNvPr id="7" name="Problem divider 1"/>
          <p:cNvSpPr/>
          <p:nvPr/>
        </p:nvSpPr>
        <p:spPr>
          <a:xfrm>
            <a:off x="457200" y="2057400"/>
            <a:ext cx="8229600" cy="0"/>
          </a:xfrm>
          <a:prstGeom prst="line">
            <a:avLst/>
          </a:prstGeom>
          <a:noFill/>
          <a:ln w="9525">
            <a:solidFill>
              <a:schemeClr val="accent5"/>
            </a:solidFill>
            <a:prstDash val="solid"/>
          </a:ln>
        </p:spPr>
      </p:sp>
      <p:sp>
        <p:nvSpPr>
          <p:cNvPr id="8" name="Problem number 02"/>
          <p:cNvSpPr txBox="1"/>
          <p:nvPr/>
        </p:nvSpPr>
        <p:spPr>
          <a:xfrm>
            <a:off x="457200" y="2103120"/>
            <a:ext cx="1005840" cy="731520"/>
          </a:xfrm>
          <a:prstGeom prst="rect">
            <a:avLst/>
          </a:prstGeom>
          <a:noFill/>
          <a:ln/>
        </p:spPr>
        <p:txBody>
          <a:bodyPr wrap="square" lIns="0" tIns="0" rIns="0" bIns="0" rtlCol="0" anchor="ctr"/>
          <a:lstStyle/>
          <a:p>
            <a:pPr indent="0" marL="0">
              <a:buNone/>
            </a:pPr>
            <a:r>
              <a:rPr lang="en-US" sz="3600" b="1" dirty="0">
                <a:solidFill>
                  <a:schemeClr val="accent1"/>
                </a:solidFill>
              </a:rPr>
              <a:t>02</a:t>
            </a:r>
            <a:endParaRPr lang="en-US" sz="3600" dirty="0"/>
          </a:p>
        </p:txBody>
      </p:sp>
      <p:sp>
        <p:nvSpPr>
          <p:cNvPr id="9" name="Problem heading 02"/>
          <p:cNvSpPr txBox="1"/>
          <p:nvPr/>
        </p:nvSpPr>
        <p:spPr>
          <a:xfrm>
            <a:off x="1645920" y="2103120"/>
            <a:ext cx="3291840" cy="731520"/>
          </a:xfrm>
          <a:prstGeom prst="rect">
            <a:avLst/>
          </a:prstGeom>
          <a:noFill/>
          <a:ln/>
        </p:spPr>
        <p:txBody>
          <a:bodyPr wrap="square" lIns="0" tIns="0" rIns="0" bIns="0" rtlCol="0" anchor="ctr"/>
          <a:lstStyle/>
          <a:p>
            <a:pPr indent="0" marL="0">
              <a:buNone/>
            </a:pPr>
            <a:r>
              <a:rPr lang="en-US" sz="1800" b="1" dirty="0">
                <a:solidFill>
                  <a:schemeClr val="tx2"/>
                </a:solidFill>
              </a:rPr>
              <a:t>Lost or Delayed Complaints</a:t>
            </a:r>
            <a:endParaRPr lang="en-US" sz="1800" dirty="0"/>
          </a:p>
        </p:txBody>
      </p:sp>
      <p:sp>
        <p:nvSpPr>
          <p:cNvPr id="10" name="Problem text 02"/>
          <p:cNvSpPr txBox="1"/>
          <p:nvPr/>
        </p:nvSpPr>
        <p:spPr>
          <a:xfrm>
            <a:off x="5120640" y="2103120"/>
            <a:ext cx="3566160" cy="731520"/>
          </a:xfrm>
          <a:prstGeom prst="rect">
            <a:avLst/>
          </a:prstGeom>
          <a:noFill/>
          <a:ln/>
        </p:spPr>
        <p:txBody>
          <a:bodyPr wrap="square" lIns="0" tIns="0" rIns="0" bIns="0" rtlCol="0" anchor="ctr"/>
          <a:lstStyle/>
          <a:p>
            <a:pPr indent="0" marL="0">
              <a:buNone/>
            </a:pPr>
            <a:r>
              <a:rPr lang="en-US" sz="1400" dirty="0">
                <a:solidFill>
                  <a:schemeClr val="tx1"/>
                </a:solidFill>
              </a:rPr>
              <a:t>Scattered handling can cause complaints to be delayed or overlooked.</a:t>
            </a:r>
            <a:endParaRPr lang="en-US" sz="1400" dirty="0"/>
          </a:p>
        </p:txBody>
      </p:sp>
      <p:sp>
        <p:nvSpPr>
          <p:cNvPr id="11" name="Problem divider 2"/>
          <p:cNvSpPr/>
          <p:nvPr/>
        </p:nvSpPr>
        <p:spPr>
          <a:xfrm>
            <a:off x="457200" y="2880360"/>
            <a:ext cx="8229600" cy="0"/>
          </a:xfrm>
          <a:prstGeom prst="line">
            <a:avLst/>
          </a:prstGeom>
          <a:noFill/>
          <a:ln w="9525">
            <a:solidFill>
              <a:schemeClr val="accent5"/>
            </a:solidFill>
            <a:prstDash val="solid"/>
          </a:ln>
        </p:spPr>
      </p:sp>
      <p:sp>
        <p:nvSpPr>
          <p:cNvPr id="12" name="Problem number 03"/>
          <p:cNvSpPr txBox="1"/>
          <p:nvPr/>
        </p:nvSpPr>
        <p:spPr>
          <a:xfrm>
            <a:off x="457200" y="2926080"/>
            <a:ext cx="1005840" cy="731520"/>
          </a:xfrm>
          <a:prstGeom prst="rect">
            <a:avLst/>
          </a:prstGeom>
          <a:noFill/>
          <a:ln/>
        </p:spPr>
        <p:txBody>
          <a:bodyPr wrap="square" lIns="0" tIns="0" rIns="0" bIns="0" rtlCol="0" anchor="ctr"/>
          <a:lstStyle/>
          <a:p>
            <a:pPr indent="0" marL="0">
              <a:buNone/>
            </a:pPr>
            <a:r>
              <a:rPr lang="en-US" sz="3600" b="1" dirty="0">
                <a:solidFill>
                  <a:schemeClr val="accent1"/>
                </a:solidFill>
              </a:rPr>
              <a:t>03</a:t>
            </a:r>
            <a:endParaRPr lang="en-US" sz="3600" dirty="0"/>
          </a:p>
        </p:txBody>
      </p:sp>
      <p:sp>
        <p:nvSpPr>
          <p:cNvPr id="13" name="Problem heading 03"/>
          <p:cNvSpPr txBox="1"/>
          <p:nvPr/>
        </p:nvSpPr>
        <p:spPr>
          <a:xfrm>
            <a:off x="1645920" y="2926080"/>
            <a:ext cx="3291840" cy="731520"/>
          </a:xfrm>
          <a:prstGeom prst="rect">
            <a:avLst/>
          </a:prstGeom>
          <a:noFill/>
          <a:ln/>
        </p:spPr>
        <p:txBody>
          <a:bodyPr wrap="square" lIns="0" tIns="0" rIns="0" bIns="0" rtlCol="0" anchor="ctr"/>
          <a:lstStyle/>
          <a:p>
            <a:pPr indent="0" marL="0">
              <a:buNone/>
            </a:pPr>
            <a:r>
              <a:rPr lang="en-US" sz="1800" b="1" dirty="0">
                <a:solidFill>
                  <a:schemeClr val="tx2"/>
                </a:solidFill>
              </a:rPr>
              <a:t>Scattered Communication</a:t>
            </a:r>
            <a:endParaRPr lang="en-US" sz="1800" dirty="0"/>
          </a:p>
        </p:txBody>
      </p:sp>
      <p:sp>
        <p:nvSpPr>
          <p:cNvPr id="14" name="Problem text 03"/>
          <p:cNvSpPr txBox="1"/>
          <p:nvPr/>
        </p:nvSpPr>
        <p:spPr>
          <a:xfrm>
            <a:off x="5120640" y="2926080"/>
            <a:ext cx="3566160" cy="731520"/>
          </a:xfrm>
          <a:prstGeom prst="rect">
            <a:avLst/>
          </a:prstGeom>
          <a:noFill/>
          <a:ln/>
        </p:spPr>
        <p:txBody>
          <a:bodyPr wrap="square" lIns="0" tIns="0" rIns="0" bIns="0" rtlCol="0" anchor="ctr"/>
          <a:lstStyle/>
          <a:p>
            <a:pPr indent="0" marL="0">
              <a:buNone/>
            </a:pPr>
            <a:r>
              <a:rPr lang="en-US" sz="1400" dirty="0">
                <a:solidFill>
                  <a:schemeClr val="tx1"/>
                </a:solidFill>
              </a:rPr>
              <a:t>Communication between users and staff can be spread across channels.</a:t>
            </a:r>
            <a:endParaRPr lang="en-US" sz="1400" dirty="0"/>
          </a:p>
        </p:txBody>
      </p:sp>
      <p:sp>
        <p:nvSpPr>
          <p:cNvPr id="15" name="Problem divider 3"/>
          <p:cNvSpPr/>
          <p:nvPr/>
        </p:nvSpPr>
        <p:spPr>
          <a:xfrm>
            <a:off x="457200" y="3703320"/>
            <a:ext cx="8229600" cy="0"/>
          </a:xfrm>
          <a:prstGeom prst="line">
            <a:avLst/>
          </a:prstGeom>
          <a:noFill/>
          <a:ln w="9525">
            <a:solidFill>
              <a:schemeClr val="accent5"/>
            </a:solidFill>
            <a:prstDash val="solid"/>
          </a:ln>
        </p:spPr>
      </p:sp>
      <p:sp>
        <p:nvSpPr>
          <p:cNvPr id="16" name="Problem number 04"/>
          <p:cNvSpPr txBox="1"/>
          <p:nvPr/>
        </p:nvSpPr>
        <p:spPr>
          <a:xfrm>
            <a:off x="457200" y="3749040"/>
            <a:ext cx="1005840" cy="731520"/>
          </a:xfrm>
          <a:prstGeom prst="rect">
            <a:avLst/>
          </a:prstGeom>
          <a:noFill/>
          <a:ln/>
        </p:spPr>
        <p:txBody>
          <a:bodyPr wrap="square" lIns="0" tIns="0" rIns="0" bIns="0" rtlCol="0" anchor="ctr"/>
          <a:lstStyle/>
          <a:p>
            <a:pPr indent="0" marL="0">
              <a:buNone/>
            </a:pPr>
            <a:r>
              <a:rPr lang="en-US" sz="3600" b="1" dirty="0">
                <a:solidFill>
                  <a:schemeClr val="accent1"/>
                </a:solidFill>
              </a:rPr>
              <a:t>04</a:t>
            </a:r>
            <a:endParaRPr lang="en-US" sz="3600" dirty="0"/>
          </a:p>
        </p:txBody>
      </p:sp>
      <p:sp>
        <p:nvSpPr>
          <p:cNvPr id="17" name="Problem heading 04"/>
          <p:cNvSpPr txBox="1"/>
          <p:nvPr/>
        </p:nvSpPr>
        <p:spPr>
          <a:xfrm>
            <a:off x="1645920" y="3749040"/>
            <a:ext cx="3291840" cy="731520"/>
          </a:xfrm>
          <a:prstGeom prst="rect">
            <a:avLst/>
          </a:prstGeom>
          <a:noFill/>
          <a:ln/>
        </p:spPr>
        <p:txBody>
          <a:bodyPr wrap="square" lIns="0" tIns="0" rIns="0" bIns="0" rtlCol="0" anchor="ctr"/>
          <a:lstStyle/>
          <a:p>
            <a:pPr indent="0" marL="0">
              <a:buNone/>
            </a:pPr>
            <a:r>
              <a:rPr lang="en-US" sz="1800" b="1" dirty="0">
                <a:solidFill>
                  <a:schemeClr val="tx2"/>
                </a:solidFill>
              </a:rPr>
              <a:t>Poor Record Management</a:t>
            </a:r>
            <a:endParaRPr lang="en-US" sz="1800" dirty="0"/>
          </a:p>
        </p:txBody>
      </p:sp>
      <p:sp>
        <p:nvSpPr>
          <p:cNvPr id="18" name="Problem text 04"/>
          <p:cNvSpPr txBox="1"/>
          <p:nvPr/>
        </p:nvSpPr>
        <p:spPr>
          <a:xfrm>
            <a:off x="5120640" y="3749040"/>
            <a:ext cx="3566160" cy="731520"/>
          </a:xfrm>
          <a:prstGeom prst="rect">
            <a:avLst/>
          </a:prstGeom>
          <a:noFill/>
          <a:ln/>
        </p:spPr>
        <p:txBody>
          <a:bodyPr wrap="square" lIns="0" tIns="0" rIns="0" bIns="0" rtlCol="0" anchor="ctr"/>
          <a:lstStyle/>
          <a:p>
            <a:pPr indent="0" marL="0">
              <a:buNone/>
            </a:pPr>
            <a:r>
              <a:rPr lang="en-US" sz="1400" dirty="0">
                <a:solidFill>
                  <a:schemeClr val="tx1"/>
                </a:solidFill>
              </a:rPr>
              <a:t>Keeping complete complaint records and history manually is difficult.</a:t>
            </a:r>
            <a:endParaRPr lang="en-US" sz="1400" dirty="0"/>
          </a:p>
        </p:txBody>
      </p:sp>
      <p:sp>
        <p:nvSpPr>
          <p:cNvPr id="25" name="Slide Number Placeholder 0"/>
          <p:cNvSpPr>
            <a:spLocks noGrp="1"/>
          </p:cNvSpPr>
          <p:nvPr>
            <p:ph type="sldNum" sz="quarter" idx="4294967295"/>
          </p:nvPr>
        </p:nvSpPr>
        <p:spPr>
          <a:xfrm>
            <a:off x="7955280" y="477316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kicker"/>
          <p:cNvSpPr txBox="1"/>
          <p:nvPr/>
        </p:nvSpPr>
        <p:spPr>
          <a:xfrm>
            <a:off x="457200" y="256032"/>
            <a:ext cx="5486400" cy="237744"/>
          </a:xfrm>
          <a:prstGeom prst="rect">
            <a:avLst/>
          </a:prstGeom>
          <a:noFill/>
          <a:ln/>
        </p:spPr>
        <p:txBody>
          <a:bodyPr wrap="square" lIns="0" tIns="0" rIns="0" bIns="0" rtlCol="0" anchor="ctr"/>
          <a:lstStyle/>
          <a:p>
            <a:pPr indent="0" marL="0">
              <a:buNone/>
            </a:pPr>
            <a:r>
              <a:rPr lang="en-US" sz="1200" b="1" spc="300" kern="0" dirty="0">
                <a:solidFill>
                  <a:schemeClr val="accent1"/>
                </a:solidFill>
              </a:rPr>
              <a:t>SECTION 02</a:t>
            </a:r>
            <a:endParaRPr lang="en-US" sz="1200" dirty="0"/>
          </a:p>
        </p:txBody>
      </p:sp>
      <p:sp>
        <p:nvSpPr>
          <p:cNvPr id="3" name="Text 0"/>
          <p:cNvSpPr/>
          <p:nvPr>
            <p:ph idx="100" type="title" hasCustomPrompt="1"/>
          </p:nvPr>
        </p:nvSpPr>
        <p:spPr>
          <a:xfrm>
            <a:off x="457200" y="475488"/>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Objectives</a:t>
            </a:r>
            <a:endParaRPr lang="en-US" sz="3400" dirty="0"/>
          </a:p>
        </p:txBody>
      </p:sp>
      <p:sp>
        <p:nvSpPr>
          <p:cNvPr id="4" name="Objectives intro"/>
          <p:cNvSpPr txBox="1"/>
          <p:nvPr/>
        </p:nvSpPr>
        <p:spPr>
          <a:xfrm>
            <a:off x="457200" y="1280160"/>
            <a:ext cx="8229600" cy="365760"/>
          </a:xfrm>
          <a:prstGeom prst="rect">
            <a:avLst/>
          </a:prstGeom>
          <a:noFill/>
          <a:ln/>
        </p:spPr>
        <p:txBody>
          <a:bodyPr wrap="square" lIns="0" tIns="0" rIns="0" bIns="0" rtlCol="0" anchor="ctr"/>
          <a:lstStyle/>
          <a:p>
            <a:pPr indent="0" marL="0">
              <a:buNone/>
            </a:pPr>
            <a:r>
              <a:rPr lang="en-US" sz="2000" b="1" dirty="0">
                <a:solidFill>
                  <a:schemeClr val="accent1"/>
                </a:solidFill>
              </a:rPr>
              <a:t>A web-based system for centralized complaint handling.</a:t>
            </a:r>
            <a:endParaRPr lang="en-US" sz="2000" dirty="0"/>
          </a:p>
        </p:txBody>
      </p:sp>
      <p:sp>
        <p:nvSpPr>
          <p:cNvPr id="5" name="Objective card 1"/>
          <p:cNvSpPr/>
          <p:nvPr/>
        </p:nvSpPr>
        <p:spPr>
          <a:xfrm>
            <a:off x="457200" y="1874520"/>
            <a:ext cx="1499616" cy="2377440"/>
          </a:xfrm>
          <a:prstGeom prst="roundRect">
            <a:avLst>
              <a:gd name="adj" fmla="val 6098"/>
            </a:avLst>
          </a:prstGeom>
          <a:solidFill>
            <a:schemeClr val="bg1"/>
          </a:solidFill>
          <a:ln/>
          <a:effectLst>
            <a:outerShdw sx="100000" sy="100000" kx="0" ky="0" algn="bl" rotWithShape="0" blurRad="101600" dist="25400" dir="5400000">
              <a:srgbClr val="1E1B3A">
                <a:alpha val="12000"/>
              </a:srgbClr>
            </a:outerShdw>
          </a:effectLst>
        </p:spPr>
      </p:sp>
      <p:sp>
        <p:nvSpPr>
          <p:cNvPr id="6" name="Objective number 1"/>
          <p:cNvSpPr/>
          <p:nvPr/>
        </p:nvSpPr>
        <p:spPr>
          <a:xfrm>
            <a:off x="612648" y="2057400"/>
            <a:ext cx="457200" cy="457200"/>
          </a:xfrm>
          <a:prstGeom prst="ellipse">
            <a:avLst/>
          </a:prstGeom>
          <a:solidFill>
            <a:schemeClr val="accent1"/>
          </a:solidFill>
          <a:ln/>
        </p:spPr>
      </p:sp>
      <p:sp>
        <p:nvSpPr>
          <p:cNvPr id="7" name="Objective number 1 label"/>
          <p:cNvSpPr txBox="1"/>
          <p:nvPr/>
        </p:nvSpPr>
        <p:spPr>
          <a:xfrm>
            <a:off x="612648" y="2057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Objective text 1"/>
          <p:cNvSpPr txBox="1"/>
          <p:nvPr/>
        </p:nvSpPr>
        <p:spPr>
          <a:xfrm>
            <a:off x="612648" y="2697480"/>
            <a:ext cx="1225296" cy="1463040"/>
          </a:xfrm>
          <a:prstGeom prst="rect">
            <a:avLst/>
          </a:prstGeom>
          <a:noFill/>
          <a:ln/>
        </p:spPr>
        <p:txBody>
          <a:bodyPr wrap="square" lIns="0" tIns="0" rIns="0" bIns="0" rtlCol="0" anchor="t"/>
          <a:lstStyle/>
          <a:p>
            <a:pPr indent="0" marL="0">
              <a:buNone/>
            </a:pPr>
            <a:r>
              <a:rPr lang="en-US" sz="1500" dirty="0">
                <a:solidFill>
                  <a:schemeClr val="tx1"/>
                </a:solidFill>
              </a:rPr>
              <a:t>Centralize complaint submission and management</a:t>
            </a:r>
            <a:endParaRPr lang="en-US" sz="1500" dirty="0"/>
          </a:p>
        </p:txBody>
      </p:sp>
      <p:sp>
        <p:nvSpPr>
          <p:cNvPr id="9" name="Objective card 2"/>
          <p:cNvSpPr/>
          <p:nvPr/>
        </p:nvSpPr>
        <p:spPr>
          <a:xfrm>
            <a:off x="2139696" y="1874520"/>
            <a:ext cx="1499616" cy="2377440"/>
          </a:xfrm>
          <a:prstGeom prst="roundRect">
            <a:avLst>
              <a:gd name="adj" fmla="val 6098"/>
            </a:avLst>
          </a:prstGeom>
          <a:solidFill>
            <a:schemeClr val="bg1"/>
          </a:solidFill>
          <a:ln/>
          <a:effectLst>
            <a:outerShdw sx="100000" sy="100000" kx="0" ky="0" algn="bl" rotWithShape="0" blurRad="101600" dist="25400" dir="5400000">
              <a:srgbClr val="1E1B3A">
                <a:alpha val="12000"/>
              </a:srgbClr>
            </a:outerShdw>
          </a:effectLst>
        </p:spPr>
      </p:sp>
      <p:sp>
        <p:nvSpPr>
          <p:cNvPr id="10" name="Objective number 2"/>
          <p:cNvSpPr/>
          <p:nvPr/>
        </p:nvSpPr>
        <p:spPr>
          <a:xfrm>
            <a:off x="2295144" y="2057400"/>
            <a:ext cx="457200" cy="457200"/>
          </a:xfrm>
          <a:prstGeom prst="ellipse">
            <a:avLst/>
          </a:prstGeom>
          <a:solidFill>
            <a:schemeClr val="accent1"/>
          </a:solidFill>
          <a:ln/>
        </p:spPr>
      </p:sp>
      <p:sp>
        <p:nvSpPr>
          <p:cNvPr id="11" name="Objective number 2 label"/>
          <p:cNvSpPr txBox="1"/>
          <p:nvPr/>
        </p:nvSpPr>
        <p:spPr>
          <a:xfrm>
            <a:off x="2295144" y="2057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Objective text 2"/>
          <p:cNvSpPr txBox="1"/>
          <p:nvPr/>
        </p:nvSpPr>
        <p:spPr>
          <a:xfrm>
            <a:off x="2295144" y="2697480"/>
            <a:ext cx="1225296" cy="1463040"/>
          </a:xfrm>
          <a:prstGeom prst="rect">
            <a:avLst/>
          </a:prstGeom>
          <a:noFill/>
          <a:ln/>
        </p:spPr>
        <p:txBody>
          <a:bodyPr wrap="square" lIns="0" tIns="0" rIns="0" bIns="0" rtlCol="0" anchor="t"/>
          <a:lstStyle/>
          <a:p>
            <a:pPr indent="0" marL="0">
              <a:buNone/>
            </a:pPr>
            <a:r>
              <a:rPr lang="en-US" sz="1500" dirty="0">
                <a:solidFill>
                  <a:schemeClr val="tx1"/>
                </a:solidFill>
              </a:rPr>
              <a:t>Make complaint tracking easier</a:t>
            </a:r>
            <a:endParaRPr lang="en-US" sz="1500" dirty="0"/>
          </a:p>
        </p:txBody>
      </p:sp>
      <p:sp>
        <p:nvSpPr>
          <p:cNvPr id="13" name="Objective card 3"/>
          <p:cNvSpPr/>
          <p:nvPr/>
        </p:nvSpPr>
        <p:spPr>
          <a:xfrm>
            <a:off x="3822192" y="1874520"/>
            <a:ext cx="1499616" cy="2377440"/>
          </a:xfrm>
          <a:prstGeom prst="roundRect">
            <a:avLst>
              <a:gd name="adj" fmla="val 6098"/>
            </a:avLst>
          </a:prstGeom>
          <a:solidFill>
            <a:schemeClr val="bg1"/>
          </a:solidFill>
          <a:ln/>
          <a:effectLst>
            <a:outerShdw sx="100000" sy="100000" kx="0" ky="0" algn="bl" rotWithShape="0" blurRad="101600" dist="25400" dir="5400000">
              <a:srgbClr val="1E1B3A">
                <a:alpha val="12000"/>
              </a:srgbClr>
            </a:outerShdw>
          </a:effectLst>
        </p:spPr>
      </p:sp>
      <p:sp>
        <p:nvSpPr>
          <p:cNvPr id="14" name="Objective number 3"/>
          <p:cNvSpPr/>
          <p:nvPr/>
        </p:nvSpPr>
        <p:spPr>
          <a:xfrm>
            <a:off x="3977640" y="2057400"/>
            <a:ext cx="457200" cy="457200"/>
          </a:xfrm>
          <a:prstGeom prst="ellipse">
            <a:avLst/>
          </a:prstGeom>
          <a:solidFill>
            <a:schemeClr val="accent1"/>
          </a:solidFill>
          <a:ln/>
        </p:spPr>
      </p:sp>
      <p:sp>
        <p:nvSpPr>
          <p:cNvPr id="15" name="Objective number 3 label"/>
          <p:cNvSpPr txBox="1"/>
          <p:nvPr/>
        </p:nvSpPr>
        <p:spPr>
          <a:xfrm>
            <a:off x="3977640" y="2057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Objective text 3"/>
          <p:cNvSpPr txBox="1"/>
          <p:nvPr/>
        </p:nvSpPr>
        <p:spPr>
          <a:xfrm>
            <a:off x="3977640" y="2697480"/>
            <a:ext cx="1225296" cy="1463040"/>
          </a:xfrm>
          <a:prstGeom prst="rect">
            <a:avLst/>
          </a:prstGeom>
          <a:noFill/>
          <a:ln/>
        </p:spPr>
        <p:txBody>
          <a:bodyPr wrap="square" lIns="0" tIns="0" rIns="0" bIns="0" rtlCol="0" anchor="t"/>
          <a:lstStyle/>
          <a:p>
            <a:pPr indent="0" marL="0">
              <a:buNone/>
            </a:pPr>
            <a:r>
              <a:rPr lang="en-US" sz="1500" dirty="0">
                <a:solidFill>
                  <a:schemeClr val="tx1"/>
                </a:solidFill>
              </a:rPr>
              <a:t>Improve communication between users and staff</a:t>
            </a:r>
            <a:endParaRPr lang="en-US" sz="1500" dirty="0"/>
          </a:p>
        </p:txBody>
      </p:sp>
      <p:sp>
        <p:nvSpPr>
          <p:cNvPr id="17" name="Objective card 4"/>
          <p:cNvSpPr/>
          <p:nvPr/>
        </p:nvSpPr>
        <p:spPr>
          <a:xfrm>
            <a:off x="5504688" y="1874520"/>
            <a:ext cx="1499616" cy="2377440"/>
          </a:xfrm>
          <a:prstGeom prst="roundRect">
            <a:avLst>
              <a:gd name="adj" fmla="val 6098"/>
            </a:avLst>
          </a:prstGeom>
          <a:solidFill>
            <a:schemeClr val="bg1"/>
          </a:solidFill>
          <a:ln/>
          <a:effectLst>
            <a:outerShdw sx="100000" sy="100000" kx="0" ky="0" algn="bl" rotWithShape="0" blurRad="101600" dist="25400" dir="5400000">
              <a:srgbClr val="1E1B3A">
                <a:alpha val="12000"/>
              </a:srgbClr>
            </a:outerShdw>
          </a:effectLst>
        </p:spPr>
      </p:sp>
      <p:sp>
        <p:nvSpPr>
          <p:cNvPr id="18" name="Objective number 4"/>
          <p:cNvSpPr/>
          <p:nvPr/>
        </p:nvSpPr>
        <p:spPr>
          <a:xfrm>
            <a:off x="5660136" y="2057400"/>
            <a:ext cx="457200" cy="457200"/>
          </a:xfrm>
          <a:prstGeom prst="ellipse">
            <a:avLst/>
          </a:prstGeom>
          <a:solidFill>
            <a:schemeClr val="accent1"/>
          </a:solidFill>
          <a:ln/>
        </p:spPr>
      </p:sp>
      <p:sp>
        <p:nvSpPr>
          <p:cNvPr id="19" name="Objective number 4 label"/>
          <p:cNvSpPr txBox="1"/>
          <p:nvPr/>
        </p:nvSpPr>
        <p:spPr>
          <a:xfrm>
            <a:off x="5660136" y="2057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Objective text 4"/>
          <p:cNvSpPr txBox="1"/>
          <p:nvPr/>
        </p:nvSpPr>
        <p:spPr>
          <a:xfrm>
            <a:off x="5660136" y="2697480"/>
            <a:ext cx="1225296" cy="1463040"/>
          </a:xfrm>
          <a:prstGeom prst="rect">
            <a:avLst/>
          </a:prstGeom>
          <a:noFill/>
          <a:ln/>
        </p:spPr>
        <p:txBody>
          <a:bodyPr wrap="square" lIns="0" tIns="0" rIns="0" bIns="0" rtlCol="0" anchor="t"/>
          <a:lstStyle/>
          <a:p>
            <a:pPr indent="0" marL="0">
              <a:buNone/>
            </a:pPr>
            <a:r>
              <a:rPr lang="en-US" sz="1500" dirty="0">
                <a:solidFill>
                  <a:schemeClr val="tx1"/>
                </a:solidFill>
              </a:rPr>
              <a:t>Maintain organized complaint records</a:t>
            </a:r>
            <a:endParaRPr lang="en-US" sz="1500" dirty="0"/>
          </a:p>
        </p:txBody>
      </p:sp>
      <p:sp>
        <p:nvSpPr>
          <p:cNvPr id="21" name="Objective card 5"/>
          <p:cNvSpPr/>
          <p:nvPr/>
        </p:nvSpPr>
        <p:spPr>
          <a:xfrm>
            <a:off x="7187184" y="1874520"/>
            <a:ext cx="1499616" cy="2377440"/>
          </a:xfrm>
          <a:prstGeom prst="roundRect">
            <a:avLst>
              <a:gd name="adj" fmla="val 6098"/>
            </a:avLst>
          </a:prstGeom>
          <a:solidFill>
            <a:schemeClr val="bg1"/>
          </a:solidFill>
          <a:ln/>
          <a:effectLst>
            <a:outerShdw sx="100000" sy="100000" kx="0" ky="0" algn="bl" rotWithShape="0" blurRad="101600" dist="25400" dir="5400000">
              <a:srgbClr val="1E1B3A">
                <a:alpha val="12000"/>
              </a:srgbClr>
            </a:outerShdw>
          </a:effectLst>
        </p:spPr>
      </p:sp>
      <p:sp>
        <p:nvSpPr>
          <p:cNvPr id="22" name="Objective number 5"/>
          <p:cNvSpPr/>
          <p:nvPr/>
        </p:nvSpPr>
        <p:spPr>
          <a:xfrm>
            <a:off x="7342632" y="2057400"/>
            <a:ext cx="457200" cy="457200"/>
          </a:xfrm>
          <a:prstGeom prst="ellipse">
            <a:avLst/>
          </a:prstGeom>
          <a:solidFill>
            <a:schemeClr val="accent1"/>
          </a:solidFill>
          <a:ln/>
        </p:spPr>
      </p:sp>
      <p:sp>
        <p:nvSpPr>
          <p:cNvPr id="23" name="Objective number 5 label"/>
          <p:cNvSpPr txBox="1"/>
          <p:nvPr/>
        </p:nvSpPr>
        <p:spPr>
          <a:xfrm>
            <a:off x="7342632" y="20574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4" name="Objective text 5"/>
          <p:cNvSpPr txBox="1"/>
          <p:nvPr/>
        </p:nvSpPr>
        <p:spPr>
          <a:xfrm>
            <a:off x="7342632" y="2697480"/>
            <a:ext cx="1225296" cy="1463040"/>
          </a:xfrm>
          <a:prstGeom prst="rect">
            <a:avLst/>
          </a:prstGeom>
          <a:noFill/>
          <a:ln/>
        </p:spPr>
        <p:txBody>
          <a:bodyPr wrap="square" lIns="0" tIns="0" rIns="0" bIns="0" rtlCol="0" anchor="t"/>
          <a:lstStyle/>
          <a:p>
            <a:pPr indent="0" marL="0">
              <a:buNone/>
            </a:pPr>
            <a:r>
              <a:rPr lang="en-US" sz="1500" dirty="0">
                <a:solidFill>
                  <a:schemeClr val="tx1"/>
                </a:solidFill>
              </a:rPr>
              <a:t>Reduce manual work</a:t>
            </a:r>
            <a:endParaRPr lang="en-US" sz="1500" dirty="0"/>
          </a:p>
        </p:txBody>
      </p:sp>
      <p:sp>
        <p:nvSpPr>
          <p:cNvPr id="25" name="Slide Number Placeholder 0"/>
          <p:cNvSpPr>
            <a:spLocks noGrp="1"/>
          </p:cNvSpPr>
          <p:nvPr>
            <p:ph type="sldNum" sz="quarter" idx="4294967295"/>
          </p:nvPr>
        </p:nvSpPr>
        <p:spPr>
          <a:xfrm>
            <a:off x="7955280" y="477316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kicker"/>
          <p:cNvSpPr txBox="1"/>
          <p:nvPr/>
        </p:nvSpPr>
        <p:spPr>
          <a:xfrm>
            <a:off x="457200" y="256032"/>
            <a:ext cx="5486400" cy="237744"/>
          </a:xfrm>
          <a:prstGeom prst="rect">
            <a:avLst/>
          </a:prstGeom>
          <a:noFill/>
          <a:ln/>
        </p:spPr>
        <p:txBody>
          <a:bodyPr wrap="square" lIns="0" tIns="0" rIns="0" bIns="0" rtlCol="0" anchor="ctr"/>
          <a:lstStyle/>
          <a:p>
            <a:pPr indent="0" marL="0">
              <a:buNone/>
            </a:pPr>
            <a:r>
              <a:rPr lang="en-US" sz="1200" b="1" spc="300" kern="0" dirty="0">
                <a:solidFill>
                  <a:schemeClr val="accent1"/>
                </a:solidFill>
              </a:rPr>
              <a:t>SECTION 03</a:t>
            </a:r>
            <a:endParaRPr lang="en-US" sz="1200" dirty="0"/>
          </a:p>
        </p:txBody>
      </p:sp>
      <p:sp>
        <p:nvSpPr>
          <p:cNvPr id="3" name="Text 0"/>
          <p:cNvSpPr/>
          <p:nvPr>
            <p:ph idx="100" type="title" hasCustomPrompt="1"/>
          </p:nvPr>
        </p:nvSpPr>
        <p:spPr>
          <a:xfrm>
            <a:off x="457200" y="475488"/>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Scope &amp; System Features</a:t>
            </a:r>
            <a:endParaRPr lang="en-US" sz="3400" dirty="0"/>
          </a:p>
        </p:txBody>
      </p:sp>
      <p:sp>
        <p:nvSpPr>
          <p:cNvPr id="4" name="In scope heading"/>
          <p:cNvSpPr txBox="1"/>
          <p:nvPr/>
        </p:nvSpPr>
        <p:spPr>
          <a:xfrm>
            <a:off x="457200" y="1234440"/>
            <a:ext cx="4572000" cy="274320"/>
          </a:xfrm>
          <a:prstGeom prst="rect">
            <a:avLst/>
          </a:prstGeom>
          <a:noFill/>
          <a:ln/>
        </p:spPr>
        <p:txBody>
          <a:bodyPr wrap="square" lIns="0" tIns="0" rIns="0" bIns="0" rtlCol="0" anchor="ctr"/>
          <a:lstStyle/>
          <a:p>
            <a:pPr indent="0" marL="0">
              <a:buNone/>
            </a:pPr>
            <a:r>
              <a:rPr lang="en-US" sz="1400" b="1" spc="200" kern="0" dirty="0">
                <a:solidFill>
                  <a:schemeClr val="accent1"/>
                </a:solidFill>
              </a:rPr>
              <a:t>IN SCOPE</a:t>
            </a:r>
            <a:endParaRPr lang="en-US" sz="1400" dirty="0"/>
          </a:p>
        </p:txBody>
      </p:sp>
      <p:sp>
        <p:nvSpPr>
          <p:cNvPr id="5" name="Scope chip 1"/>
          <p:cNvSpPr/>
          <p:nvPr/>
        </p:nvSpPr>
        <p:spPr>
          <a:xfrm>
            <a:off x="457200" y="1600200"/>
            <a:ext cx="1856232" cy="868680"/>
          </a:xfrm>
          <a:prstGeom prst="roundRect">
            <a:avLst>
              <a:gd name="adj" fmla="val 10526"/>
            </a:avLst>
          </a:prstGeom>
          <a:solidFill>
            <a:schemeClr val="bg1"/>
          </a:solidFill>
          <a:ln/>
          <a:effectLst>
            <a:outerShdw sx="100000" sy="100000" kx="0" ky="0" algn="bl" rotWithShape="0" blurRad="101600" dist="25400" dir="5400000">
              <a:srgbClr val="1E1B3A">
                <a:alpha val="12000"/>
              </a:srgbClr>
            </a:outerShdw>
          </a:effectLst>
        </p:spPr>
      </p:sp>
      <p:sp>
        <p:nvSpPr>
          <p:cNvPr id="6" name="Scope text 1"/>
          <p:cNvSpPr txBox="1"/>
          <p:nvPr/>
        </p:nvSpPr>
        <p:spPr>
          <a:xfrm>
            <a:off x="566928" y="1600200"/>
            <a:ext cx="1645920" cy="868680"/>
          </a:xfrm>
          <a:prstGeom prst="rect">
            <a:avLst/>
          </a:prstGeom>
          <a:noFill/>
          <a:ln/>
        </p:spPr>
        <p:txBody>
          <a:bodyPr wrap="square" lIns="0" tIns="0" rIns="0" bIns="0" rtlCol="0" anchor="ctr"/>
          <a:lstStyle/>
          <a:p>
            <a:pPr indent="0" marL="0">
              <a:buNone/>
            </a:pPr>
            <a:r>
              <a:rPr lang="en-US" sz="1400" b="1" dirty="0">
                <a:solidFill>
                  <a:schemeClr val="tx2"/>
                </a:solidFill>
              </a:rPr>
              <a:t>User, Staff and Admin roles</a:t>
            </a:r>
            <a:endParaRPr lang="en-US" sz="1400" dirty="0"/>
          </a:p>
        </p:txBody>
      </p:sp>
      <p:sp>
        <p:nvSpPr>
          <p:cNvPr id="7" name="Scope chip 2"/>
          <p:cNvSpPr/>
          <p:nvPr/>
        </p:nvSpPr>
        <p:spPr>
          <a:xfrm>
            <a:off x="2455164" y="1600200"/>
            <a:ext cx="1856232" cy="868680"/>
          </a:xfrm>
          <a:prstGeom prst="roundRect">
            <a:avLst>
              <a:gd name="adj" fmla="val 10526"/>
            </a:avLst>
          </a:prstGeom>
          <a:solidFill>
            <a:schemeClr val="bg1"/>
          </a:solidFill>
          <a:ln/>
          <a:effectLst>
            <a:outerShdw sx="100000" sy="100000" kx="0" ky="0" algn="bl" rotWithShape="0" blurRad="101600" dist="25400" dir="5400000">
              <a:srgbClr val="1E1B3A">
                <a:alpha val="12000"/>
              </a:srgbClr>
            </a:outerShdw>
          </a:effectLst>
        </p:spPr>
      </p:sp>
      <p:sp>
        <p:nvSpPr>
          <p:cNvPr id="8" name="Scope text 2"/>
          <p:cNvSpPr txBox="1"/>
          <p:nvPr/>
        </p:nvSpPr>
        <p:spPr>
          <a:xfrm>
            <a:off x="2564892" y="1600200"/>
            <a:ext cx="1645920" cy="868680"/>
          </a:xfrm>
          <a:prstGeom prst="rect">
            <a:avLst/>
          </a:prstGeom>
          <a:noFill/>
          <a:ln/>
        </p:spPr>
        <p:txBody>
          <a:bodyPr wrap="square" lIns="0" tIns="0" rIns="0" bIns="0" rtlCol="0" anchor="ctr"/>
          <a:lstStyle/>
          <a:p>
            <a:pPr indent="0" marL="0">
              <a:buNone/>
            </a:pPr>
            <a:r>
              <a:rPr lang="en-US" sz="1400" b="1" dirty="0">
                <a:solidFill>
                  <a:schemeClr val="tx2"/>
                </a:solidFill>
              </a:rPr>
              <a:t>Registration, authentication and role-based access</a:t>
            </a:r>
            <a:endParaRPr lang="en-US" sz="1400" dirty="0"/>
          </a:p>
        </p:txBody>
      </p:sp>
      <p:sp>
        <p:nvSpPr>
          <p:cNvPr id="9" name="Scope chip 3"/>
          <p:cNvSpPr/>
          <p:nvPr/>
        </p:nvSpPr>
        <p:spPr>
          <a:xfrm>
            <a:off x="4453128" y="1600200"/>
            <a:ext cx="1856232" cy="868680"/>
          </a:xfrm>
          <a:prstGeom prst="roundRect">
            <a:avLst>
              <a:gd name="adj" fmla="val 10526"/>
            </a:avLst>
          </a:prstGeom>
          <a:solidFill>
            <a:schemeClr val="bg1"/>
          </a:solidFill>
          <a:ln/>
          <a:effectLst>
            <a:outerShdw sx="100000" sy="100000" kx="0" ky="0" algn="bl" rotWithShape="0" blurRad="101600" dist="25400" dir="5400000">
              <a:srgbClr val="1E1B3A">
                <a:alpha val="12000"/>
              </a:srgbClr>
            </a:outerShdw>
          </a:effectLst>
        </p:spPr>
      </p:sp>
      <p:sp>
        <p:nvSpPr>
          <p:cNvPr id="10" name="Scope text 3"/>
          <p:cNvSpPr txBox="1"/>
          <p:nvPr/>
        </p:nvSpPr>
        <p:spPr>
          <a:xfrm>
            <a:off x="4562856" y="1600200"/>
            <a:ext cx="1645920" cy="868680"/>
          </a:xfrm>
          <a:prstGeom prst="rect">
            <a:avLst/>
          </a:prstGeom>
          <a:noFill/>
          <a:ln/>
        </p:spPr>
        <p:txBody>
          <a:bodyPr wrap="square" lIns="0" tIns="0" rIns="0" bIns="0" rtlCol="0" anchor="ctr"/>
          <a:lstStyle/>
          <a:p>
            <a:pPr indent="0" marL="0">
              <a:buNone/>
            </a:pPr>
            <a:r>
              <a:rPr lang="en-US" sz="1400" b="1" dirty="0">
                <a:solidFill>
                  <a:schemeClr val="tx2"/>
                </a:solidFill>
              </a:rPr>
              <a:t>Complaint submission and tracking</a:t>
            </a:r>
            <a:endParaRPr lang="en-US" sz="1400" dirty="0"/>
          </a:p>
        </p:txBody>
      </p:sp>
      <p:sp>
        <p:nvSpPr>
          <p:cNvPr id="11" name="Scope chip 4"/>
          <p:cNvSpPr/>
          <p:nvPr/>
        </p:nvSpPr>
        <p:spPr>
          <a:xfrm>
            <a:off x="457200" y="2587752"/>
            <a:ext cx="1856232" cy="868680"/>
          </a:xfrm>
          <a:prstGeom prst="roundRect">
            <a:avLst>
              <a:gd name="adj" fmla="val 10526"/>
            </a:avLst>
          </a:prstGeom>
          <a:solidFill>
            <a:schemeClr val="bg1"/>
          </a:solidFill>
          <a:ln/>
          <a:effectLst>
            <a:outerShdw sx="100000" sy="100000" kx="0" ky="0" algn="bl" rotWithShape="0" blurRad="101600" dist="25400" dir="5400000">
              <a:srgbClr val="1E1B3A">
                <a:alpha val="12000"/>
              </a:srgbClr>
            </a:outerShdw>
          </a:effectLst>
        </p:spPr>
      </p:sp>
      <p:sp>
        <p:nvSpPr>
          <p:cNvPr id="12" name="Scope text 4"/>
          <p:cNvSpPr txBox="1"/>
          <p:nvPr/>
        </p:nvSpPr>
        <p:spPr>
          <a:xfrm>
            <a:off x="566928" y="2587752"/>
            <a:ext cx="1645920" cy="868680"/>
          </a:xfrm>
          <a:prstGeom prst="rect">
            <a:avLst/>
          </a:prstGeom>
          <a:noFill/>
          <a:ln/>
        </p:spPr>
        <p:txBody>
          <a:bodyPr wrap="square" lIns="0" tIns="0" rIns="0" bIns="0" rtlCol="0" anchor="ctr"/>
          <a:lstStyle/>
          <a:p>
            <a:pPr indent="0" marL="0">
              <a:buNone/>
            </a:pPr>
            <a:r>
              <a:rPr lang="en-US" sz="1400" b="1" dirty="0">
                <a:solidFill>
                  <a:schemeClr val="tx2"/>
                </a:solidFill>
              </a:rPr>
              <a:t>Category management</a:t>
            </a:r>
            <a:endParaRPr lang="en-US" sz="1400" dirty="0"/>
          </a:p>
        </p:txBody>
      </p:sp>
      <p:sp>
        <p:nvSpPr>
          <p:cNvPr id="13" name="Scope chip 5"/>
          <p:cNvSpPr/>
          <p:nvPr/>
        </p:nvSpPr>
        <p:spPr>
          <a:xfrm>
            <a:off x="2455164" y="2587752"/>
            <a:ext cx="1856232" cy="868680"/>
          </a:xfrm>
          <a:prstGeom prst="roundRect">
            <a:avLst>
              <a:gd name="adj" fmla="val 10526"/>
            </a:avLst>
          </a:prstGeom>
          <a:solidFill>
            <a:schemeClr val="bg1"/>
          </a:solidFill>
          <a:ln/>
          <a:effectLst>
            <a:outerShdw sx="100000" sy="100000" kx="0" ky="0" algn="bl" rotWithShape="0" blurRad="101600" dist="25400" dir="5400000">
              <a:srgbClr val="1E1B3A">
                <a:alpha val="12000"/>
              </a:srgbClr>
            </a:outerShdw>
          </a:effectLst>
        </p:spPr>
      </p:sp>
      <p:sp>
        <p:nvSpPr>
          <p:cNvPr id="14" name="Scope text 5"/>
          <p:cNvSpPr txBox="1"/>
          <p:nvPr/>
        </p:nvSpPr>
        <p:spPr>
          <a:xfrm>
            <a:off x="2564892" y="2587752"/>
            <a:ext cx="1645920" cy="868680"/>
          </a:xfrm>
          <a:prstGeom prst="rect">
            <a:avLst/>
          </a:prstGeom>
          <a:noFill/>
          <a:ln/>
        </p:spPr>
        <p:txBody>
          <a:bodyPr wrap="square" lIns="0" tIns="0" rIns="0" bIns="0" rtlCol="0" anchor="ctr"/>
          <a:lstStyle/>
          <a:p>
            <a:pPr indent="0" marL="0">
              <a:buNone/>
            </a:pPr>
            <a:r>
              <a:rPr lang="en-US" sz="1400" b="1" dirty="0">
                <a:solidFill>
                  <a:schemeClr val="tx2"/>
                </a:solidFill>
              </a:rPr>
              <a:t>Staff processing and status updates</a:t>
            </a:r>
            <a:endParaRPr lang="en-US" sz="1400" dirty="0"/>
          </a:p>
        </p:txBody>
      </p:sp>
      <p:sp>
        <p:nvSpPr>
          <p:cNvPr id="15" name="Scope chip 6"/>
          <p:cNvSpPr/>
          <p:nvPr/>
        </p:nvSpPr>
        <p:spPr>
          <a:xfrm>
            <a:off x="4453128" y="2587752"/>
            <a:ext cx="1856232" cy="868680"/>
          </a:xfrm>
          <a:prstGeom prst="roundRect">
            <a:avLst>
              <a:gd name="adj" fmla="val 10526"/>
            </a:avLst>
          </a:prstGeom>
          <a:solidFill>
            <a:schemeClr val="bg1"/>
          </a:solidFill>
          <a:ln/>
          <a:effectLst>
            <a:outerShdw sx="100000" sy="100000" kx="0" ky="0" algn="bl" rotWithShape="0" blurRad="101600" dist="25400" dir="5400000">
              <a:srgbClr val="1E1B3A">
                <a:alpha val="12000"/>
              </a:srgbClr>
            </a:outerShdw>
          </a:effectLst>
        </p:spPr>
      </p:sp>
      <p:sp>
        <p:nvSpPr>
          <p:cNvPr id="16" name="Scope text 6"/>
          <p:cNvSpPr txBox="1"/>
          <p:nvPr/>
        </p:nvSpPr>
        <p:spPr>
          <a:xfrm>
            <a:off x="4562856" y="2587752"/>
            <a:ext cx="1645920" cy="868680"/>
          </a:xfrm>
          <a:prstGeom prst="rect">
            <a:avLst/>
          </a:prstGeom>
          <a:noFill/>
          <a:ln/>
        </p:spPr>
        <p:txBody>
          <a:bodyPr wrap="square" lIns="0" tIns="0" rIns="0" bIns="0" rtlCol="0" anchor="ctr"/>
          <a:lstStyle/>
          <a:p>
            <a:pPr indent="0" marL="0">
              <a:buNone/>
            </a:pPr>
            <a:r>
              <a:rPr lang="en-US" sz="1400" b="1" dirty="0">
                <a:solidFill>
                  <a:schemeClr val="tx2"/>
                </a:solidFill>
              </a:rPr>
              <a:t>Complaint history</a:t>
            </a:r>
            <a:endParaRPr lang="en-US" sz="1400" dirty="0"/>
          </a:p>
        </p:txBody>
      </p:sp>
      <p:sp>
        <p:nvSpPr>
          <p:cNvPr id="17" name="Scope chip 7"/>
          <p:cNvSpPr/>
          <p:nvPr/>
        </p:nvSpPr>
        <p:spPr>
          <a:xfrm>
            <a:off x="457200" y="3575304"/>
            <a:ext cx="1856232" cy="868680"/>
          </a:xfrm>
          <a:prstGeom prst="roundRect">
            <a:avLst>
              <a:gd name="adj" fmla="val 10526"/>
            </a:avLst>
          </a:prstGeom>
          <a:solidFill>
            <a:schemeClr val="bg1"/>
          </a:solidFill>
          <a:ln/>
          <a:effectLst>
            <a:outerShdw sx="100000" sy="100000" kx="0" ky="0" algn="bl" rotWithShape="0" blurRad="101600" dist="25400" dir="5400000">
              <a:srgbClr val="1E1B3A">
                <a:alpha val="12000"/>
              </a:srgbClr>
            </a:outerShdw>
          </a:effectLst>
        </p:spPr>
      </p:sp>
      <p:sp>
        <p:nvSpPr>
          <p:cNvPr id="18" name="Scope text 7"/>
          <p:cNvSpPr txBox="1"/>
          <p:nvPr/>
        </p:nvSpPr>
        <p:spPr>
          <a:xfrm>
            <a:off x="566928" y="3575304"/>
            <a:ext cx="1645920" cy="868680"/>
          </a:xfrm>
          <a:prstGeom prst="rect">
            <a:avLst/>
          </a:prstGeom>
          <a:noFill/>
          <a:ln/>
        </p:spPr>
        <p:txBody>
          <a:bodyPr wrap="square" lIns="0" tIns="0" rIns="0" bIns="0" rtlCol="0" anchor="ctr"/>
          <a:lstStyle/>
          <a:p>
            <a:pPr indent="0" marL="0">
              <a:buNone/>
            </a:pPr>
            <a:r>
              <a:rPr lang="en-US" sz="1400" b="1" dirty="0">
                <a:solidFill>
                  <a:schemeClr val="tx2"/>
                </a:solidFill>
              </a:rPr>
              <a:t>Messages and notifications</a:t>
            </a:r>
            <a:endParaRPr lang="en-US" sz="1400" dirty="0"/>
          </a:p>
        </p:txBody>
      </p:sp>
      <p:sp>
        <p:nvSpPr>
          <p:cNvPr id="19" name="Scope chip 8"/>
          <p:cNvSpPr/>
          <p:nvPr/>
        </p:nvSpPr>
        <p:spPr>
          <a:xfrm>
            <a:off x="2455164" y="3575304"/>
            <a:ext cx="1856232" cy="868680"/>
          </a:xfrm>
          <a:prstGeom prst="roundRect">
            <a:avLst>
              <a:gd name="adj" fmla="val 10526"/>
            </a:avLst>
          </a:prstGeom>
          <a:solidFill>
            <a:schemeClr val="bg1"/>
          </a:solidFill>
          <a:ln/>
          <a:effectLst>
            <a:outerShdw sx="100000" sy="100000" kx="0" ky="0" algn="bl" rotWithShape="0" blurRad="101600" dist="25400" dir="5400000">
              <a:srgbClr val="1E1B3A">
                <a:alpha val="12000"/>
              </a:srgbClr>
            </a:outerShdw>
          </a:effectLst>
        </p:spPr>
      </p:sp>
      <p:sp>
        <p:nvSpPr>
          <p:cNvPr id="20" name="Scope text 8"/>
          <p:cNvSpPr txBox="1"/>
          <p:nvPr/>
        </p:nvSpPr>
        <p:spPr>
          <a:xfrm>
            <a:off x="2564892" y="3575304"/>
            <a:ext cx="1645920" cy="868680"/>
          </a:xfrm>
          <a:prstGeom prst="rect">
            <a:avLst/>
          </a:prstGeom>
          <a:noFill/>
          <a:ln/>
        </p:spPr>
        <p:txBody>
          <a:bodyPr wrap="square" lIns="0" tIns="0" rIns="0" bIns="0" rtlCol="0" anchor="ctr"/>
          <a:lstStyle/>
          <a:p>
            <a:pPr indent="0" marL="0">
              <a:buNone/>
            </a:pPr>
            <a:r>
              <a:rPr lang="en-US" sz="1400" b="1" dirty="0">
                <a:solidFill>
                  <a:schemeClr val="tx2"/>
                </a:solidFill>
              </a:rPr>
              <a:t>Attachment support</a:t>
            </a:r>
            <a:endParaRPr lang="en-US" sz="1400" dirty="0"/>
          </a:p>
        </p:txBody>
      </p:sp>
      <p:sp>
        <p:nvSpPr>
          <p:cNvPr id="21" name="Scope chip 9"/>
          <p:cNvSpPr/>
          <p:nvPr/>
        </p:nvSpPr>
        <p:spPr>
          <a:xfrm>
            <a:off x="4453128" y="3575304"/>
            <a:ext cx="1856232" cy="868680"/>
          </a:xfrm>
          <a:prstGeom prst="roundRect">
            <a:avLst>
              <a:gd name="adj" fmla="val 10526"/>
            </a:avLst>
          </a:prstGeom>
          <a:solidFill>
            <a:schemeClr val="bg1"/>
          </a:solidFill>
          <a:ln/>
          <a:effectLst>
            <a:outerShdw sx="100000" sy="100000" kx="0" ky="0" algn="bl" rotWithShape="0" blurRad="101600" dist="25400" dir="5400000">
              <a:srgbClr val="1E1B3A">
                <a:alpha val="12000"/>
              </a:srgbClr>
            </a:outerShdw>
          </a:effectLst>
        </p:spPr>
      </p:sp>
      <p:sp>
        <p:nvSpPr>
          <p:cNvPr id="22" name="Scope text 9"/>
          <p:cNvSpPr txBox="1"/>
          <p:nvPr/>
        </p:nvSpPr>
        <p:spPr>
          <a:xfrm>
            <a:off x="4562856" y="3575304"/>
            <a:ext cx="1645920" cy="868680"/>
          </a:xfrm>
          <a:prstGeom prst="rect">
            <a:avLst/>
          </a:prstGeom>
          <a:noFill/>
          <a:ln/>
        </p:spPr>
        <p:txBody>
          <a:bodyPr wrap="square" lIns="0" tIns="0" rIns="0" bIns="0" rtlCol="0" anchor="ctr"/>
          <a:lstStyle/>
          <a:p>
            <a:pPr indent="0" marL="0">
              <a:buNone/>
            </a:pPr>
            <a:r>
              <a:rPr lang="en-US" sz="1400" b="1" dirty="0">
                <a:solidFill>
                  <a:schemeClr val="tx2"/>
                </a:solidFill>
              </a:rPr>
              <a:t>Responsive web interface</a:t>
            </a:r>
            <a:endParaRPr lang="en-US" sz="1400" dirty="0"/>
          </a:p>
        </p:txBody>
      </p:sp>
      <p:sp>
        <p:nvSpPr>
          <p:cNvPr id="23" name="Future scope panel"/>
          <p:cNvSpPr/>
          <p:nvPr/>
        </p:nvSpPr>
        <p:spPr>
          <a:xfrm>
            <a:off x="6492240" y="1234440"/>
            <a:ext cx="2194560" cy="3291840"/>
          </a:xfrm>
          <a:prstGeom prst="roundRect">
            <a:avLst>
              <a:gd name="adj" fmla="val 4167"/>
            </a:avLst>
          </a:prstGeom>
          <a:solidFill>
            <a:schemeClr val="tx2"/>
          </a:solidFill>
          <a:ln/>
        </p:spPr>
      </p:sp>
      <p:sp>
        <p:nvSpPr>
          <p:cNvPr id="24" name="Future scope heading"/>
          <p:cNvSpPr txBox="1"/>
          <p:nvPr/>
        </p:nvSpPr>
        <p:spPr>
          <a:xfrm>
            <a:off x="6675120" y="1371600"/>
            <a:ext cx="1828800" cy="274320"/>
          </a:xfrm>
          <a:prstGeom prst="rect">
            <a:avLst/>
          </a:prstGeom>
          <a:noFill/>
          <a:ln/>
        </p:spPr>
        <p:txBody>
          <a:bodyPr wrap="square" lIns="0" tIns="0" rIns="0" bIns="0" rtlCol="0" anchor="ctr"/>
          <a:lstStyle/>
          <a:p>
            <a:pPr indent="0" marL="0">
              <a:buNone/>
            </a:pPr>
            <a:r>
              <a:rPr lang="en-US" sz="1400" b="1" spc="200" kern="0" dirty="0">
                <a:solidFill>
                  <a:schemeClr val="accent2"/>
                </a:solidFill>
              </a:rPr>
              <a:t>FUTURE SCOPE</a:t>
            </a:r>
            <a:endParaRPr lang="en-US" sz="1400" dirty="0"/>
          </a:p>
        </p:txBody>
      </p:sp>
      <p:sp>
        <p:nvSpPr>
          <p:cNvPr id="25" name="Future scope list"/>
          <p:cNvSpPr txBox="1"/>
          <p:nvPr/>
        </p:nvSpPr>
        <p:spPr>
          <a:xfrm>
            <a:off x="6675120" y="1783080"/>
            <a:ext cx="1874520" cy="26517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Mobile application</a:t>
            </a:r>
            <a:endParaRPr lang="en-US" sz="1400" dirty="0"/>
          </a:p>
          <a:p>
            <a:pPr marL="342900" indent="-342900">
              <a:spcAft>
                <a:spcPts val="600"/>
              </a:spcAft>
              <a:buSzPct val="100000"/>
              <a:buChar char="•"/>
            </a:pPr>
            <a:r>
              <a:rPr lang="en-US" sz="1400" dirty="0">
                <a:solidFill>
                  <a:schemeClr val="bg1"/>
                </a:solidFill>
              </a:rPr>
              <a:t>Email / SMS / push notifications</a:t>
            </a:r>
            <a:endParaRPr lang="en-US" sz="1400" dirty="0"/>
          </a:p>
          <a:p>
            <a:pPr marL="342900" indent="-342900">
              <a:spcAft>
                <a:spcPts val="600"/>
              </a:spcAft>
              <a:buSzPct val="100000"/>
              <a:buChar char="•"/>
            </a:pPr>
            <a:r>
              <a:rPr lang="en-US" sz="1400" dirty="0">
                <a:solidFill>
                  <a:schemeClr val="bg1"/>
                </a:solidFill>
              </a:rPr>
              <a:t>Advanced reports and analytics</a:t>
            </a:r>
            <a:endParaRPr lang="en-US" sz="1400" dirty="0"/>
          </a:p>
          <a:p>
            <a:pPr marL="342900" indent="-342900">
              <a:spcAft>
                <a:spcPts val="600"/>
              </a:spcAft>
              <a:buSzPct val="100000"/>
              <a:buChar char="•"/>
            </a:pPr>
            <a:r>
              <a:rPr lang="en-US" sz="1400" dirty="0">
                <a:solidFill>
                  <a:schemeClr val="bg1"/>
                </a:solidFill>
              </a:rPr>
              <a:t>AI-based complaint classification</a:t>
            </a:r>
            <a:endParaRPr lang="en-US" sz="1400" dirty="0"/>
          </a:p>
          <a:p>
            <a:pPr marL="342900" indent="-342900">
              <a:spcAft>
                <a:spcPts val="600"/>
              </a:spcAft>
              <a:buSzPct val="100000"/>
              <a:buChar char="•"/>
            </a:pPr>
            <a:r>
              <a:rPr lang="en-US" sz="1400" dirty="0">
                <a:solidFill>
                  <a:schemeClr val="bg1"/>
                </a:solidFill>
              </a:rPr>
              <a:t>Improved cloud deployment and scalability</a:t>
            </a:r>
            <a:endParaRPr lang="en-US" sz="1400" dirty="0"/>
          </a:p>
        </p:txBody>
      </p:sp>
      <p:sp>
        <p:nvSpPr>
          <p:cNvPr id="25" name="Slide Number Placeholder 0"/>
          <p:cNvSpPr>
            <a:spLocks noGrp="1"/>
          </p:cNvSpPr>
          <p:nvPr>
            <p:ph type="sldNum" sz="quarter" idx="4294967295"/>
          </p:nvPr>
        </p:nvSpPr>
        <p:spPr>
          <a:xfrm>
            <a:off x="7955280" y="477316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kicker"/>
          <p:cNvSpPr txBox="1"/>
          <p:nvPr/>
        </p:nvSpPr>
        <p:spPr>
          <a:xfrm>
            <a:off x="457200" y="256032"/>
            <a:ext cx="5486400" cy="237744"/>
          </a:xfrm>
          <a:prstGeom prst="rect">
            <a:avLst/>
          </a:prstGeom>
          <a:noFill/>
          <a:ln/>
        </p:spPr>
        <p:txBody>
          <a:bodyPr wrap="square" lIns="0" tIns="0" rIns="0" bIns="0" rtlCol="0" anchor="ctr"/>
          <a:lstStyle/>
          <a:p>
            <a:pPr indent="0" marL="0">
              <a:buNone/>
            </a:pPr>
            <a:r>
              <a:rPr lang="en-US" sz="1200" b="1" spc="300" kern="0" dirty="0">
                <a:solidFill>
                  <a:schemeClr val="accent1"/>
                </a:solidFill>
              </a:rPr>
              <a:t>SECTION 04</a:t>
            </a:r>
            <a:endParaRPr lang="en-US" sz="1200" dirty="0"/>
          </a:p>
        </p:txBody>
      </p:sp>
      <p:sp>
        <p:nvSpPr>
          <p:cNvPr id="3" name="Text 0"/>
          <p:cNvSpPr/>
          <p:nvPr>
            <p:ph idx="100" type="title" hasCustomPrompt="1"/>
          </p:nvPr>
        </p:nvSpPr>
        <p:spPr>
          <a:xfrm>
            <a:off x="457200" y="475488"/>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System Architecture &amp; Workflow</a:t>
            </a:r>
            <a:endParaRPr lang="en-US" sz="3400" dirty="0"/>
          </a:p>
        </p:txBody>
      </p:sp>
      <p:sp>
        <p:nvSpPr>
          <p:cNvPr id="4" name="Architecture label"/>
          <p:cNvSpPr txBox="1"/>
          <p:nvPr/>
        </p:nvSpPr>
        <p:spPr>
          <a:xfrm>
            <a:off x="457200" y="1207008"/>
            <a:ext cx="3657600" cy="237744"/>
          </a:xfrm>
          <a:prstGeom prst="rect">
            <a:avLst/>
          </a:prstGeom>
          <a:noFill/>
          <a:ln/>
        </p:spPr>
        <p:txBody>
          <a:bodyPr wrap="square" lIns="0" tIns="0" rIns="0" bIns="0" rtlCol="0" anchor="ctr"/>
          <a:lstStyle/>
          <a:p>
            <a:pPr indent="0" marL="0">
              <a:buNone/>
            </a:pPr>
            <a:r>
              <a:rPr lang="en-US" sz="1200" b="1" spc="200" kern="0" dirty="0">
                <a:solidFill>
                  <a:schemeClr val="accent1"/>
                </a:solidFill>
              </a:rPr>
              <a:t>SYSTEM ARCHITECTURE</a:t>
            </a:r>
            <a:endParaRPr lang="en-US" sz="1200" dirty="0"/>
          </a:p>
        </p:txBody>
      </p:sp>
      <p:sp>
        <p:nvSpPr>
          <p:cNvPr id="5" name="Arch box 1"/>
          <p:cNvSpPr/>
          <p:nvPr/>
        </p:nvSpPr>
        <p:spPr>
          <a:xfrm>
            <a:off x="457200" y="1508760"/>
            <a:ext cx="3657600" cy="457200"/>
          </a:xfrm>
          <a:prstGeom prst="roundRect">
            <a:avLst>
              <a:gd name="adj" fmla="val 16000"/>
            </a:avLst>
          </a:prstGeom>
          <a:solidFill>
            <a:schemeClr val="tx2"/>
          </a:solidFill>
          <a:ln/>
        </p:spPr>
      </p:sp>
      <p:sp>
        <p:nvSpPr>
          <p:cNvPr id="6" name="Arch text 1"/>
          <p:cNvSpPr txBox="1"/>
          <p:nvPr/>
        </p:nvSpPr>
        <p:spPr>
          <a:xfrm>
            <a:off x="457200" y="1508760"/>
            <a:ext cx="3657600" cy="457200"/>
          </a:xfrm>
          <a:prstGeom prst="rect">
            <a:avLst/>
          </a:prstGeom>
          <a:noFill/>
          <a:ln/>
        </p:spPr>
        <p:txBody>
          <a:bodyPr wrap="square" lIns="0" tIns="0" rIns="0" bIns="0" rtlCol="0" anchor="ctr"/>
          <a:lstStyle/>
          <a:p>
            <a:pPr algn="ctr" indent="0" marL="0">
              <a:buNone/>
            </a:pPr>
            <a:r>
              <a:rPr lang="en-US" sz="1400" b="1" dirty="0">
                <a:solidFill>
                  <a:schemeClr val="bg1"/>
                </a:solidFill>
              </a:rPr>
              <a:t>User / Staff / Admin</a:t>
            </a:r>
            <a:endParaRPr lang="en-US" sz="1400" dirty="0"/>
          </a:p>
        </p:txBody>
      </p:sp>
      <p:sp>
        <p:nvSpPr>
          <p:cNvPr id="7" name="Arch arrow 1"/>
          <p:cNvSpPr/>
          <p:nvPr/>
        </p:nvSpPr>
        <p:spPr>
          <a:xfrm>
            <a:off x="2286000" y="1965960"/>
            <a:ext cx="0" cy="146304"/>
          </a:xfrm>
          <a:prstGeom prst="line">
            <a:avLst/>
          </a:prstGeom>
          <a:noFill/>
          <a:ln w="19050">
            <a:solidFill>
              <a:schemeClr val="accent4"/>
            </a:solidFill>
            <a:prstDash val="solid"/>
            <a:tailEnd type="triangle"/>
          </a:ln>
        </p:spPr>
      </p:sp>
      <p:sp>
        <p:nvSpPr>
          <p:cNvPr id="8" name="Arch box 2"/>
          <p:cNvSpPr/>
          <p:nvPr/>
        </p:nvSpPr>
        <p:spPr>
          <a:xfrm>
            <a:off x="457200" y="2112264"/>
            <a:ext cx="3657600" cy="457200"/>
          </a:xfrm>
          <a:prstGeom prst="roundRect">
            <a:avLst>
              <a:gd name="adj" fmla="val 16000"/>
            </a:avLst>
          </a:prstGeom>
          <a:solidFill>
            <a:schemeClr val="bg1"/>
          </a:solidFill>
          <a:ln/>
          <a:effectLst>
            <a:outerShdw sx="100000" sy="100000" kx="0" ky="0" algn="bl" rotWithShape="0" blurRad="101600" dist="25400" dir="5400000">
              <a:srgbClr val="1E1B3A">
                <a:alpha val="12000"/>
              </a:srgbClr>
            </a:outerShdw>
          </a:effectLst>
        </p:spPr>
      </p:sp>
      <p:sp>
        <p:nvSpPr>
          <p:cNvPr id="9" name="Arch text 2"/>
          <p:cNvSpPr txBox="1"/>
          <p:nvPr/>
        </p:nvSpPr>
        <p:spPr>
          <a:xfrm>
            <a:off x="457200" y="2112264"/>
            <a:ext cx="3657600" cy="457200"/>
          </a:xfrm>
          <a:prstGeom prst="rect">
            <a:avLst/>
          </a:prstGeom>
          <a:noFill/>
          <a:ln/>
        </p:spPr>
        <p:txBody>
          <a:bodyPr wrap="square" lIns="0" tIns="0" rIns="0" bIns="0" rtlCol="0" anchor="ctr"/>
          <a:lstStyle/>
          <a:p>
            <a:pPr algn="ctr" indent="0" marL="0">
              <a:buNone/>
            </a:pPr>
            <a:r>
              <a:rPr lang="en-US" sz="1400" b="1" dirty="0">
                <a:solidFill>
                  <a:schemeClr val="tx2"/>
                </a:solidFill>
              </a:rPr>
              <a:t>Web Interface  </a:t>
            </a:r>
            <a:pPr algn="ctr" indent="0" marL="0">
              <a:buNone/>
            </a:pPr>
            <a:r>
              <a:rPr lang="en-US" sz="1100" dirty="0">
                <a:solidFill>
                  <a:schemeClr val="tx2"/>
                </a:solidFill>
              </a:rPr>
              <a:t>HTML + CSS + JavaScript</a:t>
            </a:r>
            <a:endParaRPr lang="en-US" sz="1400" dirty="0"/>
          </a:p>
        </p:txBody>
      </p:sp>
      <p:sp>
        <p:nvSpPr>
          <p:cNvPr id="10" name="Arch arrow 2"/>
          <p:cNvSpPr/>
          <p:nvPr/>
        </p:nvSpPr>
        <p:spPr>
          <a:xfrm>
            <a:off x="2286000" y="2569464"/>
            <a:ext cx="0" cy="146304"/>
          </a:xfrm>
          <a:prstGeom prst="line">
            <a:avLst/>
          </a:prstGeom>
          <a:noFill/>
          <a:ln w="19050">
            <a:solidFill>
              <a:schemeClr val="accent4"/>
            </a:solidFill>
            <a:prstDash val="solid"/>
            <a:tailEnd type="triangle"/>
          </a:ln>
        </p:spPr>
      </p:sp>
      <p:sp>
        <p:nvSpPr>
          <p:cNvPr id="11" name="Arch box 3"/>
          <p:cNvSpPr/>
          <p:nvPr/>
        </p:nvSpPr>
        <p:spPr>
          <a:xfrm>
            <a:off x="457200" y="2715768"/>
            <a:ext cx="3657600" cy="457200"/>
          </a:xfrm>
          <a:prstGeom prst="roundRect">
            <a:avLst>
              <a:gd name="adj" fmla="val 16000"/>
            </a:avLst>
          </a:prstGeom>
          <a:solidFill>
            <a:schemeClr val="bg1"/>
          </a:solidFill>
          <a:ln/>
          <a:effectLst>
            <a:outerShdw sx="100000" sy="100000" kx="0" ky="0" algn="bl" rotWithShape="0" blurRad="101600" dist="25400" dir="5400000">
              <a:srgbClr val="1E1B3A">
                <a:alpha val="12000"/>
              </a:srgbClr>
            </a:outerShdw>
          </a:effectLst>
        </p:spPr>
      </p:sp>
      <p:sp>
        <p:nvSpPr>
          <p:cNvPr id="12" name="Arch text 3"/>
          <p:cNvSpPr txBox="1"/>
          <p:nvPr/>
        </p:nvSpPr>
        <p:spPr>
          <a:xfrm>
            <a:off x="457200" y="2715768"/>
            <a:ext cx="3657600" cy="457200"/>
          </a:xfrm>
          <a:prstGeom prst="rect">
            <a:avLst/>
          </a:prstGeom>
          <a:noFill/>
          <a:ln/>
        </p:spPr>
        <p:txBody>
          <a:bodyPr wrap="square" lIns="0" tIns="0" rIns="0" bIns="0" rtlCol="0" anchor="ctr"/>
          <a:lstStyle/>
          <a:p>
            <a:pPr algn="ctr" indent="0" marL="0">
              <a:buNone/>
            </a:pPr>
            <a:r>
              <a:rPr lang="en-US" sz="1400" b="1" dirty="0">
                <a:solidFill>
                  <a:schemeClr val="tx2"/>
                </a:solidFill>
              </a:rPr>
              <a:t>PHP Application</a:t>
            </a:r>
            <a:endParaRPr lang="en-US" sz="1400" dirty="0"/>
          </a:p>
        </p:txBody>
      </p:sp>
      <p:sp>
        <p:nvSpPr>
          <p:cNvPr id="13" name="Arch arrow 3"/>
          <p:cNvSpPr/>
          <p:nvPr/>
        </p:nvSpPr>
        <p:spPr>
          <a:xfrm>
            <a:off x="2286000" y="3172968"/>
            <a:ext cx="0" cy="146304"/>
          </a:xfrm>
          <a:prstGeom prst="line">
            <a:avLst/>
          </a:prstGeom>
          <a:noFill/>
          <a:ln w="19050">
            <a:solidFill>
              <a:schemeClr val="accent4"/>
            </a:solidFill>
            <a:prstDash val="solid"/>
            <a:tailEnd type="triangle"/>
          </a:ln>
        </p:spPr>
      </p:sp>
      <p:sp>
        <p:nvSpPr>
          <p:cNvPr id="14" name="Arch box 4"/>
          <p:cNvSpPr/>
          <p:nvPr/>
        </p:nvSpPr>
        <p:spPr>
          <a:xfrm>
            <a:off x="457200" y="3319272"/>
            <a:ext cx="3657600" cy="457200"/>
          </a:xfrm>
          <a:prstGeom prst="roundRect">
            <a:avLst>
              <a:gd name="adj" fmla="val 16000"/>
            </a:avLst>
          </a:prstGeom>
          <a:solidFill>
            <a:schemeClr val="bg1"/>
          </a:solidFill>
          <a:ln/>
          <a:effectLst>
            <a:outerShdw sx="100000" sy="100000" kx="0" ky="0" algn="bl" rotWithShape="0" blurRad="101600" dist="25400" dir="5400000">
              <a:srgbClr val="1E1B3A">
                <a:alpha val="12000"/>
              </a:srgbClr>
            </a:outerShdw>
          </a:effectLst>
        </p:spPr>
      </p:sp>
      <p:sp>
        <p:nvSpPr>
          <p:cNvPr id="15" name="Arch text 4"/>
          <p:cNvSpPr txBox="1"/>
          <p:nvPr/>
        </p:nvSpPr>
        <p:spPr>
          <a:xfrm>
            <a:off x="457200" y="3319272"/>
            <a:ext cx="3657600" cy="457200"/>
          </a:xfrm>
          <a:prstGeom prst="rect">
            <a:avLst/>
          </a:prstGeom>
          <a:noFill/>
          <a:ln/>
        </p:spPr>
        <p:txBody>
          <a:bodyPr wrap="square" lIns="0" tIns="0" rIns="0" bIns="0" rtlCol="0" anchor="ctr"/>
          <a:lstStyle/>
          <a:p>
            <a:pPr algn="ctr" indent="0" marL="0">
              <a:buNone/>
            </a:pPr>
            <a:r>
              <a:rPr lang="en-US" sz="1400" b="1" dirty="0">
                <a:solidFill>
                  <a:schemeClr val="tx2"/>
                </a:solidFill>
              </a:rPr>
              <a:t>PDO</a:t>
            </a:r>
            <a:endParaRPr lang="en-US" sz="1400" dirty="0"/>
          </a:p>
        </p:txBody>
      </p:sp>
      <p:sp>
        <p:nvSpPr>
          <p:cNvPr id="16" name="Arch arrow 4"/>
          <p:cNvSpPr/>
          <p:nvPr/>
        </p:nvSpPr>
        <p:spPr>
          <a:xfrm>
            <a:off x="2286000" y="3776472"/>
            <a:ext cx="0" cy="146304"/>
          </a:xfrm>
          <a:prstGeom prst="line">
            <a:avLst/>
          </a:prstGeom>
          <a:noFill/>
          <a:ln w="19050">
            <a:solidFill>
              <a:schemeClr val="accent4"/>
            </a:solidFill>
            <a:prstDash val="solid"/>
            <a:tailEnd type="triangle"/>
          </a:ln>
        </p:spPr>
      </p:sp>
      <p:sp>
        <p:nvSpPr>
          <p:cNvPr id="17" name="Arch box 5"/>
          <p:cNvSpPr/>
          <p:nvPr/>
        </p:nvSpPr>
        <p:spPr>
          <a:xfrm>
            <a:off x="457200" y="3922776"/>
            <a:ext cx="3657600" cy="457200"/>
          </a:xfrm>
          <a:prstGeom prst="roundRect">
            <a:avLst>
              <a:gd name="adj" fmla="val 16000"/>
            </a:avLst>
          </a:prstGeom>
          <a:solidFill>
            <a:schemeClr val="accent1"/>
          </a:solidFill>
          <a:ln/>
        </p:spPr>
      </p:sp>
      <p:sp>
        <p:nvSpPr>
          <p:cNvPr id="18" name="Arch text 5"/>
          <p:cNvSpPr txBox="1"/>
          <p:nvPr/>
        </p:nvSpPr>
        <p:spPr>
          <a:xfrm>
            <a:off x="457200" y="3922776"/>
            <a:ext cx="3657600" cy="457200"/>
          </a:xfrm>
          <a:prstGeom prst="rect">
            <a:avLst/>
          </a:prstGeom>
          <a:noFill/>
          <a:ln/>
        </p:spPr>
        <p:txBody>
          <a:bodyPr wrap="square" lIns="0" tIns="0" rIns="0" bIns="0" rtlCol="0" anchor="ctr"/>
          <a:lstStyle/>
          <a:p>
            <a:pPr algn="ctr" indent="0" marL="0">
              <a:buNone/>
            </a:pPr>
            <a:r>
              <a:rPr lang="en-US" sz="1400" b="1" dirty="0">
                <a:solidFill>
                  <a:schemeClr val="bg1"/>
                </a:solidFill>
              </a:rPr>
              <a:t>MySQL Database</a:t>
            </a:r>
            <a:endParaRPr lang="en-US" sz="1400" dirty="0"/>
          </a:p>
        </p:txBody>
      </p:sp>
      <p:sp>
        <p:nvSpPr>
          <p:cNvPr id="19" name="Server note"/>
          <p:cNvSpPr txBox="1"/>
          <p:nvPr/>
        </p:nvSpPr>
        <p:spPr>
          <a:xfrm>
            <a:off x="457200" y="4480560"/>
            <a:ext cx="3657600" cy="228600"/>
          </a:xfrm>
          <a:prstGeom prst="rect">
            <a:avLst/>
          </a:prstGeom>
          <a:noFill/>
          <a:ln/>
        </p:spPr>
        <p:txBody>
          <a:bodyPr wrap="square" lIns="0" tIns="0" rIns="0" bIns="0" rtlCol="0" anchor="ctr"/>
          <a:lstStyle/>
          <a:p>
            <a:pPr indent="0" marL="0">
              <a:buNone/>
            </a:pPr>
            <a:r>
              <a:rPr lang="en-US" sz="1100" dirty="0">
                <a:solidFill>
                  <a:schemeClr val="accent4"/>
                </a:solidFill>
              </a:rPr>
              <a:t>Runs on a local XAMPP / Apache server</a:t>
            </a:r>
            <a:endParaRPr lang="en-US" sz="1100" dirty="0"/>
          </a:p>
        </p:txBody>
      </p:sp>
      <p:sp>
        <p:nvSpPr>
          <p:cNvPr id="20" name="Workflow label"/>
          <p:cNvSpPr txBox="1"/>
          <p:nvPr/>
        </p:nvSpPr>
        <p:spPr>
          <a:xfrm>
            <a:off x="4754880" y="1207008"/>
            <a:ext cx="3657600" cy="237744"/>
          </a:xfrm>
          <a:prstGeom prst="rect">
            <a:avLst/>
          </a:prstGeom>
          <a:noFill/>
          <a:ln/>
        </p:spPr>
        <p:txBody>
          <a:bodyPr wrap="square" lIns="0" tIns="0" rIns="0" bIns="0" rtlCol="0" anchor="ctr"/>
          <a:lstStyle/>
          <a:p>
            <a:pPr indent="0" marL="0">
              <a:buNone/>
            </a:pPr>
            <a:r>
              <a:rPr lang="en-US" sz="1200" b="1" spc="200" kern="0" dirty="0">
                <a:solidFill>
                  <a:schemeClr val="accent1"/>
                </a:solidFill>
              </a:rPr>
              <a:t>COMPLAINT WORKFLOW</a:t>
            </a:r>
            <a:endParaRPr lang="en-US" sz="1200" dirty="0"/>
          </a:p>
        </p:txBody>
      </p:sp>
      <p:sp>
        <p:nvSpPr>
          <p:cNvPr id="21" name="Workflow line"/>
          <p:cNvSpPr/>
          <p:nvPr/>
        </p:nvSpPr>
        <p:spPr>
          <a:xfrm>
            <a:off x="4901184" y="1783080"/>
            <a:ext cx="0" cy="2560320"/>
          </a:xfrm>
          <a:prstGeom prst="line">
            <a:avLst/>
          </a:prstGeom>
          <a:noFill/>
          <a:ln w="25400">
            <a:solidFill>
              <a:schemeClr val="accent5"/>
            </a:solidFill>
            <a:prstDash val="solid"/>
          </a:ln>
        </p:spPr>
      </p:sp>
      <p:sp>
        <p:nvSpPr>
          <p:cNvPr id="22" name="Workflow number 1"/>
          <p:cNvSpPr/>
          <p:nvPr/>
        </p:nvSpPr>
        <p:spPr>
          <a:xfrm>
            <a:off x="4754880" y="1636776"/>
            <a:ext cx="292608" cy="292608"/>
          </a:xfrm>
          <a:prstGeom prst="ellipse">
            <a:avLst/>
          </a:prstGeom>
          <a:solidFill>
            <a:schemeClr val="accent1"/>
          </a:solidFill>
          <a:ln/>
        </p:spPr>
      </p:sp>
      <p:sp>
        <p:nvSpPr>
          <p:cNvPr id="23" name="Workflow number 1 label"/>
          <p:cNvSpPr txBox="1"/>
          <p:nvPr/>
        </p:nvSpPr>
        <p:spPr>
          <a:xfrm>
            <a:off x="4754880" y="163677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24" name="Workflow text 1"/>
          <p:cNvSpPr txBox="1"/>
          <p:nvPr/>
        </p:nvSpPr>
        <p:spPr>
          <a:xfrm>
            <a:off x="5257800" y="1600200"/>
            <a:ext cx="3383280" cy="365760"/>
          </a:xfrm>
          <a:prstGeom prst="rect">
            <a:avLst/>
          </a:prstGeom>
          <a:noFill/>
          <a:ln/>
        </p:spPr>
        <p:txBody>
          <a:bodyPr wrap="square" lIns="0" tIns="0" rIns="0" bIns="0" rtlCol="0" anchor="ctr"/>
          <a:lstStyle/>
          <a:p>
            <a:pPr indent="0" marL="0">
              <a:buNone/>
            </a:pPr>
            <a:r>
              <a:rPr lang="en-US" sz="1400" b="1" dirty="0">
                <a:solidFill>
                  <a:schemeClr val="tx2"/>
                </a:solidFill>
              </a:rPr>
              <a:t>Login</a:t>
            </a:r>
            <a:endParaRPr lang="en-US" sz="1400" dirty="0"/>
          </a:p>
        </p:txBody>
      </p:sp>
      <p:sp>
        <p:nvSpPr>
          <p:cNvPr id="25" name="Workflow number 2"/>
          <p:cNvSpPr/>
          <p:nvPr/>
        </p:nvSpPr>
        <p:spPr>
          <a:xfrm>
            <a:off x="4754880" y="2002536"/>
            <a:ext cx="292608" cy="292608"/>
          </a:xfrm>
          <a:prstGeom prst="ellipse">
            <a:avLst/>
          </a:prstGeom>
          <a:solidFill>
            <a:schemeClr val="accent1"/>
          </a:solidFill>
          <a:ln/>
        </p:spPr>
      </p:sp>
      <p:sp>
        <p:nvSpPr>
          <p:cNvPr id="26" name="Workflow number 2 label"/>
          <p:cNvSpPr txBox="1"/>
          <p:nvPr/>
        </p:nvSpPr>
        <p:spPr>
          <a:xfrm>
            <a:off x="4754880" y="200253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27" name="Workflow text 2"/>
          <p:cNvSpPr txBox="1"/>
          <p:nvPr/>
        </p:nvSpPr>
        <p:spPr>
          <a:xfrm>
            <a:off x="5257800" y="1965960"/>
            <a:ext cx="3383280" cy="365760"/>
          </a:xfrm>
          <a:prstGeom prst="rect">
            <a:avLst/>
          </a:prstGeom>
          <a:noFill/>
          <a:ln/>
        </p:spPr>
        <p:txBody>
          <a:bodyPr wrap="square" lIns="0" tIns="0" rIns="0" bIns="0" rtlCol="0" anchor="ctr"/>
          <a:lstStyle/>
          <a:p>
            <a:pPr indent="0" marL="0">
              <a:buNone/>
            </a:pPr>
            <a:r>
              <a:rPr lang="en-US" sz="1400" b="1" dirty="0">
                <a:solidFill>
                  <a:schemeClr val="tx2"/>
                </a:solidFill>
              </a:rPr>
              <a:t>Submit Complaint</a:t>
            </a:r>
            <a:endParaRPr lang="en-US" sz="1400" dirty="0"/>
          </a:p>
        </p:txBody>
      </p:sp>
      <p:sp>
        <p:nvSpPr>
          <p:cNvPr id="28" name="Workflow number 3"/>
          <p:cNvSpPr/>
          <p:nvPr/>
        </p:nvSpPr>
        <p:spPr>
          <a:xfrm>
            <a:off x="4754880" y="2368296"/>
            <a:ext cx="292608" cy="292608"/>
          </a:xfrm>
          <a:prstGeom prst="ellipse">
            <a:avLst/>
          </a:prstGeom>
          <a:solidFill>
            <a:schemeClr val="accent1"/>
          </a:solidFill>
          <a:ln/>
        </p:spPr>
      </p:sp>
      <p:sp>
        <p:nvSpPr>
          <p:cNvPr id="29" name="Workflow number 3 label"/>
          <p:cNvSpPr txBox="1"/>
          <p:nvPr/>
        </p:nvSpPr>
        <p:spPr>
          <a:xfrm>
            <a:off x="4754880" y="236829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30" name="Workflow text 3"/>
          <p:cNvSpPr txBox="1"/>
          <p:nvPr/>
        </p:nvSpPr>
        <p:spPr>
          <a:xfrm>
            <a:off x="5257800" y="2331720"/>
            <a:ext cx="3383280" cy="365760"/>
          </a:xfrm>
          <a:prstGeom prst="rect">
            <a:avLst/>
          </a:prstGeom>
          <a:noFill/>
          <a:ln/>
        </p:spPr>
        <p:txBody>
          <a:bodyPr wrap="square" lIns="0" tIns="0" rIns="0" bIns="0" rtlCol="0" anchor="ctr"/>
          <a:lstStyle/>
          <a:p>
            <a:pPr indent="0" marL="0">
              <a:buNone/>
            </a:pPr>
            <a:r>
              <a:rPr lang="en-US" sz="1400" b="1" dirty="0">
                <a:solidFill>
                  <a:schemeClr val="tx2"/>
                </a:solidFill>
              </a:rPr>
              <a:t>Database</a:t>
            </a:r>
            <a:endParaRPr lang="en-US" sz="1400" dirty="0"/>
          </a:p>
        </p:txBody>
      </p:sp>
      <p:sp>
        <p:nvSpPr>
          <p:cNvPr id="31" name="Workflow number 4"/>
          <p:cNvSpPr/>
          <p:nvPr/>
        </p:nvSpPr>
        <p:spPr>
          <a:xfrm>
            <a:off x="4754880" y="2734056"/>
            <a:ext cx="292608" cy="292608"/>
          </a:xfrm>
          <a:prstGeom prst="ellipse">
            <a:avLst/>
          </a:prstGeom>
          <a:solidFill>
            <a:schemeClr val="accent1"/>
          </a:solidFill>
          <a:ln/>
        </p:spPr>
      </p:sp>
      <p:sp>
        <p:nvSpPr>
          <p:cNvPr id="32" name="Workflow number 4 label"/>
          <p:cNvSpPr txBox="1"/>
          <p:nvPr/>
        </p:nvSpPr>
        <p:spPr>
          <a:xfrm>
            <a:off x="4754880" y="273405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3" name="Workflow text 4"/>
          <p:cNvSpPr txBox="1"/>
          <p:nvPr/>
        </p:nvSpPr>
        <p:spPr>
          <a:xfrm>
            <a:off x="5257800" y="2697480"/>
            <a:ext cx="3383280" cy="365760"/>
          </a:xfrm>
          <a:prstGeom prst="rect">
            <a:avLst/>
          </a:prstGeom>
          <a:noFill/>
          <a:ln/>
        </p:spPr>
        <p:txBody>
          <a:bodyPr wrap="square" lIns="0" tIns="0" rIns="0" bIns="0" rtlCol="0" anchor="ctr"/>
          <a:lstStyle/>
          <a:p>
            <a:pPr indent="0" marL="0">
              <a:buNone/>
            </a:pPr>
            <a:r>
              <a:rPr lang="en-US" sz="1400" b="1" dirty="0">
                <a:solidFill>
                  <a:schemeClr val="tx2"/>
                </a:solidFill>
              </a:rPr>
              <a:t>Staff / Admin Review</a:t>
            </a:r>
            <a:endParaRPr lang="en-US" sz="1400" dirty="0"/>
          </a:p>
        </p:txBody>
      </p:sp>
      <p:sp>
        <p:nvSpPr>
          <p:cNvPr id="34" name="Workflow number 5"/>
          <p:cNvSpPr/>
          <p:nvPr/>
        </p:nvSpPr>
        <p:spPr>
          <a:xfrm>
            <a:off x="4754880" y="3099816"/>
            <a:ext cx="292608" cy="292608"/>
          </a:xfrm>
          <a:prstGeom prst="ellipse">
            <a:avLst/>
          </a:prstGeom>
          <a:solidFill>
            <a:schemeClr val="accent1"/>
          </a:solidFill>
          <a:ln/>
        </p:spPr>
      </p:sp>
      <p:sp>
        <p:nvSpPr>
          <p:cNvPr id="35" name="Workflow number 5 label"/>
          <p:cNvSpPr txBox="1"/>
          <p:nvPr/>
        </p:nvSpPr>
        <p:spPr>
          <a:xfrm>
            <a:off x="4754880" y="309981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6" name="Workflow text 5"/>
          <p:cNvSpPr txBox="1"/>
          <p:nvPr/>
        </p:nvSpPr>
        <p:spPr>
          <a:xfrm>
            <a:off x="5257800" y="3063240"/>
            <a:ext cx="3383280" cy="365760"/>
          </a:xfrm>
          <a:prstGeom prst="rect">
            <a:avLst/>
          </a:prstGeom>
          <a:noFill/>
          <a:ln/>
        </p:spPr>
        <p:txBody>
          <a:bodyPr wrap="square" lIns="0" tIns="0" rIns="0" bIns="0" rtlCol="0" anchor="ctr"/>
          <a:lstStyle/>
          <a:p>
            <a:pPr indent="0" marL="0">
              <a:buNone/>
            </a:pPr>
            <a:r>
              <a:rPr lang="en-US" sz="1400" b="1" dirty="0">
                <a:solidFill>
                  <a:schemeClr val="tx2"/>
                </a:solidFill>
              </a:rPr>
              <a:t>Process &amp; Respond</a:t>
            </a:r>
            <a:endParaRPr lang="en-US" sz="1400" dirty="0"/>
          </a:p>
        </p:txBody>
      </p:sp>
      <p:sp>
        <p:nvSpPr>
          <p:cNvPr id="37" name="Workflow number 6"/>
          <p:cNvSpPr/>
          <p:nvPr/>
        </p:nvSpPr>
        <p:spPr>
          <a:xfrm>
            <a:off x="4754880" y="3465576"/>
            <a:ext cx="292608" cy="292608"/>
          </a:xfrm>
          <a:prstGeom prst="ellipse">
            <a:avLst/>
          </a:prstGeom>
          <a:solidFill>
            <a:schemeClr val="accent1"/>
          </a:solidFill>
          <a:ln/>
        </p:spPr>
      </p:sp>
      <p:sp>
        <p:nvSpPr>
          <p:cNvPr id="38" name="Workflow number 6 label"/>
          <p:cNvSpPr txBox="1"/>
          <p:nvPr/>
        </p:nvSpPr>
        <p:spPr>
          <a:xfrm>
            <a:off x="4754880" y="346557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9" name="Workflow text 6"/>
          <p:cNvSpPr txBox="1"/>
          <p:nvPr/>
        </p:nvSpPr>
        <p:spPr>
          <a:xfrm>
            <a:off x="5257800" y="3429000"/>
            <a:ext cx="3383280" cy="365760"/>
          </a:xfrm>
          <a:prstGeom prst="rect">
            <a:avLst/>
          </a:prstGeom>
          <a:noFill/>
          <a:ln/>
        </p:spPr>
        <p:txBody>
          <a:bodyPr wrap="square" lIns="0" tIns="0" rIns="0" bIns="0" rtlCol="0" anchor="ctr"/>
          <a:lstStyle/>
          <a:p>
            <a:pPr indent="0" marL="0">
              <a:buNone/>
            </a:pPr>
            <a:r>
              <a:rPr lang="en-US" sz="1400" b="1" dirty="0">
                <a:solidFill>
                  <a:schemeClr val="tx2"/>
                </a:solidFill>
              </a:rPr>
              <a:t>Status Update</a:t>
            </a:r>
            <a:endParaRPr lang="en-US" sz="1400" dirty="0"/>
          </a:p>
        </p:txBody>
      </p:sp>
      <p:sp>
        <p:nvSpPr>
          <p:cNvPr id="40" name="Workflow number 7"/>
          <p:cNvSpPr/>
          <p:nvPr/>
        </p:nvSpPr>
        <p:spPr>
          <a:xfrm>
            <a:off x="4754880" y="3831336"/>
            <a:ext cx="292608" cy="292608"/>
          </a:xfrm>
          <a:prstGeom prst="ellipse">
            <a:avLst/>
          </a:prstGeom>
          <a:solidFill>
            <a:schemeClr val="accent1"/>
          </a:solidFill>
          <a:ln/>
        </p:spPr>
      </p:sp>
      <p:sp>
        <p:nvSpPr>
          <p:cNvPr id="41" name="Workflow number 7 label"/>
          <p:cNvSpPr txBox="1"/>
          <p:nvPr/>
        </p:nvSpPr>
        <p:spPr>
          <a:xfrm>
            <a:off x="4754880" y="383133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2" name="Workflow text 7"/>
          <p:cNvSpPr txBox="1"/>
          <p:nvPr/>
        </p:nvSpPr>
        <p:spPr>
          <a:xfrm>
            <a:off x="5257800" y="3794760"/>
            <a:ext cx="3383280" cy="365760"/>
          </a:xfrm>
          <a:prstGeom prst="rect">
            <a:avLst/>
          </a:prstGeom>
          <a:noFill/>
          <a:ln/>
        </p:spPr>
        <p:txBody>
          <a:bodyPr wrap="square" lIns="0" tIns="0" rIns="0" bIns="0" rtlCol="0" anchor="ctr"/>
          <a:lstStyle/>
          <a:p>
            <a:pPr indent="0" marL="0">
              <a:buNone/>
            </a:pPr>
            <a:r>
              <a:rPr lang="en-US" sz="1400" b="1" dirty="0">
                <a:solidFill>
                  <a:schemeClr val="tx2"/>
                </a:solidFill>
              </a:rPr>
              <a:t>User Tracks Complaint</a:t>
            </a:r>
            <a:endParaRPr lang="en-US" sz="1400" dirty="0"/>
          </a:p>
        </p:txBody>
      </p:sp>
      <p:sp>
        <p:nvSpPr>
          <p:cNvPr id="43" name="Workflow number 8"/>
          <p:cNvSpPr/>
          <p:nvPr/>
        </p:nvSpPr>
        <p:spPr>
          <a:xfrm>
            <a:off x="4754880" y="4197096"/>
            <a:ext cx="292608" cy="292608"/>
          </a:xfrm>
          <a:prstGeom prst="ellipse">
            <a:avLst/>
          </a:prstGeom>
          <a:solidFill>
            <a:schemeClr val="accent3"/>
          </a:solidFill>
          <a:ln/>
        </p:spPr>
      </p:sp>
      <p:sp>
        <p:nvSpPr>
          <p:cNvPr id="44" name="Workflow number 8 label"/>
          <p:cNvSpPr txBox="1"/>
          <p:nvPr/>
        </p:nvSpPr>
        <p:spPr>
          <a:xfrm>
            <a:off x="4754880" y="4197096"/>
            <a:ext cx="292608" cy="292608"/>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5" name="Workflow text 8"/>
          <p:cNvSpPr txBox="1"/>
          <p:nvPr/>
        </p:nvSpPr>
        <p:spPr>
          <a:xfrm>
            <a:off x="5257800" y="4160520"/>
            <a:ext cx="3383280" cy="365760"/>
          </a:xfrm>
          <a:prstGeom prst="rect">
            <a:avLst/>
          </a:prstGeom>
          <a:noFill/>
          <a:ln/>
        </p:spPr>
        <p:txBody>
          <a:bodyPr wrap="square" lIns="0" tIns="0" rIns="0" bIns="0" rtlCol="0" anchor="ctr"/>
          <a:lstStyle/>
          <a:p>
            <a:pPr indent="0" marL="0">
              <a:buNone/>
            </a:pPr>
            <a:r>
              <a:rPr lang="en-US" sz="1400" b="1" dirty="0">
                <a:solidFill>
                  <a:schemeClr val="accent3"/>
                </a:solidFill>
              </a:rPr>
              <a:t>Resolution</a:t>
            </a:r>
            <a:endParaRPr lang="en-US" sz="1400" dirty="0"/>
          </a:p>
        </p:txBody>
      </p:sp>
      <p:sp>
        <p:nvSpPr>
          <p:cNvPr id="25" name="Slide Number Placeholder 0"/>
          <p:cNvSpPr>
            <a:spLocks noGrp="1"/>
          </p:cNvSpPr>
          <p:nvPr>
            <p:ph type="sldNum" sz="quarter" idx="4294967295"/>
          </p:nvPr>
        </p:nvSpPr>
        <p:spPr>
          <a:xfrm>
            <a:off x="7955280" y="477316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kicker"/>
          <p:cNvSpPr txBox="1"/>
          <p:nvPr/>
        </p:nvSpPr>
        <p:spPr>
          <a:xfrm>
            <a:off x="457200" y="256032"/>
            <a:ext cx="5486400" cy="237744"/>
          </a:xfrm>
          <a:prstGeom prst="rect">
            <a:avLst/>
          </a:prstGeom>
          <a:noFill/>
          <a:ln/>
        </p:spPr>
        <p:txBody>
          <a:bodyPr wrap="square" lIns="0" tIns="0" rIns="0" bIns="0" rtlCol="0" anchor="ctr"/>
          <a:lstStyle/>
          <a:p>
            <a:pPr indent="0" marL="0">
              <a:buNone/>
            </a:pPr>
            <a:r>
              <a:rPr lang="en-US" sz="1200" b="1" spc="300" kern="0" dirty="0">
                <a:solidFill>
                  <a:schemeClr val="accent1"/>
                </a:solidFill>
              </a:rPr>
              <a:t>SECTION 05</a:t>
            </a:r>
            <a:endParaRPr lang="en-US" sz="1200" dirty="0"/>
          </a:p>
        </p:txBody>
      </p:sp>
      <p:sp>
        <p:nvSpPr>
          <p:cNvPr id="3" name="Text 0"/>
          <p:cNvSpPr/>
          <p:nvPr>
            <p:ph idx="100" type="title" hasCustomPrompt="1"/>
          </p:nvPr>
        </p:nvSpPr>
        <p:spPr>
          <a:xfrm>
            <a:off x="457200" y="475488"/>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Level-0 Context DFD</a:t>
            </a:r>
            <a:endParaRPr lang="en-US" sz="3400" dirty="0"/>
          </a:p>
        </p:txBody>
      </p:sp>
      <p:sp>
        <p:nvSpPr>
          <p:cNvPr id="4" name="Entity USER"/>
          <p:cNvSpPr/>
          <p:nvPr/>
        </p:nvSpPr>
        <p:spPr>
          <a:xfrm>
            <a:off x="457200" y="1188720"/>
            <a:ext cx="1188720" cy="914400"/>
          </a:xfrm>
          <a:prstGeom prst="rect">
            <a:avLst/>
          </a:prstGeom>
          <a:solidFill>
            <a:schemeClr val="bg1"/>
          </a:solidFill>
          <a:ln w="19050">
            <a:solidFill>
              <a:schemeClr val="tx2"/>
            </a:solidFill>
            <a:prstDash val="solid"/>
          </a:ln>
        </p:spPr>
      </p:sp>
      <p:sp>
        <p:nvSpPr>
          <p:cNvPr id="5" name="Entity label USER"/>
          <p:cNvSpPr txBox="1"/>
          <p:nvPr/>
        </p:nvSpPr>
        <p:spPr>
          <a:xfrm>
            <a:off x="457200" y="1188720"/>
            <a:ext cx="1188720" cy="914400"/>
          </a:xfrm>
          <a:prstGeom prst="rect">
            <a:avLst/>
          </a:prstGeom>
          <a:noFill/>
          <a:ln/>
        </p:spPr>
        <p:txBody>
          <a:bodyPr wrap="square" lIns="0" tIns="0" rIns="0" bIns="0" rtlCol="0" anchor="ctr"/>
          <a:lstStyle/>
          <a:p>
            <a:pPr algn="ctr" indent="0" marL="0">
              <a:buNone/>
            </a:pPr>
            <a:r>
              <a:rPr lang="en-US" sz="1600" b="1" dirty="0">
                <a:solidFill>
                  <a:schemeClr val="tx2"/>
                </a:solidFill>
              </a:rPr>
              <a:t>USER</a:t>
            </a:r>
            <a:endParaRPr lang="en-US" sz="1600" dirty="0"/>
          </a:p>
        </p:txBody>
      </p:sp>
      <p:sp>
        <p:nvSpPr>
          <p:cNvPr id="6" name="Flow out USER"/>
          <p:cNvSpPr txBox="1"/>
          <p:nvPr/>
        </p:nvSpPr>
        <p:spPr>
          <a:xfrm>
            <a:off x="1691640" y="1207008"/>
            <a:ext cx="2103120" cy="347472"/>
          </a:xfrm>
          <a:prstGeom prst="rect">
            <a:avLst/>
          </a:prstGeom>
          <a:noFill/>
          <a:ln/>
        </p:spPr>
        <p:txBody>
          <a:bodyPr wrap="square" lIns="0" tIns="0" rIns="0" bIns="0" rtlCol="0" anchor="b"/>
          <a:lstStyle/>
          <a:p>
            <a:pPr algn="ctr" indent="0" marL="0">
              <a:buNone/>
            </a:pPr>
            <a:r>
              <a:rPr lang="en-US" sz="1100" dirty="0">
                <a:solidFill>
                  <a:schemeClr val="tx1"/>
                </a:solidFill>
              </a:rPr>
              <a:t>Login, complaint, tracking request</a:t>
            </a:r>
            <a:endParaRPr lang="en-US" sz="1100" dirty="0"/>
          </a:p>
        </p:txBody>
      </p:sp>
      <p:sp>
        <p:nvSpPr>
          <p:cNvPr id="7" name="Arrow out USER"/>
          <p:cNvSpPr/>
          <p:nvPr/>
        </p:nvSpPr>
        <p:spPr>
          <a:xfrm>
            <a:off x="1645920" y="1581912"/>
            <a:ext cx="2194560" cy="0"/>
          </a:xfrm>
          <a:prstGeom prst="line">
            <a:avLst/>
          </a:prstGeom>
          <a:noFill/>
          <a:ln w="19050">
            <a:solidFill>
              <a:schemeClr val="accent1"/>
            </a:solidFill>
            <a:prstDash val="solid"/>
            <a:tailEnd type="triangle"/>
          </a:ln>
        </p:spPr>
      </p:sp>
      <p:sp>
        <p:nvSpPr>
          <p:cNvPr id="8" name="Arrow in USER"/>
          <p:cNvSpPr/>
          <p:nvPr/>
        </p:nvSpPr>
        <p:spPr>
          <a:xfrm flipH="1">
            <a:off x="1645920" y="1737360"/>
            <a:ext cx="2194560" cy="0"/>
          </a:xfrm>
          <a:prstGeom prst="line">
            <a:avLst/>
          </a:prstGeom>
          <a:noFill/>
          <a:ln w="19050">
            <a:solidFill>
              <a:schemeClr val="accent4"/>
            </a:solidFill>
            <a:prstDash val="solid"/>
            <a:tailEnd type="triangle"/>
          </a:ln>
        </p:spPr>
      </p:sp>
      <p:sp>
        <p:nvSpPr>
          <p:cNvPr id="9" name="Flow in USER"/>
          <p:cNvSpPr txBox="1"/>
          <p:nvPr/>
        </p:nvSpPr>
        <p:spPr>
          <a:xfrm>
            <a:off x="1691640" y="1764792"/>
            <a:ext cx="2103120" cy="347472"/>
          </a:xfrm>
          <a:prstGeom prst="rect">
            <a:avLst/>
          </a:prstGeom>
          <a:noFill/>
          <a:ln/>
        </p:spPr>
        <p:txBody>
          <a:bodyPr wrap="square" lIns="0" tIns="0" rIns="0" bIns="0" rtlCol="0" anchor="t"/>
          <a:lstStyle/>
          <a:p>
            <a:pPr algn="ctr" indent="0" marL="0">
              <a:buNone/>
            </a:pPr>
            <a:r>
              <a:rPr lang="en-US" sz="1100" dirty="0">
                <a:solidFill>
                  <a:schemeClr val="tx1"/>
                </a:solidFill>
              </a:rPr>
              <a:t>Status, response, notifications</a:t>
            </a:r>
            <a:endParaRPr lang="en-US" sz="1100" dirty="0"/>
          </a:p>
        </p:txBody>
      </p:sp>
      <p:sp>
        <p:nvSpPr>
          <p:cNvPr id="10" name="Entity STAFF"/>
          <p:cNvSpPr/>
          <p:nvPr/>
        </p:nvSpPr>
        <p:spPr>
          <a:xfrm>
            <a:off x="457200" y="2194560"/>
            <a:ext cx="1188720" cy="914400"/>
          </a:xfrm>
          <a:prstGeom prst="rect">
            <a:avLst/>
          </a:prstGeom>
          <a:solidFill>
            <a:schemeClr val="bg1"/>
          </a:solidFill>
          <a:ln w="19050">
            <a:solidFill>
              <a:schemeClr val="tx2"/>
            </a:solidFill>
            <a:prstDash val="solid"/>
          </a:ln>
        </p:spPr>
      </p:sp>
      <p:sp>
        <p:nvSpPr>
          <p:cNvPr id="11" name="Entity label STAFF"/>
          <p:cNvSpPr txBox="1"/>
          <p:nvPr/>
        </p:nvSpPr>
        <p:spPr>
          <a:xfrm>
            <a:off x="457200" y="2194560"/>
            <a:ext cx="1188720" cy="914400"/>
          </a:xfrm>
          <a:prstGeom prst="rect">
            <a:avLst/>
          </a:prstGeom>
          <a:noFill/>
          <a:ln/>
        </p:spPr>
        <p:txBody>
          <a:bodyPr wrap="square" lIns="0" tIns="0" rIns="0" bIns="0" rtlCol="0" anchor="ctr"/>
          <a:lstStyle/>
          <a:p>
            <a:pPr algn="ctr" indent="0" marL="0">
              <a:buNone/>
            </a:pPr>
            <a:r>
              <a:rPr lang="en-US" sz="1600" b="1" dirty="0">
                <a:solidFill>
                  <a:schemeClr val="tx2"/>
                </a:solidFill>
              </a:rPr>
              <a:t>STAFF</a:t>
            </a:r>
            <a:endParaRPr lang="en-US" sz="1600" dirty="0"/>
          </a:p>
        </p:txBody>
      </p:sp>
      <p:sp>
        <p:nvSpPr>
          <p:cNvPr id="12" name="Flow out STAFF"/>
          <p:cNvSpPr txBox="1"/>
          <p:nvPr/>
        </p:nvSpPr>
        <p:spPr>
          <a:xfrm>
            <a:off x="1691640" y="2212848"/>
            <a:ext cx="2103120" cy="347472"/>
          </a:xfrm>
          <a:prstGeom prst="rect">
            <a:avLst/>
          </a:prstGeom>
          <a:noFill/>
          <a:ln/>
        </p:spPr>
        <p:txBody>
          <a:bodyPr wrap="square" lIns="0" tIns="0" rIns="0" bIns="0" rtlCol="0" anchor="b"/>
          <a:lstStyle/>
          <a:p>
            <a:pPr algn="ctr" indent="0" marL="0">
              <a:buNone/>
            </a:pPr>
            <a:r>
              <a:rPr lang="en-US" sz="1100" dirty="0">
                <a:solidFill>
                  <a:schemeClr val="tx1"/>
                </a:solidFill>
              </a:rPr>
              <a:t>Processing, response, status updates</a:t>
            </a:r>
            <a:endParaRPr lang="en-US" sz="1100" dirty="0"/>
          </a:p>
        </p:txBody>
      </p:sp>
      <p:sp>
        <p:nvSpPr>
          <p:cNvPr id="13" name="Arrow out STAFF"/>
          <p:cNvSpPr/>
          <p:nvPr/>
        </p:nvSpPr>
        <p:spPr>
          <a:xfrm>
            <a:off x="1645920" y="2587752"/>
            <a:ext cx="2194560" cy="0"/>
          </a:xfrm>
          <a:prstGeom prst="line">
            <a:avLst/>
          </a:prstGeom>
          <a:noFill/>
          <a:ln w="19050">
            <a:solidFill>
              <a:schemeClr val="accent1"/>
            </a:solidFill>
            <a:prstDash val="solid"/>
            <a:tailEnd type="triangle"/>
          </a:ln>
        </p:spPr>
      </p:sp>
      <p:sp>
        <p:nvSpPr>
          <p:cNvPr id="14" name="Arrow in STAFF"/>
          <p:cNvSpPr/>
          <p:nvPr/>
        </p:nvSpPr>
        <p:spPr>
          <a:xfrm flipH="1">
            <a:off x="1645920" y="2743200"/>
            <a:ext cx="2194560" cy="0"/>
          </a:xfrm>
          <a:prstGeom prst="line">
            <a:avLst/>
          </a:prstGeom>
          <a:noFill/>
          <a:ln w="19050">
            <a:solidFill>
              <a:schemeClr val="accent4"/>
            </a:solidFill>
            <a:prstDash val="solid"/>
            <a:tailEnd type="triangle"/>
          </a:ln>
        </p:spPr>
      </p:sp>
      <p:sp>
        <p:nvSpPr>
          <p:cNvPr id="15" name="Flow in STAFF"/>
          <p:cNvSpPr txBox="1"/>
          <p:nvPr/>
        </p:nvSpPr>
        <p:spPr>
          <a:xfrm>
            <a:off x="1691640" y="2770632"/>
            <a:ext cx="2103120" cy="347472"/>
          </a:xfrm>
          <a:prstGeom prst="rect">
            <a:avLst/>
          </a:prstGeom>
          <a:noFill/>
          <a:ln/>
        </p:spPr>
        <p:txBody>
          <a:bodyPr wrap="square" lIns="0" tIns="0" rIns="0" bIns="0" rtlCol="0" anchor="t"/>
          <a:lstStyle/>
          <a:p>
            <a:pPr algn="ctr" indent="0" marL="0">
              <a:buNone/>
            </a:pPr>
            <a:r>
              <a:rPr lang="en-US" sz="1100" dirty="0">
                <a:solidFill>
                  <a:schemeClr val="tx1"/>
                </a:solidFill>
              </a:rPr>
              <a:t>Submitted complaint information</a:t>
            </a:r>
            <a:endParaRPr lang="en-US" sz="1100" dirty="0"/>
          </a:p>
        </p:txBody>
      </p:sp>
      <p:sp>
        <p:nvSpPr>
          <p:cNvPr id="16" name="Entity ADMIN"/>
          <p:cNvSpPr/>
          <p:nvPr/>
        </p:nvSpPr>
        <p:spPr>
          <a:xfrm>
            <a:off x="457200" y="3200400"/>
            <a:ext cx="1188720" cy="914400"/>
          </a:xfrm>
          <a:prstGeom prst="rect">
            <a:avLst/>
          </a:prstGeom>
          <a:solidFill>
            <a:schemeClr val="bg1"/>
          </a:solidFill>
          <a:ln w="19050">
            <a:solidFill>
              <a:schemeClr val="tx2"/>
            </a:solidFill>
            <a:prstDash val="solid"/>
          </a:ln>
        </p:spPr>
      </p:sp>
      <p:sp>
        <p:nvSpPr>
          <p:cNvPr id="17" name="Entity label ADMIN"/>
          <p:cNvSpPr txBox="1"/>
          <p:nvPr/>
        </p:nvSpPr>
        <p:spPr>
          <a:xfrm>
            <a:off x="457200" y="3200400"/>
            <a:ext cx="1188720" cy="914400"/>
          </a:xfrm>
          <a:prstGeom prst="rect">
            <a:avLst/>
          </a:prstGeom>
          <a:noFill/>
          <a:ln/>
        </p:spPr>
        <p:txBody>
          <a:bodyPr wrap="square" lIns="0" tIns="0" rIns="0" bIns="0" rtlCol="0" anchor="ctr"/>
          <a:lstStyle/>
          <a:p>
            <a:pPr algn="ctr" indent="0" marL="0">
              <a:buNone/>
            </a:pPr>
            <a:r>
              <a:rPr lang="en-US" sz="1600" b="1" dirty="0">
                <a:solidFill>
                  <a:schemeClr val="tx2"/>
                </a:solidFill>
              </a:rPr>
              <a:t>ADMIN</a:t>
            </a:r>
            <a:endParaRPr lang="en-US" sz="1600" dirty="0"/>
          </a:p>
        </p:txBody>
      </p:sp>
      <p:sp>
        <p:nvSpPr>
          <p:cNvPr id="18" name="Flow out ADMIN"/>
          <p:cNvSpPr txBox="1"/>
          <p:nvPr/>
        </p:nvSpPr>
        <p:spPr>
          <a:xfrm>
            <a:off x="1691640" y="3218688"/>
            <a:ext cx="2103120" cy="347472"/>
          </a:xfrm>
          <a:prstGeom prst="rect">
            <a:avLst/>
          </a:prstGeom>
          <a:noFill/>
          <a:ln/>
        </p:spPr>
        <p:txBody>
          <a:bodyPr wrap="square" lIns="0" tIns="0" rIns="0" bIns="0" rtlCol="0" anchor="b"/>
          <a:lstStyle/>
          <a:p>
            <a:pPr algn="ctr" indent="0" marL="0">
              <a:buNone/>
            </a:pPr>
            <a:r>
              <a:rPr lang="en-US" sz="1100" dirty="0">
                <a:solidFill>
                  <a:schemeClr val="tx1"/>
                </a:solidFill>
              </a:rPr>
              <a:t>User, staff, category and complaint management</a:t>
            </a:r>
            <a:endParaRPr lang="en-US" sz="1100" dirty="0"/>
          </a:p>
        </p:txBody>
      </p:sp>
      <p:sp>
        <p:nvSpPr>
          <p:cNvPr id="19" name="Arrow out ADMIN"/>
          <p:cNvSpPr/>
          <p:nvPr/>
        </p:nvSpPr>
        <p:spPr>
          <a:xfrm>
            <a:off x="1645920" y="3593592"/>
            <a:ext cx="2194560" cy="0"/>
          </a:xfrm>
          <a:prstGeom prst="line">
            <a:avLst/>
          </a:prstGeom>
          <a:noFill/>
          <a:ln w="19050">
            <a:solidFill>
              <a:schemeClr val="accent1"/>
            </a:solidFill>
            <a:prstDash val="solid"/>
            <a:tailEnd type="triangle"/>
          </a:ln>
        </p:spPr>
      </p:sp>
      <p:sp>
        <p:nvSpPr>
          <p:cNvPr id="20" name="Arrow in ADMIN"/>
          <p:cNvSpPr/>
          <p:nvPr/>
        </p:nvSpPr>
        <p:spPr>
          <a:xfrm flipH="1">
            <a:off x="1645920" y="3749040"/>
            <a:ext cx="2194560" cy="0"/>
          </a:xfrm>
          <a:prstGeom prst="line">
            <a:avLst/>
          </a:prstGeom>
          <a:noFill/>
          <a:ln w="19050">
            <a:solidFill>
              <a:schemeClr val="accent4"/>
            </a:solidFill>
            <a:prstDash val="solid"/>
            <a:tailEnd type="triangle"/>
          </a:ln>
        </p:spPr>
      </p:sp>
      <p:sp>
        <p:nvSpPr>
          <p:cNvPr id="21" name="Flow in ADMIN"/>
          <p:cNvSpPr txBox="1"/>
          <p:nvPr/>
        </p:nvSpPr>
        <p:spPr>
          <a:xfrm>
            <a:off x="1691640" y="3776472"/>
            <a:ext cx="2103120" cy="347472"/>
          </a:xfrm>
          <a:prstGeom prst="rect">
            <a:avLst/>
          </a:prstGeom>
          <a:noFill/>
          <a:ln/>
        </p:spPr>
        <p:txBody>
          <a:bodyPr wrap="square" lIns="0" tIns="0" rIns="0" bIns="0" rtlCol="0" anchor="t"/>
          <a:lstStyle/>
          <a:p>
            <a:pPr algn="ctr" indent="0" marL="0">
              <a:buNone/>
            </a:pPr>
            <a:r>
              <a:rPr lang="en-US" sz="1100" dirty="0">
                <a:solidFill>
                  <a:schemeClr val="tx1"/>
                </a:solidFill>
              </a:rPr>
              <a:t>System records, complaint information</a:t>
            </a:r>
            <a:endParaRPr lang="en-US" sz="1100" dirty="0"/>
          </a:p>
        </p:txBody>
      </p:sp>
      <p:sp>
        <p:nvSpPr>
          <p:cNvPr id="22" name="Process 0"/>
          <p:cNvSpPr/>
          <p:nvPr/>
        </p:nvSpPr>
        <p:spPr>
          <a:xfrm>
            <a:off x="3840480" y="1188720"/>
            <a:ext cx="1737360" cy="2926080"/>
          </a:xfrm>
          <a:prstGeom prst="roundRect">
            <a:avLst>
              <a:gd name="adj" fmla="val 6316"/>
            </a:avLst>
          </a:prstGeom>
          <a:solidFill>
            <a:schemeClr val="accent1"/>
          </a:solidFill>
          <a:ln/>
        </p:spPr>
      </p:sp>
      <p:sp>
        <p:nvSpPr>
          <p:cNvPr id="23" name="Process 0 label"/>
          <p:cNvSpPr txBox="1"/>
          <p:nvPr/>
        </p:nvSpPr>
        <p:spPr>
          <a:xfrm>
            <a:off x="3931920" y="1188720"/>
            <a:ext cx="1554480" cy="2926080"/>
          </a:xfrm>
          <a:prstGeom prst="rect">
            <a:avLst/>
          </a:prstGeom>
          <a:noFill/>
          <a:ln/>
        </p:spPr>
        <p:txBody>
          <a:bodyPr wrap="square" lIns="0" tIns="0" rIns="0" bIns="0" rtlCol="0" anchor="ctr"/>
          <a:lstStyle/>
          <a:p>
            <a:pPr algn="ctr" indent="0" marL="0">
              <a:buNone/>
            </a:pPr>
            <a:r>
              <a:rPr lang="en-US" sz="1100" dirty="0">
                <a:solidFill>
                  <a:schemeClr val="accent5"/>
                </a:solidFill>
              </a:rPr>
              <a:t>PROCESS 0</a:t>
            </a:r>
            <a:endParaRPr lang="en-US" sz="1100" dirty="0"/>
          </a:p>
          <a:p>
            <a:pPr algn="ctr" indent="0" marL="0">
              <a:buNone/>
            </a:pPr>
            <a:r>
              <a:rPr lang="en-US" sz="1800" b="1" dirty="0">
                <a:solidFill>
                  <a:schemeClr val="bg1"/>
                </a:solidFill>
              </a:rPr>
              <a:t>Complaint Management System</a:t>
            </a:r>
            <a:endParaRPr lang="en-US" sz="1100" dirty="0"/>
          </a:p>
        </p:txBody>
      </p:sp>
      <p:sp>
        <p:nvSpPr>
          <p:cNvPr id="24" name="Arrow to database"/>
          <p:cNvSpPr/>
          <p:nvPr/>
        </p:nvSpPr>
        <p:spPr>
          <a:xfrm>
            <a:off x="5577840" y="2587752"/>
            <a:ext cx="1737360" cy="0"/>
          </a:xfrm>
          <a:prstGeom prst="line">
            <a:avLst/>
          </a:prstGeom>
          <a:noFill/>
          <a:ln w="19050">
            <a:solidFill>
              <a:schemeClr val="accent1"/>
            </a:solidFill>
            <a:prstDash val="solid"/>
            <a:tailEnd type="triangle"/>
          </a:ln>
        </p:spPr>
      </p:sp>
      <p:sp>
        <p:nvSpPr>
          <p:cNvPr id="25" name="Arrow from database"/>
          <p:cNvSpPr/>
          <p:nvPr/>
        </p:nvSpPr>
        <p:spPr>
          <a:xfrm flipH="1">
            <a:off x="5577840" y="2743200"/>
            <a:ext cx="1737360" cy="0"/>
          </a:xfrm>
          <a:prstGeom prst="line">
            <a:avLst/>
          </a:prstGeom>
          <a:noFill/>
          <a:ln w="19050">
            <a:solidFill>
              <a:schemeClr val="accent4"/>
            </a:solidFill>
            <a:prstDash val="solid"/>
            <a:tailEnd type="triangle"/>
          </a:ln>
        </p:spPr>
      </p:sp>
      <p:sp>
        <p:nvSpPr>
          <p:cNvPr id="26" name="Store label"/>
          <p:cNvSpPr txBox="1"/>
          <p:nvPr/>
        </p:nvSpPr>
        <p:spPr>
          <a:xfrm>
            <a:off x="5577840" y="2304288"/>
            <a:ext cx="1737360" cy="256032"/>
          </a:xfrm>
          <a:prstGeom prst="rect">
            <a:avLst/>
          </a:prstGeom>
          <a:noFill/>
          <a:ln/>
        </p:spPr>
        <p:txBody>
          <a:bodyPr wrap="square" lIns="0" tIns="0" rIns="0" bIns="0" rtlCol="0" anchor="b"/>
          <a:lstStyle/>
          <a:p>
            <a:pPr algn="ctr" indent="0" marL="0">
              <a:buNone/>
            </a:pPr>
            <a:r>
              <a:rPr lang="en-US" sz="1100" dirty="0">
                <a:solidFill>
                  <a:schemeClr val="tx1"/>
                </a:solidFill>
              </a:rPr>
              <a:t>Store records</a:t>
            </a:r>
            <a:endParaRPr lang="en-US" sz="1100" dirty="0"/>
          </a:p>
        </p:txBody>
      </p:sp>
      <p:sp>
        <p:nvSpPr>
          <p:cNvPr id="27" name="Retrieve label"/>
          <p:cNvSpPr txBox="1"/>
          <p:nvPr/>
        </p:nvSpPr>
        <p:spPr>
          <a:xfrm>
            <a:off x="5577840" y="2779776"/>
            <a:ext cx="1737360" cy="256032"/>
          </a:xfrm>
          <a:prstGeom prst="rect">
            <a:avLst/>
          </a:prstGeom>
          <a:noFill/>
          <a:ln/>
        </p:spPr>
        <p:txBody>
          <a:bodyPr wrap="square" lIns="0" tIns="0" rIns="0" bIns="0" rtlCol="0" anchor="t"/>
          <a:lstStyle/>
          <a:p>
            <a:pPr algn="ctr" indent="0" marL="0">
              <a:buNone/>
            </a:pPr>
            <a:r>
              <a:rPr lang="en-US" sz="1100" dirty="0">
                <a:solidFill>
                  <a:schemeClr val="tx1"/>
                </a:solidFill>
              </a:rPr>
              <a:t>Retrieve records</a:t>
            </a:r>
            <a:endParaRPr lang="en-US" sz="1100" dirty="0"/>
          </a:p>
        </p:txBody>
      </p:sp>
      <p:sp>
        <p:nvSpPr>
          <p:cNvPr id="28" name="Data store"/>
          <p:cNvSpPr/>
          <p:nvPr/>
        </p:nvSpPr>
        <p:spPr>
          <a:xfrm>
            <a:off x="7315200" y="2194560"/>
            <a:ext cx="1371600" cy="914400"/>
          </a:xfrm>
          <a:prstGeom prst="rect">
            <a:avLst/>
          </a:prstGeom>
          <a:solidFill>
            <a:schemeClr val="bg1"/>
          </a:solidFill>
          <a:ln w="19050">
            <a:solidFill>
              <a:schemeClr val="tx2"/>
            </a:solidFill>
            <a:prstDash val="solid"/>
          </a:ln>
        </p:spPr>
      </p:sp>
      <p:sp>
        <p:nvSpPr>
          <p:cNvPr id="29" name="Data store label"/>
          <p:cNvSpPr txBox="1"/>
          <p:nvPr/>
        </p:nvSpPr>
        <p:spPr>
          <a:xfrm>
            <a:off x="7315200" y="2194560"/>
            <a:ext cx="1371600" cy="914400"/>
          </a:xfrm>
          <a:prstGeom prst="rect">
            <a:avLst/>
          </a:prstGeom>
          <a:noFill/>
          <a:ln/>
        </p:spPr>
        <p:txBody>
          <a:bodyPr wrap="square" lIns="635" tIns="635" rIns="635" bIns="635" rtlCol="0" anchor="ctr"/>
          <a:lstStyle/>
          <a:p>
            <a:pPr algn="ctr" indent="0" marL="0">
              <a:buNone/>
            </a:pPr>
            <a:r>
              <a:rPr lang="en-US" sz="1100" dirty="0">
                <a:solidFill>
                  <a:schemeClr val="accent4"/>
                </a:solidFill>
              </a:rPr>
              <a:t>D1</a:t>
            </a:r>
            <a:endParaRPr lang="en-US" sz="1100" dirty="0"/>
          </a:p>
          <a:p>
            <a:pPr algn="ctr" indent="0" marL="0">
              <a:buNone/>
            </a:pPr>
            <a:r>
              <a:rPr lang="en-US" sz="1400" b="1" dirty="0">
                <a:solidFill>
                  <a:schemeClr val="tx2"/>
                </a:solidFill>
              </a:rPr>
              <a:t>MySQL Database</a:t>
            </a:r>
            <a:endParaRPr lang="en-US" sz="1100" dirty="0"/>
          </a:p>
        </p:txBody>
      </p:sp>
      <p:sp>
        <p:nvSpPr>
          <p:cNvPr id="25" name="Slide Number Placeholder 0"/>
          <p:cNvSpPr>
            <a:spLocks noGrp="1"/>
          </p:cNvSpPr>
          <p:nvPr>
            <p:ph type="sldNum" sz="quarter" idx="4294967295"/>
          </p:nvPr>
        </p:nvSpPr>
        <p:spPr>
          <a:xfrm>
            <a:off x="7955280" y="477316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kicker"/>
          <p:cNvSpPr txBox="1"/>
          <p:nvPr/>
        </p:nvSpPr>
        <p:spPr>
          <a:xfrm>
            <a:off x="457200" y="256032"/>
            <a:ext cx="5486400" cy="237744"/>
          </a:xfrm>
          <a:prstGeom prst="rect">
            <a:avLst/>
          </a:prstGeom>
          <a:noFill/>
          <a:ln/>
        </p:spPr>
        <p:txBody>
          <a:bodyPr wrap="square" lIns="0" tIns="0" rIns="0" bIns="0" rtlCol="0" anchor="ctr"/>
          <a:lstStyle/>
          <a:p>
            <a:pPr indent="0" marL="0">
              <a:buNone/>
            </a:pPr>
            <a:r>
              <a:rPr lang="en-US" sz="1200" b="1" spc="300" kern="0" dirty="0">
                <a:solidFill>
                  <a:schemeClr val="accent1"/>
                </a:solidFill>
              </a:rPr>
              <a:t>SECTION 06</a:t>
            </a:r>
            <a:endParaRPr lang="en-US" sz="1200" dirty="0"/>
          </a:p>
        </p:txBody>
      </p:sp>
      <p:sp>
        <p:nvSpPr>
          <p:cNvPr id="3" name="Text 0"/>
          <p:cNvSpPr/>
          <p:nvPr>
            <p:ph idx="100" type="title" hasCustomPrompt="1"/>
          </p:nvPr>
        </p:nvSpPr>
        <p:spPr>
          <a:xfrm>
            <a:off x="457200" y="475488"/>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Modules</a:t>
            </a:r>
            <a:endParaRPr lang="en-US" sz="3400" dirty="0"/>
          </a:p>
        </p:txBody>
      </p:sp>
      <p:sp>
        <p:nvSpPr>
          <p:cNvPr id="4" name="Module card 1"/>
          <p:cNvSpPr/>
          <p:nvPr/>
        </p:nvSpPr>
        <p:spPr>
          <a:xfrm>
            <a:off x="457200" y="1280160"/>
            <a:ext cx="1920240" cy="1554480"/>
          </a:xfrm>
          <a:prstGeom prst="roundRect">
            <a:avLst>
              <a:gd name="adj" fmla="val 5882"/>
            </a:avLst>
          </a:prstGeom>
          <a:solidFill>
            <a:schemeClr val="bg1"/>
          </a:solidFill>
          <a:ln/>
          <a:effectLst>
            <a:outerShdw sx="100000" sy="100000" kx="0" ky="0" algn="bl" rotWithShape="0" blurRad="101600" dist="25400" dir="5400000">
              <a:srgbClr val="1E1B3A">
                <a:alpha val="12000"/>
              </a:srgbClr>
            </a:outerShdw>
          </a:effectLst>
        </p:spPr>
      </p:sp>
      <p:sp>
        <p:nvSpPr>
          <p:cNvPr id="5" name="Module number 1"/>
          <p:cNvSpPr txBox="1"/>
          <p:nvPr/>
        </p:nvSpPr>
        <p:spPr>
          <a:xfrm>
            <a:off x="640080" y="1389888"/>
            <a:ext cx="914400" cy="256032"/>
          </a:xfrm>
          <a:prstGeom prst="rect">
            <a:avLst/>
          </a:prstGeom>
          <a:noFill/>
          <a:ln/>
        </p:spPr>
        <p:txBody>
          <a:bodyPr wrap="square" lIns="0" tIns="0" rIns="0" bIns="0" rtlCol="0" anchor="ctr"/>
          <a:lstStyle/>
          <a:p>
            <a:pPr indent="0" marL="0">
              <a:buNone/>
            </a:pPr>
            <a:r>
              <a:rPr lang="en-US" sz="1400" b="1" dirty="0">
                <a:solidFill>
                  <a:schemeClr val="accent1"/>
                </a:solidFill>
              </a:rPr>
              <a:t>01</a:t>
            </a:r>
            <a:endParaRPr lang="en-US" sz="1400" dirty="0"/>
          </a:p>
        </p:txBody>
      </p:sp>
      <p:sp>
        <p:nvSpPr>
          <p:cNvPr id="6" name="Module text 1"/>
          <p:cNvSpPr txBox="1"/>
          <p:nvPr/>
        </p:nvSpPr>
        <p:spPr>
          <a:xfrm>
            <a:off x="640080" y="1691640"/>
            <a:ext cx="1554480" cy="105156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Authentication</a:t>
            </a:r>
            <a:endParaRPr lang="en-US" sz="1600" dirty="0"/>
          </a:p>
          <a:p>
            <a:pPr indent="0" marL="0">
              <a:spcAft>
                <a:spcPts val="300"/>
              </a:spcAft>
              <a:buNone/>
            </a:pPr>
            <a:r>
              <a:rPr lang="en-US" sz="1400" dirty="0">
                <a:solidFill>
                  <a:schemeClr val="tx1"/>
                </a:solidFill>
              </a:rPr>
              <a:t>Registration, login and role-based access</a:t>
            </a:r>
            <a:endParaRPr lang="en-US" sz="1600" dirty="0"/>
          </a:p>
        </p:txBody>
      </p:sp>
      <p:sp>
        <p:nvSpPr>
          <p:cNvPr id="7" name="Module card 2"/>
          <p:cNvSpPr/>
          <p:nvPr/>
        </p:nvSpPr>
        <p:spPr>
          <a:xfrm>
            <a:off x="2560320" y="1280160"/>
            <a:ext cx="1920240" cy="1554480"/>
          </a:xfrm>
          <a:prstGeom prst="roundRect">
            <a:avLst>
              <a:gd name="adj" fmla="val 5882"/>
            </a:avLst>
          </a:prstGeom>
          <a:solidFill>
            <a:schemeClr val="bg1"/>
          </a:solidFill>
          <a:ln/>
          <a:effectLst>
            <a:outerShdw sx="100000" sy="100000" kx="0" ky="0" algn="bl" rotWithShape="0" blurRad="101600" dist="25400" dir="5400000">
              <a:srgbClr val="1E1B3A">
                <a:alpha val="12000"/>
              </a:srgbClr>
            </a:outerShdw>
          </a:effectLst>
        </p:spPr>
      </p:sp>
      <p:sp>
        <p:nvSpPr>
          <p:cNvPr id="8" name="Module number 2"/>
          <p:cNvSpPr txBox="1"/>
          <p:nvPr/>
        </p:nvSpPr>
        <p:spPr>
          <a:xfrm>
            <a:off x="2743200" y="1389888"/>
            <a:ext cx="914400" cy="256032"/>
          </a:xfrm>
          <a:prstGeom prst="rect">
            <a:avLst/>
          </a:prstGeom>
          <a:noFill/>
          <a:ln/>
        </p:spPr>
        <p:txBody>
          <a:bodyPr wrap="square" lIns="0" tIns="0" rIns="0" bIns="0" rtlCol="0" anchor="ctr"/>
          <a:lstStyle/>
          <a:p>
            <a:pPr indent="0" marL="0">
              <a:buNone/>
            </a:pPr>
            <a:r>
              <a:rPr lang="en-US" sz="1400" b="1" dirty="0">
                <a:solidFill>
                  <a:schemeClr val="accent1"/>
                </a:solidFill>
              </a:rPr>
              <a:t>02</a:t>
            </a:r>
            <a:endParaRPr lang="en-US" sz="1400" dirty="0"/>
          </a:p>
        </p:txBody>
      </p:sp>
      <p:sp>
        <p:nvSpPr>
          <p:cNvPr id="9" name="Module text 2"/>
          <p:cNvSpPr txBox="1"/>
          <p:nvPr/>
        </p:nvSpPr>
        <p:spPr>
          <a:xfrm>
            <a:off x="2743200" y="1691640"/>
            <a:ext cx="1554480" cy="105156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User Module</a:t>
            </a:r>
            <a:endParaRPr lang="en-US" sz="1600" dirty="0"/>
          </a:p>
          <a:p>
            <a:pPr indent="0" marL="0">
              <a:spcAft>
                <a:spcPts val="300"/>
              </a:spcAft>
              <a:buNone/>
            </a:pPr>
            <a:r>
              <a:rPr lang="en-US" sz="1400" dirty="0">
                <a:solidFill>
                  <a:schemeClr val="tx1"/>
                </a:solidFill>
              </a:rPr>
              <a:t>Complaint submission, tracking and history</a:t>
            </a:r>
            <a:endParaRPr lang="en-US" sz="1600" dirty="0"/>
          </a:p>
        </p:txBody>
      </p:sp>
      <p:sp>
        <p:nvSpPr>
          <p:cNvPr id="10" name="Module card 3"/>
          <p:cNvSpPr/>
          <p:nvPr/>
        </p:nvSpPr>
        <p:spPr>
          <a:xfrm>
            <a:off x="4663440" y="1280160"/>
            <a:ext cx="1920240" cy="1554480"/>
          </a:xfrm>
          <a:prstGeom prst="roundRect">
            <a:avLst>
              <a:gd name="adj" fmla="val 5882"/>
            </a:avLst>
          </a:prstGeom>
          <a:solidFill>
            <a:schemeClr val="bg1"/>
          </a:solidFill>
          <a:ln/>
          <a:effectLst>
            <a:outerShdw sx="100000" sy="100000" kx="0" ky="0" algn="bl" rotWithShape="0" blurRad="101600" dist="25400" dir="5400000">
              <a:srgbClr val="1E1B3A">
                <a:alpha val="12000"/>
              </a:srgbClr>
            </a:outerShdw>
          </a:effectLst>
        </p:spPr>
      </p:sp>
      <p:sp>
        <p:nvSpPr>
          <p:cNvPr id="11" name="Module number 3"/>
          <p:cNvSpPr txBox="1"/>
          <p:nvPr/>
        </p:nvSpPr>
        <p:spPr>
          <a:xfrm>
            <a:off x="4846320" y="1389888"/>
            <a:ext cx="914400" cy="256032"/>
          </a:xfrm>
          <a:prstGeom prst="rect">
            <a:avLst/>
          </a:prstGeom>
          <a:noFill/>
          <a:ln/>
        </p:spPr>
        <p:txBody>
          <a:bodyPr wrap="square" lIns="0" tIns="0" rIns="0" bIns="0" rtlCol="0" anchor="ctr"/>
          <a:lstStyle/>
          <a:p>
            <a:pPr indent="0" marL="0">
              <a:buNone/>
            </a:pPr>
            <a:r>
              <a:rPr lang="en-US" sz="1400" b="1" dirty="0">
                <a:solidFill>
                  <a:schemeClr val="accent1"/>
                </a:solidFill>
              </a:rPr>
              <a:t>03</a:t>
            </a:r>
            <a:endParaRPr lang="en-US" sz="1400" dirty="0"/>
          </a:p>
        </p:txBody>
      </p:sp>
      <p:sp>
        <p:nvSpPr>
          <p:cNvPr id="12" name="Module text 3"/>
          <p:cNvSpPr txBox="1"/>
          <p:nvPr/>
        </p:nvSpPr>
        <p:spPr>
          <a:xfrm>
            <a:off x="4846320" y="1691640"/>
            <a:ext cx="1554480" cy="105156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Staff Module</a:t>
            </a:r>
            <a:endParaRPr lang="en-US" sz="1600" dirty="0"/>
          </a:p>
          <a:p>
            <a:pPr indent="0" marL="0">
              <a:spcAft>
                <a:spcPts val="300"/>
              </a:spcAft>
              <a:buNone/>
            </a:pPr>
            <a:r>
              <a:rPr lang="en-US" sz="1400" dirty="0">
                <a:solidFill>
                  <a:schemeClr val="tx1"/>
                </a:solidFill>
              </a:rPr>
              <a:t>Complaint processing, response and status updates</a:t>
            </a:r>
            <a:endParaRPr lang="en-US" sz="1600" dirty="0"/>
          </a:p>
        </p:txBody>
      </p:sp>
      <p:sp>
        <p:nvSpPr>
          <p:cNvPr id="13" name="Module card 4"/>
          <p:cNvSpPr/>
          <p:nvPr/>
        </p:nvSpPr>
        <p:spPr>
          <a:xfrm>
            <a:off x="6766560" y="1280160"/>
            <a:ext cx="1920240" cy="1554480"/>
          </a:xfrm>
          <a:prstGeom prst="roundRect">
            <a:avLst>
              <a:gd name="adj" fmla="val 5882"/>
            </a:avLst>
          </a:prstGeom>
          <a:solidFill>
            <a:schemeClr val="bg1"/>
          </a:solidFill>
          <a:ln/>
          <a:effectLst>
            <a:outerShdw sx="100000" sy="100000" kx="0" ky="0" algn="bl" rotWithShape="0" blurRad="101600" dist="25400" dir="5400000">
              <a:srgbClr val="1E1B3A">
                <a:alpha val="12000"/>
              </a:srgbClr>
            </a:outerShdw>
          </a:effectLst>
        </p:spPr>
      </p:sp>
      <p:sp>
        <p:nvSpPr>
          <p:cNvPr id="14" name="Module number 4"/>
          <p:cNvSpPr txBox="1"/>
          <p:nvPr/>
        </p:nvSpPr>
        <p:spPr>
          <a:xfrm>
            <a:off x="6949440" y="1389888"/>
            <a:ext cx="914400" cy="256032"/>
          </a:xfrm>
          <a:prstGeom prst="rect">
            <a:avLst/>
          </a:prstGeom>
          <a:noFill/>
          <a:ln/>
        </p:spPr>
        <p:txBody>
          <a:bodyPr wrap="square" lIns="0" tIns="0" rIns="0" bIns="0" rtlCol="0" anchor="ctr"/>
          <a:lstStyle/>
          <a:p>
            <a:pPr indent="0" marL="0">
              <a:buNone/>
            </a:pPr>
            <a:r>
              <a:rPr lang="en-US" sz="1400" b="1" dirty="0">
                <a:solidFill>
                  <a:schemeClr val="accent1"/>
                </a:solidFill>
              </a:rPr>
              <a:t>04</a:t>
            </a:r>
            <a:endParaRPr lang="en-US" sz="1400" dirty="0"/>
          </a:p>
        </p:txBody>
      </p:sp>
      <p:sp>
        <p:nvSpPr>
          <p:cNvPr id="15" name="Module text 4"/>
          <p:cNvSpPr txBox="1"/>
          <p:nvPr/>
        </p:nvSpPr>
        <p:spPr>
          <a:xfrm>
            <a:off x="6949440" y="1691640"/>
            <a:ext cx="1554480" cy="105156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Admin Module</a:t>
            </a:r>
            <a:endParaRPr lang="en-US" sz="1600" dirty="0"/>
          </a:p>
          <a:p>
            <a:pPr indent="0" marL="0">
              <a:spcAft>
                <a:spcPts val="300"/>
              </a:spcAft>
              <a:buNone/>
            </a:pPr>
            <a:r>
              <a:rPr lang="en-US" sz="1400" dirty="0">
                <a:solidFill>
                  <a:schemeClr val="tx1"/>
                </a:solidFill>
              </a:rPr>
              <a:t>Overall system and complaint management</a:t>
            </a:r>
            <a:endParaRPr lang="en-US" sz="1600" dirty="0"/>
          </a:p>
        </p:txBody>
      </p:sp>
      <p:sp>
        <p:nvSpPr>
          <p:cNvPr id="16" name="Module card 5"/>
          <p:cNvSpPr/>
          <p:nvPr/>
        </p:nvSpPr>
        <p:spPr>
          <a:xfrm>
            <a:off x="457200" y="3017520"/>
            <a:ext cx="2624328" cy="1463040"/>
          </a:xfrm>
          <a:prstGeom prst="roundRect">
            <a:avLst>
              <a:gd name="adj" fmla="val 6250"/>
            </a:avLst>
          </a:prstGeom>
          <a:solidFill>
            <a:schemeClr val="bg1"/>
          </a:solidFill>
          <a:ln/>
          <a:effectLst>
            <a:outerShdw sx="100000" sy="100000" kx="0" ky="0" algn="bl" rotWithShape="0" blurRad="101600" dist="25400" dir="5400000">
              <a:srgbClr val="1E1B3A">
                <a:alpha val="12000"/>
              </a:srgbClr>
            </a:outerShdw>
          </a:effectLst>
        </p:spPr>
      </p:sp>
      <p:sp>
        <p:nvSpPr>
          <p:cNvPr id="17" name="Module number 5"/>
          <p:cNvSpPr txBox="1"/>
          <p:nvPr/>
        </p:nvSpPr>
        <p:spPr>
          <a:xfrm>
            <a:off x="640080" y="3127248"/>
            <a:ext cx="914400" cy="256032"/>
          </a:xfrm>
          <a:prstGeom prst="rect">
            <a:avLst/>
          </a:prstGeom>
          <a:noFill/>
          <a:ln/>
        </p:spPr>
        <p:txBody>
          <a:bodyPr wrap="square" lIns="0" tIns="0" rIns="0" bIns="0" rtlCol="0" anchor="ctr"/>
          <a:lstStyle/>
          <a:p>
            <a:pPr indent="0" marL="0">
              <a:buNone/>
            </a:pPr>
            <a:r>
              <a:rPr lang="en-US" sz="1400" b="1" dirty="0">
                <a:solidFill>
                  <a:schemeClr val="accent1"/>
                </a:solidFill>
              </a:rPr>
              <a:t>05</a:t>
            </a:r>
            <a:endParaRPr lang="en-US" sz="1400" dirty="0"/>
          </a:p>
        </p:txBody>
      </p:sp>
      <p:sp>
        <p:nvSpPr>
          <p:cNvPr id="18" name="Module text 5"/>
          <p:cNvSpPr txBox="1"/>
          <p:nvPr/>
        </p:nvSpPr>
        <p:spPr>
          <a:xfrm>
            <a:off x="640080" y="3429000"/>
            <a:ext cx="2258568" cy="96012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Category Management</a:t>
            </a:r>
            <a:endParaRPr lang="en-US" sz="1600" dirty="0"/>
          </a:p>
          <a:p>
            <a:pPr indent="0" marL="0">
              <a:spcAft>
                <a:spcPts val="300"/>
              </a:spcAft>
              <a:buNone/>
            </a:pPr>
            <a:r>
              <a:rPr lang="en-US" sz="1400" dirty="0">
                <a:solidFill>
                  <a:schemeClr val="tx1"/>
                </a:solidFill>
              </a:rPr>
              <a:t>Complaint category management</a:t>
            </a:r>
            <a:endParaRPr lang="en-US" sz="1600" dirty="0"/>
          </a:p>
        </p:txBody>
      </p:sp>
      <p:sp>
        <p:nvSpPr>
          <p:cNvPr id="19" name="Module card 6"/>
          <p:cNvSpPr/>
          <p:nvPr/>
        </p:nvSpPr>
        <p:spPr>
          <a:xfrm>
            <a:off x="3259836" y="3017520"/>
            <a:ext cx="2624328" cy="1463040"/>
          </a:xfrm>
          <a:prstGeom prst="roundRect">
            <a:avLst>
              <a:gd name="adj" fmla="val 6250"/>
            </a:avLst>
          </a:prstGeom>
          <a:solidFill>
            <a:schemeClr val="bg1"/>
          </a:solidFill>
          <a:ln/>
          <a:effectLst>
            <a:outerShdw sx="100000" sy="100000" kx="0" ky="0" algn="bl" rotWithShape="0" blurRad="101600" dist="25400" dir="5400000">
              <a:srgbClr val="1E1B3A">
                <a:alpha val="12000"/>
              </a:srgbClr>
            </a:outerShdw>
          </a:effectLst>
        </p:spPr>
      </p:sp>
      <p:sp>
        <p:nvSpPr>
          <p:cNvPr id="20" name="Module number 6"/>
          <p:cNvSpPr txBox="1"/>
          <p:nvPr/>
        </p:nvSpPr>
        <p:spPr>
          <a:xfrm>
            <a:off x="3442716" y="3127248"/>
            <a:ext cx="914400" cy="256032"/>
          </a:xfrm>
          <a:prstGeom prst="rect">
            <a:avLst/>
          </a:prstGeom>
          <a:noFill/>
          <a:ln/>
        </p:spPr>
        <p:txBody>
          <a:bodyPr wrap="square" lIns="0" tIns="0" rIns="0" bIns="0" rtlCol="0" anchor="ctr"/>
          <a:lstStyle/>
          <a:p>
            <a:pPr indent="0" marL="0">
              <a:buNone/>
            </a:pPr>
            <a:r>
              <a:rPr lang="en-US" sz="1400" b="1" dirty="0">
                <a:solidFill>
                  <a:schemeClr val="accent1"/>
                </a:solidFill>
              </a:rPr>
              <a:t>06</a:t>
            </a:r>
            <a:endParaRPr lang="en-US" sz="1400" dirty="0"/>
          </a:p>
        </p:txBody>
      </p:sp>
      <p:sp>
        <p:nvSpPr>
          <p:cNvPr id="21" name="Module text 6"/>
          <p:cNvSpPr txBox="1"/>
          <p:nvPr/>
        </p:nvSpPr>
        <p:spPr>
          <a:xfrm>
            <a:off x="3442716" y="3429000"/>
            <a:ext cx="2258568" cy="96012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Messaging &amp; Notifications</a:t>
            </a:r>
            <a:endParaRPr lang="en-US" sz="1600" dirty="0"/>
          </a:p>
          <a:p>
            <a:pPr indent="0" marL="0">
              <a:spcAft>
                <a:spcPts val="300"/>
              </a:spcAft>
              <a:buNone/>
            </a:pPr>
            <a:r>
              <a:rPr lang="en-US" sz="1400" dirty="0">
                <a:solidFill>
                  <a:schemeClr val="tx1"/>
                </a:solidFill>
              </a:rPr>
              <a:t>Communication and notification functionality</a:t>
            </a:r>
            <a:endParaRPr lang="en-US" sz="1600" dirty="0"/>
          </a:p>
        </p:txBody>
      </p:sp>
      <p:sp>
        <p:nvSpPr>
          <p:cNvPr id="22" name="Module card 7"/>
          <p:cNvSpPr/>
          <p:nvPr/>
        </p:nvSpPr>
        <p:spPr>
          <a:xfrm>
            <a:off x="6062472" y="3017520"/>
            <a:ext cx="2624328" cy="1463040"/>
          </a:xfrm>
          <a:prstGeom prst="roundRect">
            <a:avLst>
              <a:gd name="adj" fmla="val 6250"/>
            </a:avLst>
          </a:prstGeom>
          <a:solidFill>
            <a:schemeClr val="bg1"/>
          </a:solidFill>
          <a:ln/>
          <a:effectLst>
            <a:outerShdw sx="100000" sy="100000" kx="0" ky="0" algn="bl" rotWithShape="0" blurRad="101600" dist="25400" dir="5400000">
              <a:srgbClr val="1E1B3A">
                <a:alpha val="12000"/>
              </a:srgbClr>
            </a:outerShdw>
          </a:effectLst>
        </p:spPr>
      </p:sp>
      <p:sp>
        <p:nvSpPr>
          <p:cNvPr id="23" name="Module number 7"/>
          <p:cNvSpPr txBox="1"/>
          <p:nvPr/>
        </p:nvSpPr>
        <p:spPr>
          <a:xfrm>
            <a:off x="6245352" y="3127248"/>
            <a:ext cx="914400" cy="256032"/>
          </a:xfrm>
          <a:prstGeom prst="rect">
            <a:avLst/>
          </a:prstGeom>
          <a:noFill/>
          <a:ln/>
        </p:spPr>
        <p:txBody>
          <a:bodyPr wrap="square" lIns="0" tIns="0" rIns="0" bIns="0" rtlCol="0" anchor="ctr"/>
          <a:lstStyle/>
          <a:p>
            <a:pPr indent="0" marL="0">
              <a:buNone/>
            </a:pPr>
            <a:r>
              <a:rPr lang="en-US" sz="1400" b="1" dirty="0">
                <a:solidFill>
                  <a:schemeClr val="accent1"/>
                </a:solidFill>
              </a:rPr>
              <a:t>07</a:t>
            </a:r>
            <a:endParaRPr lang="en-US" sz="1400" dirty="0"/>
          </a:p>
        </p:txBody>
      </p:sp>
      <p:sp>
        <p:nvSpPr>
          <p:cNvPr id="24" name="Module text 7"/>
          <p:cNvSpPr txBox="1"/>
          <p:nvPr/>
        </p:nvSpPr>
        <p:spPr>
          <a:xfrm>
            <a:off x="6245352" y="3429000"/>
            <a:ext cx="2258568" cy="960120"/>
          </a:xfrm>
          <a:prstGeom prst="rect">
            <a:avLst/>
          </a:prstGeom>
          <a:noFill/>
          <a:ln/>
        </p:spPr>
        <p:txBody>
          <a:bodyPr wrap="square" lIns="0" tIns="0" rIns="0" bIns="0" rtlCol="0" anchor="t"/>
          <a:lstStyle/>
          <a:p>
            <a:pPr indent="0" marL="0">
              <a:spcAft>
                <a:spcPts val="300"/>
              </a:spcAft>
              <a:buNone/>
            </a:pPr>
            <a:r>
              <a:rPr lang="en-US" sz="1600" b="1" dirty="0">
                <a:solidFill>
                  <a:schemeClr val="tx2"/>
                </a:solidFill>
              </a:rPr>
              <a:t>Complaint Management</a:t>
            </a:r>
            <a:endParaRPr lang="en-US" sz="1600" dirty="0"/>
          </a:p>
          <a:p>
            <a:pPr indent="0" marL="0">
              <a:spcAft>
                <a:spcPts val="300"/>
              </a:spcAft>
              <a:buNone/>
            </a:pPr>
            <a:r>
              <a:rPr lang="en-US" sz="1400" dirty="0">
                <a:solidFill>
                  <a:schemeClr val="tx1"/>
                </a:solidFill>
              </a:rPr>
              <a:t>Complaint records, attachments and status workflow</a:t>
            </a:r>
            <a:endParaRPr lang="en-US" sz="1600" dirty="0"/>
          </a:p>
        </p:txBody>
      </p:sp>
      <p:sp>
        <p:nvSpPr>
          <p:cNvPr id="25" name="Slide Number Placeholder 0"/>
          <p:cNvSpPr>
            <a:spLocks noGrp="1"/>
          </p:cNvSpPr>
          <p:nvPr>
            <p:ph type="sldNum" sz="quarter" idx="4294967295"/>
          </p:nvPr>
        </p:nvSpPr>
        <p:spPr>
          <a:xfrm>
            <a:off x="7955280" y="477316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kicker"/>
          <p:cNvSpPr txBox="1"/>
          <p:nvPr/>
        </p:nvSpPr>
        <p:spPr>
          <a:xfrm>
            <a:off x="457200" y="256032"/>
            <a:ext cx="5486400" cy="237744"/>
          </a:xfrm>
          <a:prstGeom prst="rect">
            <a:avLst/>
          </a:prstGeom>
          <a:noFill/>
          <a:ln/>
        </p:spPr>
        <p:txBody>
          <a:bodyPr wrap="square" lIns="0" tIns="0" rIns="0" bIns="0" rtlCol="0" anchor="ctr"/>
          <a:lstStyle/>
          <a:p>
            <a:pPr indent="0" marL="0">
              <a:buNone/>
            </a:pPr>
            <a:r>
              <a:rPr lang="en-US" sz="1200" b="1" spc="300" kern="0" dirty="0">
                <a:solidFill>
                  <a:schemeClr val="accent1"/>
                </a:solidFill>
              </a:rPr>
              <a:t>SECTION 07</a:t>
            </a:r>
            <a:endParaRPr lang="en-US" sz="1200" dirty="0"/>
          </a:p>
        </p:txBody>
      </p:sp>
      <p:sp>
        <p:nvSpPr>
          <p:cNvPr id="3" name="Text 0"/>
          <p:cNvSpPr/>
          <p:nvPr>
            <p:ph idx="100" type="title" hasCustomPrompt="1"/>
          </p:nvPr>
        </p:nvSpPr>
        <p:spPr>
          <a:xfrm>
            <a:off x="457200" y="475488"/>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Security &amp; Validation</a:t>
            </a:r>
            <a:endParaRPr lang="en-US" sz="3400" dirty="0"/>
          </a:p>
        </p:txBody>
      </p:sp>
      <p:sp>
        <p:nvSpPr>
          <p:cNvPr id="4" name="Security row 1"/>
          <p:cNvSpPr/>
          <p:nvPr/>
        </p:nvSpPr>
        <p:spPr>
          <a:xfrm>
            <a:off x="457200" y="1280160"/>
            <a:ext cx="8229600" cy="713232"/>
          </a:xfrm>
          <a:prstGeom prst="roundRect">
            <a:avLst>
              <a:gd name="adj" fmla="val 12821"/>
            </a:avLst>
          </a:prstGeom>
          <a:solidFill>
            <a:schemeClr val="bg1"/>
          </a:solidFill>
          <a:ln/>
          <a:effectLst>
            <a:outerShdw sx="100000" sy="100000" kx="0" ky="0" algn="bl" rotWithShape="0" blurRad="101600" dist="25400" dir="5400000">
              <a:srgbClr val="1E1B3A">
                <a:alpha val="12000"/>
              </a:srgbClr>
            </a:outerShdw>
          </a:effectLst>
        </p:spPr>
      </p:sp>
      <p:sp>
        <p:nvSpPr>
          <p:cNvPr id="5" name="Security icon circle 1"/>
          <p:cNvSpPr/>
          <p:nvPr/>
        </p:nvSpPr>
        <p:spPr>
          <a:xfrm>
            <a:off x="685800" y="1385316"/>
            <a:ext cx="502920" cy="502920"/>
          </a:xfrm>
          <a:prstGeom prst="ellipse">
            <a:avLst/>
          </a:prstGeom>
          <a:solidFill>
            <a:schemeClr val="accent1"/>
          </a:solidFill>
          <a:ln/>
        </p:spPr>
      </p:sp>
      <p:sp>
        <p:nvSpPr>
          <p:cNvPr id="6" name="Security icon circle 1 label"/>
          <p:cNvSpPr txBox="1"/>
          <p:nvPr/>
        </p:nvSpPr>
        <p:spPr>
          <a:xfrm>
            <a:off x="685800" y="1385316"/>
            <a:ext cx="502920" cy="502920"/>
          </a:xfrm>
          <a:prstGeom prst="rect">
            <a:avLst/>
          </a:prstGeom>
          <a:noFill/>
          <a:ln/>
        </p:spPr>
        <p:txBody>
          <a:bodyPr wrap="square" lIns="0" tIns="0" rIns="0" bIns="0" rtlCol="0" anchor="ctr"/>
          <a:lstStyle/>
          <a:p>
            <a:pPr algn="ctr" indent="0" marL="0">
              <a:buNone/>
            </a:pPr>
            <a:endParaRPr lang="en-US" sz="1200" dirty="0"/>
          </a:p>
        </p:txBody>
      </p:sp>
      <p:pic>
        <p:nvPicPr>
          <p:cNvPr id="7" name="Security icon 1" descr="Authentication icon">    </p:cNvPr>
          <p:cNvPicPr>
            <a:picLocks noChangeAspect="1"/>
          </p:cNvPicPr>
          <p:nvPr/>
        </p:nvPicPr>
        <p:blipFill>
          <a:blip r:embed="rId1"/>
          <a:stretch>
            <a:fillRect/>
          </a:stretch>
        </p:blipFill>
        <p:spPr>
          <a:xfrm>
            <a:off x="832104" y="1527048"/>
            <a:ext cx="219456" cy="219456"/>
          </a:xfrm>
          <a:prstGeom prst="rect">
            <a:avLst/>
          </a:prstGeom>
        </p:spPr>
      </p:pic>
      <p:sp>
        <p:nvSpPr>
          <p:cNvPr id="8" name="Security heading 1"/>
          <p:cNvSpPr txBox="1"/>
          <p:nvPr/>
        </p:nvSpPr>
        <p:spPr>
          <a:xfrm>
            <a:off x="1463040" y="1280160"/>
            <a:ext cx="2743200" cy="713232"/>
          </a:xfrm>
          <a:prstGeom prst="rect">
            <a:avLst/>
          </a:prstGeom>
          <a:noFill/>
          <a:ln/>
        </p:spPr>
        <p:txBody>
          <a:bodyPr wrap="square" lIns="0" tIns="0" rIns="0" bIns="0" rtlCol="0" anchor="ctr"/>
          <a:lstStyle/>
          <a:p>
            <a:pPr indent="0" marL="0">
              <a:buNone/>
            </a:pPr>
            <a:r>
              <a:rPr lang="en-US" sz="1800" b="1" dirty="0">
                <a:solidFill>
                  <a:schemeClr val="tx2"/>
                </a:solidFill>
              </a:rPr>
              <a:t>Authentication</a:t>
            </a:r>
            <a:endParaRPr lang="en-US" sz="1800" dirty="0"/>
          </a:p>
        </p:txBody>
      </p:sp>
      <p:sp>
        <p:nvSpPr>
          <p:cNvPr id="9" name="Security text 1"/>
          <p:cNvSpPr txBox="1"/>
          <p:nvPr/>
        </p:nvSpPr>
        <p:spPr>
          <a:xfrm>
            <a:off x="4297680" y="1280160"/>
            <a:ext cx="4206240" cy="713232"/>
          </a:xfrm>
          <a:prstGeom prst="rect">
            <a:avLst/>
          </a:prstGeom>
          <a:noFill/>
          <a:ln/>
        </p:spPr>
        <p:txBody>
          <a:bodyPr wrap="square" lIns="0" tIns="0" rIns="0" bIns="0" rtlCol="0" anchor="ctr"/>
          <a:lstStyle/>
          <a:p>
            <a:pPr indent="0" marL="0">
              <a:buNone/>
            </a:pPr>
            <a:r>
              <a:rPr lang="en-US" sz="1400" dirty="0">
                <a:solidFill>
                  <a:schemeClr val="tx1"/>
                </a:solidFill>
              </a:rPr>
              <a:t>Users log in to access the system.</a:t>
            </a:r>
            <a:endParaRPr lang="en-US" sz="1400" dirty="0"/>
          </a:p>
        </p:txBody>
      </p:sp>
      <p:sp>
        <p:nvSpPr>
          <p:cNvPr id="10" name="Security row 2"/>
          <p:cNvSpPr/>
          <p:nvPr/>
        </p:nvSpPr>
        <p:spPr>
          <a:xfrm>
            <a:off x="457200" y="2103120"/>
            <a:ext cx="8229600" cy="713232"/>
          </a:xfrm>
          <a:prstGeom prst="roundRect">
            <a:avLst>
              <a:gd name="adj" fmla="val 12821"/>
            </a:avLst>
          </a:prstGeom>
          <a:solidFill>
            <a:schemeClr val="bg1"/>
          </a:solidFill>
          <a:ln/>
          <a:effectLst>
            <a:outerShdw sx="100000" sy="100000" kx="0" ky="0" algn="bl" rotWithShape="0" blurRad="101600" dist="25400" dir="5400000">
              <a:srgbClr val="1E1B3A">
                <a:alpha val="12000"/>
              </a:srgbClr>
            </a:outerShdw>
          </a:effectLst>
        </p:spPr>
      </p:sp>
      <p:sp>
        <p:nvSpPr>
          <p:cNvPr id="11" name="Security icon circle 2"/>
          <p:cNvSpPr/>
          <p:nvPr/>
        </p:nvSpPr>
        <p:spPr>
          <a:xfrm>
            <a:off x="685800" y="2208276"/>
            <a:ext cx="502920" cy="502920"/>
          </a:xfrm>
          <a:prstGeom prst="ellipse">
            <a:avLst/>
          </a:prstGeom>
          <a:solidFill>
            <a:schemeClr val="accent1"/>
          </a:solidFill>
          <a:ln/>
        </p:spPr>
      </p:sp>
      <p:sp>
        <p:nvSpPr>
          <p:cNvPr id="12" name="Security icon circle 2 label"/>
          <p:cNvSpPr txBox="1"/>
          <p:nvPr/>
        </p:nvSpPr>
        <p:spPr>
          <a:xfrm>
            <a:off x="685800" y="2208276"/>
            <a:ext cx="502920" cy="502920"/>
          </a:xfrm>
          <a:prstGeom prst="rect">
            <a:avLst/>
          </a:prstGeom>
          <a:noFill/>
          <a:ln/>
        </p:spPr>
        <p:txBody>
          <a:bodyPr wrap="square" lIns="0" tIns="0" rIns="0" bIns="0" rtlCol="0" anchor="ctr"/>
          <a:lstStyle/>
          <a:p>
            <a:pPr algn="ctr" indent="0" marL="0">
              <a:buNone/>
            </a:pPr>
            <a:endParaRPr lang="en-US" sz="1200" dirty="0"/>
          </a:p>
        </p:txBody>
      </p:sp>
      <p:pic>
        <p:nvPicPr>
          <p:cNvPr id="13" name="Security icon 2" descr="Role-Based Access icon">    </p:cNvPr>
          <p:cNvPicPr>
            <a:picLocks noChangeAspect="1"/>
          </p:cNvPicPr>
          <p:nvPr/>
        </p:nvPicPr>
        <p:blipFill>
          <a:blip r:embed="rId2"/>
          <a:stretch>
            <a:fillRect/>
          </a:stretch>
        </p:blipFill>
        <p:spPr>
          <a:xfrm>
            <a:off x="832104" y="2350008"/>
            <a:ext cx="219456" cy="219456"/>
          </a:xfrm>
          <a:prstGeom prst="rect">
            <a:avLst/>
          </a:prstGeom>
        </p:spPr>
      </p:pic>
      <p:sp>
        <p:nvSpPr>
          <p:cNvPr id="14" name="Security heading 2"/>
          <p:cNvSpPr txBox="1"/>
          <p:nvPr/>
        </p:nvSpPr>
        <p:spPr>
          <a:xfrm>
            <a:off x="1463040" y="2103120"/>
            <a:ext cx="2743200" cy="713232"/>
          </a:xfrm>
          <a:prstGeom prst="rect">
            <a:avLst/>
          </a:prstGeom>
          <a:noFill/>
          <a:ln/>
        </p:spPr>
        <p:txBody>
          <a:bodyPr wrap="square" lIns="0" tIns="0" rIns="0" bIns="0" rtlCol="0" anchor="ctr"/>
          <a:lstStyle/>
          <a:p>
            <a:pPr indent="0" marL="0">
              <a:buNone/>
            </a:pPr>
            <a:r>
              <a:rPr lang="en-US" sz="1800" b="1" dirty="0">
                <a:solidFill>
                  <a:schemeClr val="tx2"/>
                </a:solidFill>
              </a:rPr>
              <a:t>Role-Based Access</a:t>
            </a:r>
            <a:endParaRPr lang="en-US" sz="1800" dirty="0"/>
          </a:p>
        </p:txBody>
      </p:sp>
      <p:sp>
        <p:nvSpPr>
          <p:cNvPr id="15" name="Security text 2"/>
          <p:cNvSpPr txBox="1"/>
          <p:nvPr/>
        </p:nvSpPr>
        <p:spPr>
          <a:xfrm>
            <a:off x="4297680" y="2103120"/>
            <a:ext cx="4206240" cy="713232"/>
          </a:xfrm>
          <a:prstGeom prst="rect">
            <a:avLst/>
          </a:prstGeom>
          <a:noFill/>
          <a:ln/>
        </p:spPr>
        <p:txBody>
          <a:bodyPr wrap="square" lIns="0" tIns="0" rIns="0" bIns="0" rtlCol="0" anchor="ctr"/>
          <a:lstStyle/>
          <a:p>
            <a:pPr indent="0" marL="0">
              <a:buNone/>
            </a:pPr>
            <a:r>
              <a:rPr lang="en-US" sz="1400" dirty="0">
                <a:solidFill>
                  <a:schemeClr val="tx1"/>
                </a:solidFill>
              </a:rPr>
              <a:t>Separate access levels for User, Staff and Admin.</a:t>
            </a:r>
            <a:endParaRPr lang="en-US" sz="1400" dirty="0"/>
          </a:p>
        </p:txBody>
      </p:sp>
      <p:sp>
        <p:nvSpPr>
          <p:cNvPr id="16" name="Security row 3"/>
          <p:cNvSpPr/>
          <p:nvPr/>
        </p:nvSpPr>
        <p:spPr>
          <a:xfrm>
            <a:off x="457200" y="2926080"/>
            <a:ext cx="8229600" cy="713232"/>
          </a:xfrm>
          <a:prstGeom prst="roundRect">
            <a:avLst>
              <a:gd name="adj" fmla="val 12821"/>
            </a:avLst>
          </a:prstGeom>
          <a:solidFill>
            <a:schemeClr val="bg1"/>
          </a:solidFill>
          <a:ln/>
          <a:effectLst>
            <a:outerShdw sx="100000" sy="100000" kx="0" ky="0" algn="bl" rotWithShape="0" blurRad="101600" dist="25400" dir="5400000">
              <a:srgbClr val="1E1B3A">
                <a:alpha val="12000"/>
              </a:srgbClr>
            </a:outerShdw>
          </a:effectLst>
        </p:spPr>
      </p:sp>
      <p:sp>
        <p:nvSpPr>
          <p:cNvPr id="17" name="Security icon circle 3"/>
          <p:cNvSpPr/>
          <p:nvPr/>
        </p:nvSpPr>
        <p:spPr>
          <a:xfrm>
            <a:off x="685800" y="3031236"/>
            <a:ext cx="502920" cy="502920"/>
          </a:xfrm>
          <a:prstGeom prst="ellipse">
            <a:avLst/>
          </a:prstGeom>
          <a:solidFill>
            <a:schemeClr val="accent1"/>
          </a:solidFill>
          <a:ln/>
        </p:spPr>
      </p:sp>
      <p:sp>
        <p:nvSpPr>
          <p:cNvPr id="18" name="Security icon circle 3 label"/>
          <p:cNvSpPr txBox="1"/>
          <p:nvPr/>
        </p:nvSpPr>
        <p:spPr>
          <a:xfrm>
            <a:off x="685800" y="3031236"/>
            <a:ext cx="502920" cy="502920"/>
          </a:xfrm>
          <a:prstGeom prst="rect">
            <a:avLst/>
          </a:prstGeom>
          <a:noFill/>
          <a:ln/>
        </p:spPr>
        <p:txBody>
          <a:bodyPr wrap="square" lIns="0" tIns="0" rIns="0" bIns="0" rtlCol="0" anchor="ctr"/>
          <a:lstStyle/>
          <a:p>
            <a:pPr algn="ctr" indent="0" marL="0">
              <a:buNone/>
            </a:pPr>
            <a:endParaRPr lang="en-US" sz="1200" dirty="0"/>
          </a:p>
        </p:txBody>
      </p:sp>
      <p:pic>
        <p:nvPicPr>
          <p:cNvPr id="19" name="Security icon 3" descr="PDO Database Access icon">    </p:cNvPr>
          <p:cNvPicPr>
            <a:picLocks noChangeAspect="1"/>
          </p:cNvPicPr>
          <p:nvPr/>
        </p:nvPicPr>
        <p:blipFill>
          <a:blip r:embed="rId3"/>
          <a:stretch>
            <a:fillRect/>
          </a:stretch>
        </p:blipFill>
        <p:spPr>
          <a:xfrm>
            <a:off x="832104" y="3172968"/>
            <a:ext cx="219456" cy="219456"/>
          </a:xfrm>
          <a:prstGeom prst="rect">
            <a:avLst/>
          </a:prstGeom>
        </p:spPr>
      </p:pic>
      <p:sp>
        <p:nvSpPr>
          <p:cNvPr id="20" name="Security heading 3"/>
          <p:cNvSpPr txBox="1"/>
          <p:nvPr/>
        </p:nvSpPr>
        <p:spPr>
          <a:xfrm>
            <a:off x="1463040" y="2926080"/>
            <a:ext cx="2743200" cy="713232"/>
          </a:xfrm>
          <a:prstGeom prst="rect">
            <a:avLst/>
          </a:prstGeom>
          <a:noFill/>
          <a:ln/>
        </p:spPr>
        <p:txBody>
          <a:bodyPr wrap="square" lIns="0" tIns="0" rIns="0" bIns="0" rtlCol="0" anchor="ctr"/>
          <a:lstStyle/>
          <a:p>
            <a:pPr indent="0" marL="0">
              <a:buNone/>
            </a:pPr>
            <a:r>
              <a:rPr lang="en-US" sz="1800" b="1" dirty="0">
                <a:solidFill>
                  <a:schemeClr val="tx2"/>
                </a:solidFill>
              </a:rPr>
              <a:t>PDO Database Access</a:t>
            </a:r>
            <a:endParaRPr lang="en-US" sz="1800" dirty="0"/>
          </a:p>
        </p:txBody>
      </p:sp>
      <p:sp>
        <p:nvSpPr>
          <p:cNvPr id="21" name="Security text 3"/>
          <p:cNvSpPr txBox="1"/>
          <p:nvPr/>
        </p:nvSpPr>
        <p:spPr>
          <a:xfrm>
            <a:off x="4297680" y="2926080"/>
            <a:ext cx="4206240" cy="713232"/>
          </a:xfrm>
          <a:prstGeom prst="rect">
            <a:avLst/>
          </a:prstGeom>
          <a:noFill/>
          <a:ln/>
        </p:spPr>
        <p:txBody>
          <a:bodyPr wrap="square" lIns="0" tIns="0" rIns="0" bIns="0" rtlCol="0" anchor="ctr"/>
          <a:lstStyle/>
          <a:p>
            <a:pPr indent="0" marL="0">
              <a:buNone/>
            </a:pPr>
            <a:r>
              <a:rPr lang="en-US" sz="1400" dirty="0">
                <a:solidFill>
                  <a:schemeClr val="tx1"/>
                </a:solidFill>
              </a:rPr>
              <a:t>PHP connects to the MySQL database through PDO.</a:t>
            </a:r>
            <a:endParaRPr lang="en-US" sz="1400" dirty="0"/>
          </a:p>
        </p:txBody>
      </p:sp>
      <p:sp>
        <p:nvSpPr>
          <p:cNvPr id="22" name="Security row 4"/>
          <p:cNvSpPr/>
          <p:nvPr/>
        </p:nvSpPr>
        <p:spPr>
          <a:xfrm>
            <a:off x="457200" y="3749040"/>
            <a:ext cx="8229600" cy="713232"/>
          </a:xfrm>
          <a:prstGeom prst="roundRect">
            <a:avLst>
              <a:gd name="adj" fmla="val 12821"/>
            </a:avLst>
          </a:prstGeom>
          <a:solidFill>
            <a:schemeClr val="bg1"/>
          </a:solidFill>
          <a:ln/>
          <a:effectLst>
            <a:outerShdw sx="100000" sy="100000" kx="0" ky="0" algn="bl" rotWithShape="0" blurRad="101600" dist="25400" dir="5400000">
              <a:srgbClr val="1E1B3A">
                <a:alpha val="12000"/>
              </a:srgbClr>
            </a:outerShdw>
          </a:effectLst>
        </p:spPr>
      </p:sp>
      <p:sp>
        <p:nvSpPr>
          <p:cNvPr id="23" name="Security icon circle 4"/>
          <p:cNvSpPr/>
          <p:nvPr/>
        </p:nvSpPr>
        <p:spPr>
          <a:xfrm>
            <a:off x="685800" y="3854196"/>
            <a:ext cx="502920" cy="502920"/>
          </a:xfrm>
          <a:prstGeom prst="ellipse">
            <a:avLst/>
          </a:prstGeom>
          <a:solidFill>
            <a:schemeClr val="accent1"/>
          </a:solidFill>
          <a:ln/>
        </p:spPr>
      </p:sp>
      <p:sp>
        <p:nvSpPr>
          <p:cNvPr id="24" name="Security icon circle 4 label"/>
          <p:cNvSpPr txBox="1"/>
          <p:nvPr/>
        </p:nvSpPr>
        <p:spPr>
          <a:xfrm>
            <a:off x="685800" y="3854196"/>
            <a:ext cx="502920" cy="502920"/>
          </a:xfrm>
          <a:prstGeom prst="rect">
            <a:avLst/>
          </a:prstGeom>
          <a:noFill/>
          <a:ln/>
        </p:spPr>
        <p:txBody>
          <a:bodyPr wrap="square" lIns="0" tIns="0" rIns="0" bIns="0" rtlCol="0" anchor="ctr"/>
          <a:lstStyle/>
          <a:p>
            <a:pPr algn="ctr" indent="0" marL="0">
              <a:buNone/>
            </a:pPr>
            <a:endParaRPr lang="en-US" sz="1200" dirty="0"/>
          </a:p>
        </p:txBody>
      </p:sp>
      <p:pic>
        <p:nvPicPr>
          <p:cNvPr id="25" name="Security icon 4" descr="Database-Backed Records icon">    </p:cNvPr>
          <p:cNvPicPr>
            <a:picLocks noChangeAspect="1"/>
          </p:cNvPicPr>
          <p:nvPr/>
        </p:nvPicPr>
        <p:blipFill>
          <a:blip r:embed="rId4"/>
          <a:stretch>
            <a:fillRect/>
          </a:stretch>
        </p:blipFill>
        <p:spPr>
          <a:xfrm>
            <a:off x="832104" y="3995928"/>
            <a:ext cx="219456" cy="219456"/>
          </a:xfrm>
          <a:prstGeom prst="rect">
            <a:avLst/>
          </a:prstGeom>
        </p:spPr>
      </p:pic>
      <p:sp>
        <p:nvSpPr>
          <p:cNvPr id="26" name="Security heading 4"/>
          <p:cNvSpPr txBox="1"/>
          <p:nvPr/>
        </p:nvSpPr>
        <p:spPr>
          <a:xfrm>
            <a:off x="1463040" y="3749040"/>
            <a:ext cx="2743200" cy="713232"/>
          </a:xfrm>
          <a:prstGeom prst="rect">
            <a:avLst/>
          </a:prstGeom>
          <a:noFill/>
          <a:ln/>
        </p:spPr>
        <p:txBody>
          <a:bodyPr wrap="square" lIns="0" tIns="0" rIns="0" bIns="0" rtlCol="0" anchor="ctr"/>
          <a:lstStyle/>
          <a:p>
            <a:pPr indent="0" marL="0">
              <a:buNone/>
            </a:pPr>
            <a:r>
              <a:rPr lang="en-US" sz="1800" b="1" dirty="0">
                <a:solidFill>
                  <a:schemeClr val="tx2"/>
                </a:solidFill>
              </a:rPr>
              <a:t>Database-Backed Records</a:t>
            </a:r>
            <a:endParaRPr lang="en-US" sz="1800" dirty="0"/>
          </a:p>
        </p:txBody>
      </p:sp>
      <p:sp>
        <p:nvSpPr>
          <p:cNvPr id="27" name="Security text 4"/>
          <p:cNvSpPr txBox="1"/>
          <p:nvPr/>
        </p:nvSpPr>
        <p:spPr>
          <a:xfrm>
            <a:off x="4297680" y="3749040"/>
            <a:ext cx="4206240" cy="713232"/>
          </a:xfrm>
          <a:prstGeom prst="rect">
            <a:avLst/>
          </a:prstGeom>
          <a:noFill/>
          <a:ln/>
        </p:spPr>
        <p:txBody>
          <a:bodyPr wrap="square" lIns="0" tIns="0" rIns="0" bIns="0" rtlCol="0" anchor="ctr"/>
          <a:lstStyle/>
          <a:p>
            <a:pPr indent="0" marL="0">
              <a:buNone/>
            </a:pPr>
            <a:r>
              <a:rPr lang="en-US" sz="1400" dirty="0">
                <a:solidFill>
                  <a:schemeClr val="tx1"/>
                </a:solidFill>
              </a:rPr>
              <a:t>Complaints and history are stored in MySQL.</a:t>
            </a:r>
            <a:endParaRPr lang="en-US" sz="1400" dirty="0"/>
          </a:p>
        </p:txBody>
      </p:sp>
      <p:sp>
        <p:nvSpPr>
          <p:cNvPr id="25" name="Slide Number Placeholder 0"/>
          <p:cNvSpPr>
            <a:spLocks noGrp="1"/>
          </p:cNvSpPr>
          <p:nvPr>
            <p:ph type="sldNum" sz="quarter" idx="4294967295"/>
          </p:nvPr>
        </p:nvSpPr>
        <p:spPr>
          <a:xfrm>
            <a:off x="7955280" y="477316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kicker"/>
          <p:cNvSpPr txBox="1"/>
          <p:nvPr/>
        </p:nvSpPr>
        <p:spPr>
          <a:xfrm>
            <a:off x="457200" y="256032"/>
            <a:ext cx="5486400" cy="237744"/>
          </a:xfrm>
          <a:prstGeom prst="rect">
            <a:avLst/>
          </a:prstGeom>
          <a:noFill/>
          <a:ln/>
        </p:spPr>
        <p:txBody>
          <a:bodyPr wrap="square" lIns="0" tIns="0" rIns="0" bIns="0" rtlCol="0" anchor="ctr"/>
          <a:lstStyle/>
          <a:p>
            <a:pPr indent="0" marL="0">
              <a:buNone/>
            </a:pPr>
            <a:r>
              <a:rPr lang="en-US" sz="1200" b="1" spc="300" kern="0" dirty="0">
                <a:solidFill>
                  <a:schemeClr val="accent1"/>
                </a:solidFill>
              </a:rPr>
              <a:t>SECTION 08</a:t>
            </a:r>
            <a:endParaRPr lang="en-US" sz="1200" dirty="0"/>
          </a:p>
        </p:txBody>
      </p:sp>
      <p:sp>
        <p:nvSpPr>
          <p:cNvPr id="3" name="Text 0"/>
          <p:cNvSpPr/>
          <p:nvPr>
            <p:ph idx="100" type="title" hasCustomPrompt="1"/>
          </p:nvPr>
        </p:nvSpPr>
        <p:spPr>
          <a:xfrm>
            <a:off x="457200" y="475488"/>
            <a:ext cx="8229600" cy="640080"/>
          </a:xfrm>
          <a:prstGeom prst="rect">
            <a:avLst/>
          </a:prstGeom>
          <a:noFill/>
          <a:ln/>
        </p:spPr>
        <p:txBody>
          <a:bodyPr wrap="square" lIns="0" tIns="0" rIns="0" bIns="0" rtlCol="0" anchor="ctr"/>
          <a:lstStyle/>
          <a:p>
            <a:pPr algn="l" indent="0" marL="0">
              <a:buNone/>
            </a:pPr>
            <a:r>
              <a:rPr lang="en-US" sz="3400" b="1" dirty="0">
                <a:solidFill>
                  <a:schemeClr val="tx2"/>
                </a:solidFill>
              </a:rPr>
              <a:t>Conclusion &amp; Future Work</a:t>
            </a:r>
            <a:endParaRPr lang="en-US" sz="3400" dirty="0"/>
          </a:p>
        </p:txBody>
      </p:sp>
      <p:sp>
        <p:nvSpPr>
          <p:cNvPr id="4" name="Conclusion card"/>
          <p:cNvSpPr/>
          <p:nvPr/>
        </p:nvSpPr>
        <p:spPr>
          <a:xfrm>
            <a:off x="457200" y="1280160"/>
            <a:ext cx="4023360" cy="3246120"/>
          </a:xfrm>
          <a:prstGeom prst="roundRect">
            <a:avLst>
              <a:gd name="adj" fmla="val 2817"/>
            </a:avLst>
          </a:prstGeom>
          <a:solidFill>
            <a:schemeClr val="bg1"/>
          </a:solidFill>
          <a:ln/>
          <a:effectLst>
            <a:outerShdw sx="100000" sy="100000" kx="0" ky="0" algn="bl" rotWithShape="0" blurRad="101600" dist="25400" dir="5400000">
              <a:srgbClr val="1E1B3A">
                <a:alpha val="12000"/>
              </a:srgbClr>
            </a:outerShdw>
          </a:effectLst>
        </p:spPr>
      </p:sp>
      <p:sp>
        <p:nvSpPr>
          <p:cNvPr id="5" name="Conclusion heading"/>
          <p:cNvSpPr txBox="1"/>
          <p:nvPr/>
        </p:nvSpPr>
        <p:spPr>
          <a:xfrm>
            <a:off x="731520" y="1463040"/>
            <a:ext cx="3474720" cy="274320"/>
          </a:xfrm>
          <a:prstGeom prst="rect">
            <a:avLst/>
          </a:prstGeom>
          <a:noFill/>
          <a:ln/>
        </p:spPr>
        <p:txBody>
          <a:bodyPr wrap="square" lIns="0" tIns="0" rIns="0" bIns="0" rtlCol="0" anchor="ctr"/>
          <a:lstStyle/>
          <a:p>
            <a:pPr indent="0" marL="0">
              <a:buNone/>
            </a:pPr>
            <a:r>
              <a:rPr lang="en-US" sz="1400" b="1" spc="200" kern="0" dirty="0">
                <a:solidFill>
                  <a:schemeClr val="accent1"/>
                </a:solidFill>
              </a:rPr>
              <a:t>CONCLUSION</a:t>
            </a:r>
            <a:endParaRPr lang="en-US" sz="1400" dirty="0"/>
          </a:p>
        </p:txBody>
      </p:sp>
      <p:sp>
        <p:nvSpPr>
          <p:cNvPr id="6" name="Check circle 1"/>
          <p:cNvSpPr/>
          <p:nvPr/>
        </p:nvSpPr>
        <p:spPr>
          <a:xfrm>
            <a:off x="731520" y="2011680"/>
            <a:ext cx="310896" cy="310896"/>
          </a:xfrm>
          <a:prstGeom prst="ellipse">
            <a:avLst/>
          </a:prstGeom>
          <a:solidFill>
            <a:schemeClr val="accent3"/>
          </a:solidFill>
          <a:ln/>
        </p:spPr>
      </p:sp>
      <p:pic>
        <p:nvPicPr>
          <p:cNvPr id="7" name="Check icon 1" descr="Check">    </p:cNvPr>
          <p:cNvPicPr>
            <a:picLocks noChangeAspect="1"/>
          </p:cNvPicPr>
          <p:nvPr/>
        </p:nvPicPr>
        <p:blipFill>
          <a:blip r:embed="rId1"/>
          <a:stretch>
            <a:fillRect/>
          </a:stretch>
        </p:blipFill>
        <p:spPr>
          <a:xfrm>
            <a:off x="822960" y="2103120"/>
            <a:ext cx="128016" cy="128016"/>
          </a:xfrm>
          <a:prstGeom prst="rect">
            <a:avLst/>
          </a:prstGeom>
        </p:spPr>
      </p:pic>
      <p:sp>
        <p:nvSpPr>
          <p:cNvPr id="8" name="Conclusion text 1"/>
          <p:cNvSpPr txBox="1"/>
          <p:nvPr/>
        </p:nvSpPr>
        <p:spPr>
          <a:xfrm>
            <a:off x="1234440" y="1920240"/>
            <a:ext cx="3108960" cy="502920"/>
          </a:xfrm>
          <a:prstGeom prst="rect">
            <a:avLst/>
          </a:prstGeom>
          <a:noFill/>
          <a:ln/>
        </p:spPr>
        <p:txBody>
          <a:bodyPr wrap="square" lIns="0" tIns="0" rIns="0" bIns="0" rtlCol="0" anchor="ctr"/>
          <a:lstStyle/>
          <a:p>
            <a:pPr indent="0" marL="0">
              <a:buNone/>
            </a:pPr>
            <a:r>
              <a:rPr lang="en-US" sz="1500" dirty="0">
                <a:solidFill>
                  <a:schemeClr val="tx1"/>
                </a:solidFill>
              </a:rPr>
              <a:t>Core complaint management workflow implemented</a:t>
            </a:r>
            <a:endParaRPr lang="en-US" sz="1500" dirty="0"/>
          </a:p>
        </p:txBody>
      </p:sp>
      <p:sp>
        <p:nvSpPr>
          <p:cNvPr id="9" name="Check circle 2"/>
          <p:cNvSpPr/>
          <p:nvPr/>
        </p:nvSpPr>
        <p:spPr>
          <a:xfrm>
            <a:off x="731520" y="2651760"/>
            <a:ext cx="310896" cy="310896"/>
          </a:xfrm>
          <a:prstGeom prst="ellipse">
            <a:avLst/>
          </a:prstGeom>
          <a:solidFill>
            <a:schemeClr val="accent3"/>
          </a:solidFill>
          <a:ln/>
        </p:spPr>
      </p:sp>
      <p:pic>
        <p:nvPicPr>
          <p:cNvPr id="10" name="Check icon 2" descr="Check">    </p:cNvPr>
          <p:cNvPicPr>
            <a:picLocks noChangeAspect="1"/>
          </p:cNvPicPr>
          <p:nvPr/>
        </p:nvPicPr>
        <p:blipFill>
          <a:blip r:embed="rId2"/>
          <a:stretch>
            <a:fillRect/>
          </a:stretch>
        </p:blipFill>
        <p:spPr>
          <a:xfrm>
            <a:off x="822960" y="2743200"/>
            <a:ext cx="128016" cy="128016"/>
          </a:xfrm>
          <a:prstGeom prst="rect">
            <a:avLst/>
          </a:prstGeom>
        </p:spPr>
      </p:pic>
      <p:sp>
        <p:nvSpPr>
          <p:cNvPr id="11" name="Conclusion text 2"/>
          <p:cNvSpPr txBox="1"/>
          <p:nvPr/>
        </p:nvSpPr>
        <p:spPr>
          <a:xfrm>
            <a:off x="1234440" y="2560320"/>
            <a:ext cx="3108960" cy="502920"/>
          </a:xfrm>
          <a:prstGeom prst="rect">
            <a:avLst/>
          </a:prstGeom>
          <a:noFill/>
          <a:ln/>
        </p:spPr>
        <p:txBody>
          <a:bodyPr wrap="square" lIns="0" tIns="0" rIns="0" bIns="0" rtlCol="0" anchor="ctr"/>
          <a:lstStyle/>
          <a:p>
            <a:pPr indent="0" marL="0">
              <a:buNone/>
            </a:pPr>
            <a:r>
              <a:rPr lang="en-US" sz="1500" dirty="0">
                <a:solidFill>
                  <a:schemeClr val="tx1"/>
                </a:solidFill>
              </a:rPr>
              <a:t>User, Staff and Admin modules implemented</a:t>
            </a:r>
            <a:endParaRPr lang="en-US" sz="1500" dirty="0"/>
          </a:p>
        </p:txBody>
      </p:sp>
      <p:sp>
        <p:nvSpPr>
          <p:cNvPr id="12" name="Check circle 3"/>
          <p:cNvSpPr/>
          <p:nvPr/>
        </p:nvSpPr>
        <p:spPr>
          <a:xfrm>
            <a:off x="731520" y="3291840"/>
            <a:ext cx="310896" cy="310896"/>
          </a:xfrm>
          <a:prstGeom prst="ellipse">
            <a:avLst/>
          </a:prstGeom>
          <a:solidFill>
            <a:schemeClr val="accent3"/>
          </a:solidFill>
          <a:ln/>
        </p:spPr>
      </p:sp>
      <p:pic>
        <p:nvPicPr>
          <p:cNvPr id="13" name="Check icon 3" descr="Check">    </p:cNvPr>
          <p:cNvPicPr>
            <a:picLocks noChangeAspect="1"/>
          </p:cNvPicPr>
          <p:nvPr/>
        </p:nvPicPr>
        <p:blipFill>
          <a:blip r:embed="rId3"/>
          <a:stretch>
            <a:fillRect/>
          </a:stretch>
        </p:blipFill>
        <p:spPr>
          <a:xfrm>
            <a:off x="822960" y="3383280"/>
            <a:ext cx="128016" cy="128016"/>
          </a:xfrm>
          <a:prstGeom prst="rect">
            <a:avLst/>
          </a:prstGeom>
        </p:spPr>
      </p:pic>
      <p:sp>
        <p:nvSpPr>
          <p:cNvPr id="14" name="Conclusion text 3"/>
          <p:cNvSpPr txBox="1"/>
          <p:nvPr/>
        </p:nvSpPr>
        <p:spPr>
          <a:xfrm>
            <a:off x="1234440" y="3200400"/>
            <a:ext cx="3108960" cy="502920"/>
          </a:xfrm>
          <a:prstGeom prst="rect">
            <a:avLst/>
          </a:prstGeom>
          <a:noFill/>
          <a:ln/>
        </p:spPr>
        <p:txBody>
          <a:bodyPr wrap="square" lIns="0" tIns="0" rIns="0" bIns="0" rtlCol="0" anchor="ctr"/>
          <a:lstStyle/>
          <a:p>
            <a:pPr indent="0" marL="0">
              <a:buNone/>
            </a:pPr>
            <a:r>
              <a:rPr lang="en-US" sz="1500" dirty="0">
                <a:solidFill>
                  <a:schemeClr val="tx1"/>
                </a:solidFill>
              </a:rPr>
              <a:t>Database and CRUD operations implemented</a:t>
            </a:r>
            <a:endParaRPr lang="en-US" sz="1500" dirty="0"/>
          </a:p>
        </p:txBody>
      </p:sp>
      <p:sp>
        <p:nvSpPr>
          <p:cNvPr id="15" name="Check circle 4"/>
          <p:cNvSpPr/>
          <p:nvPr/>
        </p:nvSpPr>
        <p:spPr>
          <a:xfrm>
            <a:off x="731520" y="3931920"/>
            <a:ext cx="310896" cy="310896"/>
          </a:xfrm>
          <a:prstGeom prst="ellipse">
            <a:avLst/>
          </a:prstGeom>
          <a:solidFill>
            <a:schemeClr val="accent3"/>
          </a:solidFill>
          <a:ln/>
        </p:spPr>
      </p:sp>
      <p:pic>
        <p:nvPicPr>
          <p:cNvPr id="16" name="Check icon 4" descr="Check">    </p:cNvPr>
          <p:cNvPicPr>
            <a:picLocks noChangeAspect="1"/>
          </p:cNvPicPr>
          <p:nvPr/>
        </p:nvPicPr>
        <p:blipFill>
          <a:blip r:embed="rId4"/>
          <a:stretch>
            <a:fillRect/>
          </a:stretch>
        </p:blipFill>
        <p:spPr>
          <a:xfrm>
            <a:off x="822960" y="4023360"/>
            <a:ext cx="128016" cy="128016"/>
          </a:xfrm>
          <a:prstGeom prst="rect">
            <a:avLst/>
          </a:prstGeom>
        </p:spPr>
      </p:pic>
      <p:sp>
        <p:nvSpPr>
          <p:cNvPr id="17" name="Conclusion text 4"/>
          <p:cNvSpPr txBox="1"/>
          <p:nvPr/>
        </p:nvSpPr>
        <p:spPr>
          <a:xfrm>
            <a:off x="1234440" y="3840480"/>
            <a:ext cx="3108960" cy="502920"/>
          </a:xfrm>
          <a:prstGeom prst="rect">
            <a:avLst/>
          </a:prstGeom>
          <a:noFill/>
          <a:ln/>
        </p:spPr>
        <p:txBody>
          <a:bodyPr wrap="square" lIns="0" tIns="0" rIns="0" bIns="0" rtlCol="0" anchor="ctr"/>
          <a:lstStyle/>
          <a:p>
            <a:pPr indent="0" marL="0">
              <a:buNone/>
            </a:pPr>
            <a:r>
              <a:rPr lang="en-US" sz="1500" dirty="0">
                <a:solidFill>
                  <a:schemeClr val="tx1"/>
                </a:solidFill>
              </a:rPr>
              <a:t>Centralized complaint handling and tracking</a:t>
            </a:r>
            <a:endParaRPr lang="en-US" sz="1500" dirty="0"/>
          </a:p>
        </p:txBody>
      </p:sp>
      <p:sp>
        <p:nvSpPr>
          <p:cNvPr id="18" name="Future work card"/>
          <p:cNvSpPr/>
          <p:nvPr/>
        </p:nvSpPr>
        <p:spPr>
          <a:xfrm>
            <a:off x="4663440" y="1280160"/>
            <a:ext cx="4023360" cy="3246120"/>
          </a:xfrm>
          <a:prstGeom prst="roundRect">
            <a:avLst>
              <a:gd name="adj" fmla="val 2817"/>
            </a:avLst>
          </a:prstGeom>
          <a:solidFill>
            <a:schemeClr val="tx2"/>
          </a:solidFill>
          <a:ln/>
        </p:spPr>
      </p:sp>
      <p:sp>
        <p:nvSpPr>
          <p:cNvPr id="19" name="Future work heading"/>
          <p:cNvSpPr txBox="1"/>
          <p:nvPr/>
        </p:nvSpPr>
        <p:spPr>
          <a:xfrm>
            <a:off x="4937760" y="1463040"/>
            <a:ext cx="3474720" cy="274320"/>
          </a:xfrm>
          <a:prstGeom prst="rect">
            <a:avLst/>
          </a:prstGeom>
          <a:noFill/>
          <a:ln/>
        </p:spPr>
        <p:txBody>
          <a:bodyPr wrap="square" lIns="0" tIns="0" rIns="0" bIns="0" rtlCol="0" anchor="ctr"/>
          <a:lstStyle/>
          <a:p>
            <a:pPr indent="0" marL="0">
              <a:buNone/>
            </a:pPr>
            <a:r>
              <a:rPr lang="en-US" sz="1400" b="1" spc="200" kern="0" dirty="0">
                <a:solidFill>
                  <a:schemeClr val="accent2"/>
                </a:solidFill>
              </a:rPr>
              <a:t>FUTURE WORK</a:t>
            </a:r>
            <a:endParaRPr lang="en-US" sz="1400" dirty="0"/>
          </a:p>
        </p:txBody>
      </p:sp>
      <p:pic>
        <p:nvPicPr>
          <p:cNvPr id="20" name="Future arrow 1" descr="Arrow">    </p:cNvPr>
          <p:cNvPicPr>
            <a:picLocks noChangeAspect="1"/>
          </p:cNvPicPr>
          <p:nvPr/>
        </p:nvPicPr>
        <p:blipFill>
          <a:blip r:embed="rId5"/>
          <a:stretch>
            <a:fillRect/>
          </a:stretch>
        </p:blipFill>
        <p:spPr>
          <a:xfrm>
            <a:off x="4937760" y="2075688"/>
            <a:ext cx="182880" cy="182880"/>
          </a:xfrm>
          <a:prstGeom prst="rect">
            <a:avLst/>
          </a:prstGeom>
        </p:spPr>
      </p:pic>
      <p:sp>
        <p:nvSpPr>
          <p:cNvPr id="21" name="Future text 1"/>
          <p:cNvSpPr txBox="1"/>
          <p:nvPr/>
        </p:nvSpPr>
        <p:spPr>
          <a:xfrm>
            <a:off x="5349240" y="1920240"/>
            <a:ext cx="3200400" cy="502920"/>
          </a:xfrm>
          <a:prstGeom prst="rect">
            <a:avLst/>
          </a:prstGeom>
          <a:noFill/>
          <a:ln/>
        </p:spPr>
        <p:txBody>
          <a:bodyPr wrap="square" lIns="0" tIns="0" rIns="0" bIns="0" rtlCol="0" anchor="ctr"/>
          <a:lstStyle/>
          <a:p>
            <a:pPr indent="0" marL="0">
              <a:buNone/>
            </a:pPr>
            <a:r>
              <a:rPr lang="en-US" sz="1400" dirty="0">
                <a:solidFill>
                  <a:schemeClr val="bg1"/>
                </a:solidFill>
              </a:rPr>
              <a:t>Mobile application</a:t>
            </a:r>
            <a:endParaRPr lang="en-US" sz="1400" dirty="0"/>
          </a:p>
        </p:txBody>
      </p:sp>
      <p:pic>
        <p:nvPicPr>
          <p:cNvPr id="22" name="Future arrow 2" descr="Arrow">    </p:cNvPr>
          <p:cNvPicPr>
            <a:picLocks noChangeAspect="1"/>
          </p:cNvPicPr>
          <p:nvPr/>
        </p:nvPicPr>
        <p:blipFill>
          <a:blip r:embed="rId6"/>
          <a:stretch>
            <a:fillRect/>
          </a:stretch>
        </p:blipFill>
        <p:spPr>
          <a:xfrm>
            <a:off x="4937760" y="2578608"/>
            <a:ext cx="182880" cy="182880"/>
          </a:xfrm>
          <a:prstGeom prst="rect">
            <a:avLst/>
          </a:prstGeom>
        </p:spPr>
      </p:pic>
      <p:sp>
        <p:nvSpPr>
          <p:cNvPr id="23" name="Future text 2"/>
          <p:cNvSpPr txBox="1"/>
          <p:nvPr/>
        </p:nvSpPr>
        <p:spPr>
          <a:xfrm>
            <a:off x="5349240" y="2423160"/>
            <a:ext cx="3200400" cy="502920"/>
          </a:xfrm>
          <a:prstGeom prst="rect">
            <a:avLst/>
          </a:prstGeom>
          <a:noFill/>
          <a:ln/>
        </p:spPr>
        <p:txBody>
          <a:bodyPr wrap="square" lIns="0" tIns="0" rIns="0" bIns="0" rtlCol="0" anchor="ctr"/>
          <a:lstStyle/>
          <a:p>
            <a:pPr indent="0" marL="0">
              <a:buNone/>
            </a:pPr>
            <a:r>
              <a:rPr lang="en-US" sz="1400" dirty="0">
                <a:solidFill>
                  <a:schemeClr val="bg1"/>
                </a:solidFill>
              </a:rPr>
              <a:t>Email / SMS / push notifications</a:t>
            </a:r>
            <a:endParaRPr lang="en-US" sz="1400" dirty="0"/>
          </a:p>
        </p:txBody>
      </p:sp>
      <p:pic>
        <p:nvPicPr>
          <p:cNvPr id="24" name="Future arrow 3" descr="Arrow">    </p:cNvPr>
          <p:cNvPicPr>
            <a:picLocks noChangeAspect="1"/>
          </p:cNvPicPr>
          <p:nvPr/>
        </p:nvPicPr>
        <p:blipFill>
          <a:blip r:embed="rId7"/>
          <a:stretch>
            <a:fillRect/>
          </a:stretch>
        </p:blipFill>
        <p:spPr>
          <a:xfrm>
            <a:off x="4937760" y="3081528"/>
            <a:ext cx="182880" cy="182880"/>
          </a:xfrm>
          <a:prstGeom prst="rect">
            <a:avLst/>
          </a:prstGeom>
        </p:spPr>
      </p:pic>
      <p:sp>
        <p:nvSpPr>
          <p:cNvPr id="25" name="Future text 3"/>
          <p:cNvSpPr txBox="1"/>
          <p:nvPr/>
        </p:nvSpPr>
        <p:spPr>
          <a:xfrm>
            <a:off x="5349240" y="2926080"/>
            <a:ext cx="3200400" cy="502920"/>
          </a:xfrm>
          <a:prstGeom prst="rect">
            <a:avLst/>
          </a:prstGeom>
          <a:noFill/>
          <a:ln/>
        </p:spPr>
        <p:txBody>
          <a:bodyPr wrap="square" lIns="0" tIns="0" rIns="0" bIns="0" rtlCol="0" anchor="ctr"/>
          <a:lstStyle/>
          <a:p>
            <a:pPr indent="0" marL="0">
              <a:buNone/>
            </a:pPr>
            <a:r>
              <a:rPr lang="en-US" sz="1400" dirty="0">
                <a:solidFill>
                  <a:schemeClr val="bg1"/>
                </a:solidFill>
              </a:rPr>
              <a:t>Advanced reports and analytics</a:t>
            </a:r>
            <a:endParaRPr lang="en-US" sz="1400" dirty="0"/>
          </a:p>
        </p:txBody>
      </p:sp>
      <p:pic>
        <p:nvPicPr>
          <p:cNvPr id="26" name="Future arrow 4" descr="Arrow">    </p:cNvPr>
          <p:cNvPicPr>
            <a:picLocks noChangeAspect="1"/>
          </p:cNvPicPr>
          <p:nvPr/>
        </p:nvPicPr>
        <p:blipFill>
          <a:blip r:embed="rId8"/>
          <a:stretch>
            <a:fillRect/>
          </a:stretch>
        </p:blipFill>
        <p:spPr>
          <a:xfrm>
            <a:off x="4937760" y="3584448"/>
            <a:ext cx="182880" cy="182880"/>
          </a:xfrm>
          <a:prstGeom prst="rect">
            <a:avLst/>
          </a:prstGeom>
        </p:spPr>
      </p:pic>
      <p:sp>
        <p:nvSpPr>
          <p:cNvPr id="27" name="Future text 4"/>
          <p:cNvSpPr txBox="1"/>
          <p:nvPr/>
        </p:nvSpPr>
        <p:spPr>
          <a:xfrm>
            <a:off x="5349240" y="3429000"/>
            <a:ext cx="3200400" cy="502920"/>
          </a:xfrm>
          <a:prstGeom prst="rect">
            <a:avLst/>
          </a:prstGeom>
          <a:noFill/>
          <a:ln/>
        </p:spPr>
        <p:txBody>
          <a:bodyPr wrap="square" lIns="0" tIns="0" rIns="0" bIns="0" rtlCol="0" anchor="ctr"/>
          <a:lstStyle/>
          <a:p>
            <a:pPr indent="0" marL="0">
              <a:buNone/>
            </a:pPr>
            <a:r>
              <a:rPr lang="en-US" sz="1400" dirty="0">
                <a:solidFill>
                  <a:schemeClr val="bg1"/>
                </a:solidFill>
              </a:rPr>
              <a:t>AI-based complaint classification</a:t>
            </a:r>
            <a:endParaRPr lang="en-US" sz="1400" dirty="0"/>
          </a:p>
        </p:txBody>
      </p:sp>
      <p:pic>
        <p:nvPicPr>
          <p:cNvPr id="28" name="Future arrow 5" descr="Arrow">    </p:cNvPr>
          <p:cNvPicPr>
            <a:picLocks noChangeAspect="1"/>
          </p:cNvPicPr>
          <p:nvPr/>
        </p:nvPicPr>
        <p:blipFill>
          <a:blip r:embed="rId9"/>
          <a:stretch>
            <a:fillRect/>
          </a:stretch>
        </p:blipFill>
        <p:spPr>
          <a:xfrm>
            <a:off x="4937760" y="4087368"/>
            <a:ext cx="182880" cy="182880"/>
          </a:xfrm>
          <a:prstGeom prst="rect">
            <a:avLst/>
          </a:prstGeom>
        </p:spPr>
      </p:pic>
      <p:sp>
        <p:nvSpPr>
          <p:cNvPr id="29" name="Future text 5"/>
          <p:cNvSpPr txBox="1"/>
          <p:nvPr/>
        </p:nvSpPr>
        <p:spPr>
          <a:xfrm>
            <a:off x="5349240" y="3931920"/>
            <a:ext cx="3200400" cy="502920"/>
          </a:xfrm>
          <a:prstGeom prst="rect">
            <a:avLst/>
          </a:prstGeom>
          <a:noFill/>
          <a:ln/>
        </p:spPr>
        <p:txBody>
          <a:bodyPr wrap="square" lIns="0" tIns="0" rIns="0" bIns="0" rtlCol="0" anchor="ctr"/>
          <a:lstStyle/>
          <a:p>
            <a:pPr indent="0" marL="0">
              <a:buNone/>
            </a:pPr>
            <a:r>
              <a:rPr lang="en-US" sz="1400" dirty="0">
                <a:solidFill>
                  <a:schemeClr val="bg1"/>
                </a:solidFill>
              </a:rPr>
              <a:t>Improved cloud deployment and scalability</a:t>
            </a:r>
            <a:endParaRPr lang="en-US" sz="1400" dirty="0"/>
          </a:p>
        </p:txBody>
      </p:sp>
      <p:sp>
        <p:nvSpPr>
          <p:cNvPr id="25" name="Slide Number Placeholder 0"/>
          <p:cNvSpPr>
            <a:spLocks noGrp="1"/>
          </p:cNvSpPr>
          <p:nvPr>
            <p:ph type="sldNum" sz="quarter" idx="4294967295"/>
          </p:nvPr>
        </p:nvSpPr>
        <p:spPr>
          <a:xfrm>
            <a:off x="7955280" y="4773168"/>
            <a:ext cx="731520" cy="237744"/>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640080" y="1097280"/>
            <a:ext cx="5212080" cy="128016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3" name="Questions"/>
          <p:cNvSpPr txBox="1"/>
          <p:nvPr/>
        </p:nvSpPr>
        <p:spPr>
          <a:xfrm>
            <a:off x="640080" y="2514600"/>
            <a:ext cx="5029200" cy="548640"/>
          </a:xfrm>
          <a:prstGeom prst="rect">
            <a:avLst/>
          </a:prstGeom>
          <a:noFill/>
          <a:ln/>
        </p:spPr>
        <p:txBody>
          <a:bodyPr wrap="square" lIns="0" tIns="0" rIns="0" bIns="0" rtlCol="0" anchor="ctr"/>
          <a:lstStyle/>
          <a:p>
            <a:pPr indent="0" marL="0">
              <a:buNone/>
            </a:pPr>
            <a:r>
              <a:rPr lang="en-US" sz="2600" b="1" dirty="0">
                <a:solidFill>
                  <a:schemeClr val="accent2"/>
                </a:solidFill>
              </a:rPr>
              <a:t>Questions?</a:t>
            </a:r>
            <a:endParaRPr lang="en-US" sz="2600" dirty="0"/>
          </a:p>
        </p:txBody>
      </p:sp>
      <p:sp>
        <p:nvSpPr>
          <p:cNvPr id="4" name="Closing details"/>
          <p:cNvSpPr txBox="1"/>
          <p:nvPr/>
        </p:nvSpPr>
        <p:spPr>
          <a:xfrm>
            <a:off x="640080" y="3474720"/>
            <a:ext cx="5303520" cy="914400"/>
          </a:xfrm>
          <a:prstGeom prst="rect">
            <a:avLst/>
          </a:prstGeom>
          <a:noFill/>
          <a:ln/>
        </p:spPr>
        <p:txBody>
          <a:bodyPr wrap="square" lIns="0" tIns="0" rIns="0" bIns="0" rtlCol="0" anchor="t"/>
          <a:lstStyle/>
          <a:p>
            <a:pPr indent="0" marL="0">
              <a:buNone/>
            </a:pPr>
            <a:r>
              <a:rPr lang="en-US" sz="1400" b="1" dirty="0">
                <a:solidFill>
                  <a:schemeClr val="bg1"/>
                </a:solidFill>
              </a:rPr>
              <a:t>Complaint Management System</a:t>
            </a:r>
            <a:endParaRPr lang="en-US" sz="1400" dirty="0"/>
          </a:p>
          <a:p>
            <a:pPr indent="0" marL="0">
              <a:buNone/>
            </a:pPr>
            <a:r>
              <a:rPr lang="en-US" sz="1400" dirty="0">
                <a:solidFill>
                  <a:schemeClr val="bg1"/>
                </a:solidFill>
              </a:rPr>
              <a:t>Prajwal Lamichhane</a:t>
            </a:r>
            <a:endParaRPr lang="en-US" sz="1400" dirty="0"/>
          </a:p>
          <a:p>
            <a:pPr indent="0" marL="0">
              <a:buNone/>
            </a:pPr>
            <a:r>
              <a:rPr lang="en-US" sz="1400" dirty="0">
                <a:solidFill>
                  <a:schemeClr val="bg1"/>
                </a:solidFill>
              </a:rPr>
              <a:t>BCA - Hetauda School of Management and Social Sciences</a:t>
            </a:r>
            <a:endParaRPr lang="en-US" sz="1400" dirty="0"/>
          </a:p>
        </p:txBody>
      </p:sp>
      <p:sp>
        <p:nvSpPr>
          <p:cNvPr id="5" name="Question mark"/>
          <p:cNvSpPr txBox="1"/>
          <p:nvPr/>
        </p:nvSpPr>
        <p:spPr>
          <a:xfrm>
            <a:off x="6035040" y="914400"/>
            <a:ext cx="3108960" cy="3108960"/>
          </a:xfrm>
          <a:prstGeom prst="rect">
            <a:avLst/>
          </a:prstGeom>
          <a:noFill/>
          <a:ln/>
        </p:spPr>
        <p:txBody>
          <a:bodyPr wrap="square" lIns="0" tIns="0" rIns="0" bIns="0" rtlCol="0" anchor="ctr"/>
          <a:lstStyle/>
          <a:p>
            <a:pPr algn="ctr" indent="0" marL="0">
              <a:buNone/>
            </a:pPr>
            <a:r>
              <a:rPr lang="en-US" sz="18000" b="1" dirty="0">
                <a:solidFill>
                  <a:schemeClr val="accent5"/>
                </a:solidFill>
              </a:rPr>
              <a:t>?</a:t>
            </a:r>
            <a:endParaRPr lang="en-US" sz="18000" dirty="0"/>
          </a:p>
        </p:txBody>
      </p:sp>
    </p:spTree>
  </p:cSld>
  <p:clrMapOvr>
    <a:masterClrMapping/>
  </p:clrMapOvr>
</p:sld>
</file>

<file path=ppt/theme/theme1.xml><?xml version="1.0" encoding="utf-8"?>
<a:theme xmlns:a="http://schemas.openxmlformats.org/drawingml/2006/main" name="Complaint Management System">
  <a:themeElements>
    <a:clrScheme name="Complaint Management System">
      <a:dk1>
        <a:srgbClr val="22223B"/>
      </a:dk1>
      <a:lt1>
        <a:srgbClr val="FFFFFF"/>
      </a:lt1>
      <a:dk2>
        <a:srgbClr val="1E1B3A"/>
      </a:dk2>
      <a:lt2>
        <a:srgbClr val="F3F4FA"/>
      </a:lt2>
      <a:accent1>
        <a:srgbClr val="5B4BDB"/>
      </a:accent1>
      <a:accent2>
        <a:srgbClr val="F5A623"/>
      </a:accent2>
      <a:accent3>
        <a:srgbClr val="2FA37A"/>
      </a:accent3>
      <a:accent4>
        <a:srgbClr val="6B6F85"/>
      </a:accent4>
      <a:accent5>
        <a:srgbClr val="CFCBFA"/>
      </a:accent5>
      <a:accent6>
        <a:srgbClr val="E4572E"/>
      </a:accent6>
      <a:hlink>
        <a:srgbClr val="5B4BDB"/>
      </a:hlink>
      <a:folHlink>
        <a:srgbClr val="6B6F85"/>
      </a:folHlink>
    </a:clrScheme>
    <a:fontScheme name="Complaint Management System">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Complaint Management System - Mid-Term Project Defense</dc:title>
  <dc:subject>PptxGenJS Presentation</dc:subject>
  <dc:creator>Prajwal Lamichhane</dc:creator>
  <cp:lastModifiedBy>Prajwal Lamichhane</cp:lastModifiedBy>
  <cp:revision>1</cp:revision>
  <dcterms:created xsi:type="dcterms:W3CDTF">2026-10-05T03:03:21Z</dcterms:created>
  <dcterms:modified xsi:type="dcterms:W3CDTF">2026-10-05T03:03:21Z</dcterms:modified>
</cp:coreProperties>
</file>